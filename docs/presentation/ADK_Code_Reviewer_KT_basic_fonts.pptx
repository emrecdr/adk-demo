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11"/>
            <a:ext cx="10566400" cy="4109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KNOWLEDGE TRANSFER · GOOGLE ADK · PYTHON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49810"/>
            <a:ext cx="981075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a code reviewer with Google ADK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904010"/>
            <a:ext cx="915670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phases, one layer at a time: from a bare model to a reviewer whose verdict is decided by code.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07410"/>
            <a:ext cx="4486037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Emre Camdere · Monday 5 October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361339" y="5660430"/>
            <a:ext cx="2011511" cy="37842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5E6D7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session is recorded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hour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9450"/>
          <a:ext cx="6337300" cy="3474095"/>
        </p:xfrm>
        <a:graphic>
          <a:graphicData uri="http://schemas.openxmlformats.org/drawingml/2006/table">
            <a:tbl>
              <a:tblPr/>
              <a:tblGrid>
                <a:gridCol w="887222"/>
                <a:gridCol w="4309364"/>
                <a:gridCol w="114071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Welcome and ADK core concepts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· Hello world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 · Preflight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 · Changed files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0:35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 · First review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0:43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5 · Parallel lanes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6 · The reviewer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Going further: phase 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Q&amp;A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569200" y="1936750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 session you can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69200" y="2317750"/>
            <a:ext cx="392430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860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agent with tools and a guardrail</a:t>
            </a:r>
            <a:endParaRPr lang="en-US" sz="1500" dirty="0"/>
          </a:p>
          <a:p>
            <a:pPr algn="l" marL="22860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 agents into a workflow with typed answers</a:t>
            </a:r>
            <a:endParaRPr lang="en-US" sz="1500" dirty="0"/>
          </a:p>
          <a:p>
            <a:pPr algn="l" marL="22860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decisions out of the model and into code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69200" y="3778250"/>
            <a:ext cx="39243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1 to 6 live. Phase 7 is in the repository for self-study.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WHERE WE'RE GOING · LIVE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command, one verdict a build can trust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566400" cy="692150"/>
          </a:xfrm>
          <a:prstGeom prst="roundRect">
            <a:avLst>
              <a:gd name="adj" fmla="val 14679"/>
            </a:avLst>
          </a:prstGeom>
          <a:solidFill>
            <a:srgbClr val="1A252C"/>
          </a:solidFill>
          <a:ln/>
        </p:spPr>
        <p:txBody>
          <a:bodyPr wrap="none" lIns="224242" tIns="173442" rIns="0" bIns="148042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</a:t>
            </a:r>
            <a:r>
              <a:rPr lang="en-US" sz="15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 uv run python -m phase_6_reviewer.review --head feature/payments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2932361"/>
            <a:ext cx="3386634" cy="1285180"/>
          </a:xfrm>
          <a:prstGeom prst="roundRect">
            <a:avLst>
              <a:gd name="adj" fmla="val 7906"/>
            </a:avLst>
          </a:prstGeom>
          <a:solidFill>
            <a:srgbClr val="1A252C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316096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key, found by code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3491161"/>
            <a:ext cx="301731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blockers from the secrets gate, each with its exact file and line.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2932361"/>
            <a:ext cx="3386683" cy="1285180"/>
          </a:xfrm>
          <a:prstGeom prst="roundRect">
            <a:avLst>
              <a:gd name="adj" fmla="val 7906"/>
            </a:avLst>
          </a:prstGeom>
          <a:solidFill>
            <a:srgbClr val="1A252C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316096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that quote the diff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31234" y="3491161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model lanes judge; a finding the diff does not bear out is dropped.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17" y="2932361"/>
            <a:ext cx="3386683" cy="1285180"/>
          </a:xfrm>
          <a:prstGeom prst="roundRect">
            <a:avLst>
              <a:gd name="adj" fmla="val 7906"/>
            </a:avLst>
          </a:prstGeom>
          <a:solidFill>
            <a:srgbClr val="1A252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1117" y="316096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exit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1117" y="3491161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here: a blocker. The report ends with what the run cost.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4522341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next hour we build this, one phase at a time.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WHAT WE BUILD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for one git branch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199531"/>
            <a:ext cx="575564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repository, a base branch and the branch under review.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2727821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991941"/>
            <a:ext cx="599440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findings, a verdict, and an exit code a build can act 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3520232"/>
            <a:ext cx="57556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3784352"/>
            <a:ext cx="575564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adk web from a chat message, or from the shell as one command.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07200" y="1935411"/>
            <a:ext cx="4572000" cy="4109789"/>
          </a:xfrm>
          <a:prstGeom prst="roundRect">
            <a:avLst>
              <a:gd name="adj" fmla="val 2472"/>
            </a:avLst>
          </a:prstGeom>
          <a:solidFill>
            <a:srgbClr val="10181D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0" y="2240211"/>
            <a:ext cx="40812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feature/payments · 4 planted defects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12000" y="2580531"/>
            <a:ext cx="4081272" cy="1314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subprocess.run(..., shell=True)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hard-coded AWS key pair (Amazon's documented example values)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nothing tests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DCE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copy-pasted block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12000" y="3996382"/>
            <a:ext cx="408127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B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scripts/make_demo_repo.py: predictable findings, no network.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GOOGLE-ADK 2.9.2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ADK: agents as ordinary Python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9810750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open-source Agent Development Kit. You write agents, tools and the graph that connects them in Python, and ADK runs them.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800" y="2966591"/>
            <a:ext cx="3386634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966591"/>
            <a:ext cx="3386634" cy="1572171"/>
          </a:xfrm>
          <a:custGeom>
            <a:avLst/>
            <a:gdLst/>
            <a:ahLst/>
            <a:cxnLst/>
            <a:rect l="l" t="t" r="r" b="b"/>
            <a:pathLst>
              <a:path w="3386634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34" y="0"/>
                </a:lnTo>
                <a:arcTo hR="101600" wR="101600" stAng="16200000" swAng="5400000"/>
                <a:lnTo>
                  <a:pt x="3386634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7" name="Text 5"/>
          <p:cNvSpPr/>
          <p:nvPr/>
        </p:nvSpPr>
        <p:spPr>
          <a:xfrm>
            <a:off x="1041400" y="323329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model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41400" y="3563491"/>
            <a:ext cx="301731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through LiteLLM, Gemini natively. Here: both, one setting apart.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34" y="2966591"/>
            <a:ext cx="3386683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02634" y="2966591"/>
            <a:ext cx="3386683" cy="1572171"/>
          </a:xfrm>
          <a:custGeom>
            <a:avLst/>
            <a:gdLst/>
            <a:ahLst/>
            <a:cxnLst/>
            <a:rect l="l" t="t" r="r" b="b"/>
            <a:pathLst>
              <a:path w="3386683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83" y="0"/>
                </a:lnTo>
                <a:arcTo hR="101600" wR="101600" stAng="16200000" swAng="5400000"/>
                <a:lnTo>
                  <a:pt x="338668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1" name="Text 9"/>
          <p:cNvSpPr/>
          <p:nvPr/>
        </p:nvSpPr>
        <p:spPr>
          <a:xfrm>
            <a:off x="4631234" y="323329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to watch it run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1234" y="356349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web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opens a browser UI that lists every event; </a:t>
            </a: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run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a terminal chat.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17" y="2966591"/>
            <a:ext cx="3386683" cy="1572171"/>
          </a:xfrm>
          <a:prstGeom prst="roundRect">
            <a:avLst>
              <a:gd name="adj" fmla="val 6462"/>
            </a:avLst>
          </a:prstGeom>
          <a:solidFill>
            <a:srgbClr val="FBFC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992517" y="2966591"/>
            <a:ext cx="3386683" cy="1572171"/>
          </a:xfrm>
          <a:custGeom>
            <a:avLst/>
            <a:gdLst/>
            <a:ahLst/>
            <a:cxnLst/>
            <a:rect l="l" t="t" r="r" b="b"/>
            <a:pathLst>
              <a:path w="3386683" h="157217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285083" y="0"/>
                </a:lnTo>
                <a:arcTo hR="101600" wR="101600" stAng="16200000" swAng="5400000"/>
                <a:lnTo>
                  <a:pt x="3386683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1117" y="323329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where you want control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1117" y="356349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Workflows, callbacks and plugins let code decide what a model should not.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HOW A TURN RUNS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of a turn becomes an event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Runner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90600" y="2443411"/>
            <a:ext cx="1942529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agent for each message: adk web, adk run, or InMemoryRunner behind review.py.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18135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58775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358775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1" name="Text 9"/>
          <p:cNvSpPr/>
          <p:nvPr/>
        </p:nvSpPr>
        <p:spPr>
          <a:xfrm>
            <a:off x="376555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65550" y="2443411"/>
            <a:ext cx="1942529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reads its instruction, picks the tools to call, and answers.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5630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36270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6270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6" name="Text 14"/>
          <p:cNvSpPr/>
          <p:nvPr/>
        </p:nvSpPr>
        <p:spPr>
          <a:xfrm>
            <a:off x="654050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Events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40500" y="2443411"/>
            <a:ext cx="1942529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model request, tool call and answer is recorded. adk web lists them as event cards.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1250" y="267955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137650" y="1884611"/>
            <a:ext cx="2241550" cy="1981051"/>
          </a:xfrm>
          <a:prstGeom prst="roundRect">
            <a:avLst>
              <a:gd name="adj" fmla="val 3846"/>
            </a:avLst>
          </a:prstGeom>
          <a:solidFill>
            <a:srgbClr val="FBFC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137650" y="1884611"/>
            <a:ext cx="2241550" cy="1981051"/>
          </a:xfrm>
          <a:custGeom>
            <a:avLst/>
            <a:gdLst/>
            <a:ahLst/>
            <a:cxnLst/>
            <a:rect l="l" t="t" r="r" b="b"/>
            <a:pathLst>
              <a:path w="2241550" h="198105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2165350" y="0"/>
                </a:lnTo>
                <a:arcTo hR="76200" wR="76200" stAng="16200000" swAng="5400000"/>
                <a:lnTo>
                  <a:pt x="224155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1" name="Text 19"/>
          <p:cNvSpPr/>
          <p:nvPr/>
        </p:nvSpPr>
        <p:spPr>
          <a:xfrm>
            <a:off x="9315450" y="2100511"/>
            <a:ext cx="194252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Session state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15450" y="2443411"/>
            <a:ext cx="1942529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 that agents and tools share for one conversation.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4119662"/>
            <a:ext cx="108833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how agents and tools pass work 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28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output_key="diff"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an agent's answer to state (from phase 2)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25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{diff}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925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it into the next agent's instruction (phase 4)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722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tool_context.state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lets a tool read and write it (phase 3)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51900" y="4475262"/>
            <a:ext cx="26031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851900" y="4744492"/>
            <a:ext cx="260311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key with this prefix lasts one turn (phase 4)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CALLBACKS AND PLUGINS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let code step in around every step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33020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35560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114800" y="1884611"/>
            <a:ext cx="27940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0800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08800" y="1884611"/>
            <a:ext cx="4470400" cy="42669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08" bIns="635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demo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74116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800" y="240020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before_agent_callback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74116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41800" y="240020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 agent starts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8800" y="274116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35800" y="240020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skips the reviewer without evidence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" y="317420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800" y="283324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before_model_callback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0" y="317420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1800" y="283324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each model request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8800" y="317420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35800" y="283324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redacts secrets, counts the call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3607246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9800" y="326628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after_model_callback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14800" y="3607246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1800" y="326628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model answer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8800" y="3607246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35800" y="326628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counts tokens for the spend line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2800" y="404028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9800" y="3699321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on_model_error_callback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14800" y="404028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1800" y="3699321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provider fails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08800" y="404028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35800" y="3699321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a sentence instead of a traceback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" y="447332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800" y="4132362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before_tool_callback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0" y="447332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41800" y="4132362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each tool call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908800" y="447332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35800" y="4132362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the path guardrail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12800" y="4906367"/>
            <a:ext cx="3302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800" y="4565402"/>
            <a:ext cx="31394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after_tool_callback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114800" y="4906367"/>
            <a:ext cx="2794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41800" y="4565402"/>
            <a:ext cx="261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each tool result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908800" y="4906367"/>
            <a:ext cx="44704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5800" y="4565402"/>
            <a:ext cx="43428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6: redacts what tools return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2800" y="5163542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nothing and the step runs. Return a value and it replaces the step.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" y="551403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callback belongs to one agent. A plugin puts the same hooks on the whole App.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ITERATION 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adds one ADK idea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3088084"/>
        </p:xfrm>
        <a:graphic>
          <a:graphicData uri="http://schemas.openxmlformats.org/drawingml/2006/table">
            <a:tbl>
              <a:tblPr/>
              <a:tblGrid>
                <a:gridCol w="2321814"/>
                <a:gridCol w="4432554"/>
                <a:gridCol w="379933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ADK idea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Hello world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Agent, root_agent, adk web and adk run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agent, two providers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Preflight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function tool, the {status} envelope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“Do this repo and branch exist?”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Changed files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ToolContext.state, before_tool_callback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“What did the branch change?”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First review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Workflow, output_key → {diff}, output_schema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“Is this change OK?”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Parallel lanes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fan-out, JoinNode, max_concurrency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three opinions at once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· The reviewer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 and plugins, the verdict in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exit code a build can trust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· Hardened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layers, retries, gates, rules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E6D7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self-study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340995"/>
            <a:ext cx="235927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phase's lesson, exactly: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172073" y="5369570"/>
            <a:ext cx="772799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git diff --no-index -- phase_3_changed_files phase_4_first_review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D6B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726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BFE3D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THREAD THROUGH EVERY PHASE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19075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judge.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3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decides.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095750"/>
            <a:ext cx="9156700" cy="11149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DCE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a model doing everything. Each phase moves one more decision into code, and that is what makes the agent deterministic and controllable.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A FAIR COMPARISON · 1 OF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46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agent file or an ADK workflow?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318220"/>
            <a:ext cx="1905000" cy="5803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14300" tIns="76200" rIns="63500" bIns="5080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178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6" name="Text 4"/>
          <p:cNvSpPr/>
          <p:nvPr/>
        </p:nvSpPr>
        <p:spPr>
          <a:xfrm>
            <a:off x="28321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21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defines the steps and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85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9" name="Text 7"/>
          <p:cNvSpPr/>
          <p:nvPr/>
        </p:nvSpPr>
        <p:spPr>
          <a:xfrm>
            <a:off x="71628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628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defines the steps and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5684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100" y="21033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speed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178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21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3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fast to build and change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321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0353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get messy as it grows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0485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628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60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work up front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1628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660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grow cleanly over time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2800" y="29590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7100" y="263515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717800" y="29590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21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353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may skip, merge or reinterpret steps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48500" y="29590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28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60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run exactly as coded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2800" y="36321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100" y="3166963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17800" y="36321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2100" y="31669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035300" y="31669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heavily on model behaviour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48500" y="36321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2800" y="30256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66000" y="30256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predictable and consistent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162800" y="33082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366000" y="33082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step is reported, never approved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12800" y="402262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7100" y="3698776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2717800" y="402262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2100" y="36987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035300" y="36987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control over what runs, and when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7048500" y="402262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62800" y="36987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366000" y="36987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order, retries and permissions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12800" y="441315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7100" y="408930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2717800" y="441315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32100" y="408930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53" name="Text 51"/>
          <p:cNvSpPr/>
          <p:nvPr/>
        </p:nvSpPr>
        <p:spPr>
          <a:xfrm>
            <a:off x="3035300" y="408930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know which steps really ran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7048500" y="441315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62800" y="408930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366000" y="408930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logged and traced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12800" y="48036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7100" y="4479826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717800" y="48036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2100" y="44798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3035300" y="44798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find where it went wrong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7048500" y="48036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2800" y="44798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7366000" y="44798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find the step that failed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812800" y="54767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7100" y="50116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2717800" y="54767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2100" y="50116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035300" y="50116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Mostly tested by checking the final answer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048500" y="54767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2800" y="48703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366000" y="48703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and the whole flow can be tested</a:t>
            </a:r>
            <a:endParaRPr lang="en-US" sz="1350" dirty="0"/>
          </a:p>
        </p:txBody>
      </p:sp>
      <p:sp>
        <p:nvSpPr>
          <p:cNvPr id="73" name="Text 71"/>
          <p:cNvSpPr/>
          <p:nvPr/>
        </p:nvSpPr>
        <p:spPr>
          <a:xfrm>
            <a:off x="7162800" y="51529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74" name="Text 72"/>
          <p:cNvSpPr/>
          <p:nvPr/>
        </p:nvSpPr>
        <p:spPr>
          <a:xfrm>
            <a:off x="7366000" y="51529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run offline, with a fake model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57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A FAIR COMPARISON · 2 OF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467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grows, and when it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318220"/>
            <a:ext cx="1905000" cy="5803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14300" tIns="76200" rIns="63500" bIns="5080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178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6" name="Text 4"/>
          <p:cNvSpPr/>
          <p:nvPr/>
        </p:nvSpPr>
        <p:spPr>
          <a:xfrm>
            <a:off x="28321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 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21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defines the steps and flow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48500" y="1318220"/>
            <a:ext cx="4330700" cy="580330"/>
          </a:xfrm>
          <a:prstGeom prst="rect">
            <a:avLst/>
          </a:prstGeom>
          <a:solidFill>
            <a:srgbClr val="E3EAE7"/>
          </a:solidFill>
          <a:ln/>
        </p:spPr>
      </p:sp>
      <p:sp>
        <p:nvSpPr>
          <p:cNvPr id="9" name="Text 7"/>
          <p:cNvSpPr/>
          <p:nvPr/>
        </p:nvSpPr>
        <p:spPr>
          <a:xfrm>
            <a:off x="7162800" y="1394420"/>
            <a:ext cx="4225163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62800" y="1609030"/>
            <a:ext cx="42251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defines the steps and flow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5684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100" y="21033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Adaptability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178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2100" y="21033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035300" y="21033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change its approach when needed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048500" y="25684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2800" y="1962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66000" y="1962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adapts if explicitly coded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62800" y="22446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66000" y="22446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be swapped with one setting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12800" y="32415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100" y="2776438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717800" y="32415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2100" y="26351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035300" y="26351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at first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832100" y="291772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035300" y="291772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as the prompt grows large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48500" y="32415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62800" y="27764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366000" y="27764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to maintain as the system grows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812800" y="3889276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7100" y="3308251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compliance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17800" y="38892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2100" y="34368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035300" y="34368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enforce rules and guarantees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048500" y="3889276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62800" y="3436838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366000" y="3436838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Audit, security and approval rules enforced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812800" y="42798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7100" y="3955951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recovery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2717800" y="42798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2100" y="39559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3035300" y="39559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start over from scratch after a failure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048500" y="42798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62800" y="39559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7366000" y="39559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retry, or resume from where it stopped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12800" y="49529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7100" y="4487763"/>
            <a:ext cx="17272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2717800" y="49529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832100" y="44877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3035300" y="44877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workflows become hard to manage</a:t>
            </a:r>
            <a:endParaRPr lang="en-US" sz="1350" dirty="0"/>
          </a:p>
        </p:txBody>
      </p:sp>
      <p:sp>
        <p:nvSpPr>
          <p:cNvPr id="52" name="Shape 50"/>
          <p:cNvSpPr/>
          <p:nvPr/>
        </p:nvSpPr>
        <p:spPr>
          <a:xfrm>
            <a:off x="7048500" y="49529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62800" y="4346476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366000" y="4346476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large, complex workflows better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162800" y="4629051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7366000" y="4629051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steps run in parallel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12800" y="56006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7100" y="5019576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Business-critical processes</a:t>
            </a:r>
            <a:endParaRPr lang="en-US" sz="1350" dirty="0"/>
          </a:p>
        </p:txBody>
      </p:sp>
      <p:sp>
        <p:nvSpPr>
          <p:cNvPr id="59" name="Shape 57"/>
          <p:cNvSpPr/>
          <p:nvPr/>
        </p:nvSpPr>
        <p:spPr>
          <a:xfrm>
            <a:off x="2717800" y="56006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2100" y="51481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61" name="Text 59"/>
          <p:cNvSpPr/>
          <p:nvPr/>
        </p:nvSpPr>
        <p:spPr>
          <a:xfrm>
            <a:off x="3035300" y="51481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 where a process must be strict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7048500" y="56006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62800" y="51481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4" name="Text 62"/>
          <p:cNvSpPr/>
          <p:nvPr/>
        </p:nvSpPr>
        <p:spPr>
          <a:xfrm>
            <a:off x="7366000" y="51481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safer choice for strict processes</a:t>
            </a:r>
            <a:endParaRPr lang="en-US" sz="1350" dirty="0"/>
          </a:p>
        </p:txBody>
      </p:sp>
      <p:sp>
        <p:nvSpPr>
          <p:cNvPr id="65" name="Shape 63"/>
          <p:cNvSpPr/>
          <p:nvPr/>
        </p:nvSpPr>
        <p:spPr>
          <a:xfrm>
            <a:off x="812800" y="6248301"/>
            <a:ext cx="1905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27100" y="5667276"/>
            <a:ext cx="172720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/ creative tasks</a:t>
            </a:r>
            <a:endParaRPr lang="en-US" sz="1350" dirty="0"/>
          </a:p>
        </p:txBody>
      </p:sp>
      <p:sp>
        <p:nvSpPr>
          <p:cNvPr id="67" name="Shape 65"/>
          <p:cNvSpPr/>
          <p:nvPr/>
        </p:nvSpPr>
        <p:spPr>
          <a:xfrm>
            <a:off x="2717800" y="62483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832100" y="57958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035300" y="57958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Usually a good fit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7048500" y="6248301"/>
            <a:ext cx="43307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62800" y="5795863"/>
            <a:ext cx="25400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366000" y="5795863"/>
            <a:ext cx="4015867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feel over-engineered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THE REAL DIFFERENCE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7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ADK makes the difference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549350"/>
            <a:ext cx="25400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58420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52800" y="1549350"/>
            <a:ext cx="40132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14224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agent file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66000" y="1549350"/>
            <a:ext cx="4013200" cy="408930"/>
          </a:xfrm>
          <a:prstGeom prst="rect">
            <a:avLst/>
          </a:prstGeom>
          <a:solidFill>
            <a:srgbClr val="E3EAE7"/>
          </a:solidFill>
          <a:ln/>
        </p:spPr>
        <p:txBody>
          <a:bodyPr wrap="square" lIns="127000" tIns="88900" rIns="14224" bIns="635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workflow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498626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9800" y="2097980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secret in the code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52800" y="249862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9800" y="2097980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95700" y="2097980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the model, printed in the answer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66000" y="249862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3000" y="2097980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08900" y="2097980"/>
            <a:ext cx="36703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from the model, flagged as a blocker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800" y="3299916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9800" y="2641501"/>
            <a:ext cx="235458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file too long to read in full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52800" y="329991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9800" y="2770386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95700" y="2770386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anyway, with no warning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66000" y="3299916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3000" y="2770386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08900" y="2770386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 the file and refuses to approve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12800" y="3843437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800" y="3442791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build needs pass or fail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352800" y="384343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9800" y="344279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95700" y="344279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sentence to read and trust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66000" y="384343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3000" y="3442791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08900" y="3442791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exit code the pipeline can act 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2800" y="4386957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9800" y="3986312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spending limit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52800" y="438695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9800" y="398631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95700" y="398631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stops it from spending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66000" y="438695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3000" y="398631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08900" y="398631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at the limit and says so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2800" y="4930477"/>
            <a:ext cx="25400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9800" y="4529832"/>
            <a:ext cx="235458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the flow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352800" y="493047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9800" y="452983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695700" y="452983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the live model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366000" y="4930477"/>
            <a:ext cx="4013200" cy="0"/>
          </a:xfrm>
          <a:prstGeom prst="line">
            <a:avLst/>
          </a:prstGeom>
          <a:noFill/>
          <a:ln w="6350">
            <a:solidFill>
              <a:srgbClr val="D5DD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93000" y="4529832"/>
            <a:ext cx="2667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08900" y="4529832"/>
            <a:ext cx="3649599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offline, with a fake model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12800" y="513685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model, same tools. The difference is what the code guarantees.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 CONCEPTS · WHAT ADK GIVES YOU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runs the process, the model judges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783011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83011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024311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of the whole process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400" y="2370386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sets the order, enforces the rules and decides the verdict, through workflows, callbacks and plugins.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1783011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9" name="Shape 7"/>
          <p:cNvSpPr/>
          <p:nvPr/>
        </p:nvSpPr>
        <p:spPr>
          <a:xfrm>
            <a:off x="6197600" y="1783011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0" name="Text 8"/>
          <p:cNvSpPr/>
          <p:nvPr/>
        </p:nvSpPr>
        <p:spPr>
          <a:xfrm>
            <a:off x="6426200" y="2024311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Deterministic, repeatable runs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26200" y="2370386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steps in the same order on every run, and a verdict computed in Python: exit 0, 1, 2 or 3.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325366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325366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4" name="Text 12"/>
          <p:cNvSpPr/>
          <p:nvPr/>
        </p:nvSpPr>
        <p:spPr>
          <a:xfrm>
            <a:off x="1041400" y="3566666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observable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41400" y="391274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model call, tool call and answer is an event, with tokens per agent and OpenTelemetry traces.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7600" y="3325366"/>
            <a:ext cx="5181600" cy="1288355"/>
          </a:xfrm>
          <a:prstGeom prst="roundRect">
            <a:avLst>
              <a:gd name="adj" fmla="val 7886"/>
            </a:avLst>
          </a:prstGeom>
          <a:solidFill>
            <a:srgbClr val="FBFC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3325366"/>
            <a:ext cx="5181600" cy="1288355"/>
          </a:xfrm>
          <a:custGeom>
            <a:avLst/>
            <a:gdLst/>
            <a:ahLst/>
            <a:cxnLst/>
            <a:rect l="l" t="t" r="r" b="b"/>
            <a:pathLst>
              <a:path w="5181600" h="1288355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200" y="3566666"/>
            <a:ext cx="486613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25"/>
              </a:lnSpc>
              <a:buNone/>
            </a:pPr>
            <a:r>
              <a:rPr lang="en-US" sz="17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exactly where it’s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26200" y="3912741"/>
            <a:ext cx="48661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reasons only in the steps that need judgement: here, three lanes reading the diff.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800" y="4867721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agent file is still the faster start when a person reads every answer. And it is not either-or: an ADK agent can load and use </a:t>
            </a: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1 OF 6 · HELLO WORLD · 0:20 · OBSERVABLE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two providers, one switch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3937000" cy="1892300"/>
          </a:xfrm>
          <a:prstGeom prst="roundRect">
            <a:avLst>
              <a:gd name="adj" fmla="val 5369"/>
            </a:avLst>
          </a:prstGeom>
          <a:solidFill>
            <a:srgbClr val="10181D"/>
          </a:solidFill>
          <a:ln/>
        </p:spPr>
        <p:txBody>
          <a:bodyPr wrap="none" lIns="198842" tIns="173442" rIns="94448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agent.py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root_agent = </a:t>
            </a: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Agent</a:t>
            </a: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model=build_model(),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name="phase_1_hello_world",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instruction="… Greet …",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953000" y="1884611"/>
            <a:ext cx="6426200" cy="1892300"/>
          </a:xfrm>
          <a:prstGeom prst="roundRect">
            <a:avLst>
              <a:gd name="adj" fmla="val 5369"/>
            </a:avLst>
          </a:prstGeom>
          <a:solidFill>
            <a:srgbClr val="10181D"/>
          </a:solidFill>
          <a:ln/>
        </p:spPr>
        <p:txBody>
          <a:bodyPr wrap="none" lIns="198842" tIns="173442" rIns="1977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config.py, the only file that names a provider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provider = (os.environ.get("REVIEW_PROVIDER", "")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.strip().lower() or "copilot")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if provider == "gemini":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model           </a:t>
            </a: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ADK speaks Gemini natively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return </a:t>
            </a: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LiteLlm</a:t>
            </a: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(model=f"github_copilot/{model}")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030911"/>
            <a:ext cx="559866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folder is the agent, and root_agent is what the loader looks for. No other file knows which provider runs.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655691"/>
            <a:ext cx="55986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Abridged. No tools, no state, no callbacks yet.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53200" y="4030911"/>
            <a:ext cx="4826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9" name="Text 7"/>
          <p:cNvSpPr/>
          <p:nvPr/>
        </p:nvSpPr>
        <p:spPr>
          <a:xfrm>
            <a:off x="6731000" y="4183311"/>
            <a:ext cx="4604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31000" y="4447431"/>
            <a:ext cx="460451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adk run phase_1_hello_world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adk web . → hello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REVIEW_PROVIDER=gemini, restart, ask again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2 OF 6 · PREFLIGHT · 0:25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tool's docstring is its schema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2273300"/>
          </a:xfrm>
          <a:prstGeom prst="roundRect">
            <a:avLst>
              <a:gd name="adj" fmla="val 446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def inspect_repository(repo: str, base: str, head: str) -&gt; dict: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"""Confirm repo is a git repository, that base and head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exist, and find their merge base."""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return {"status": "success", "head_sha": ..., ...}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root_agent = Agent(model=build_model(), name="phase_2_preflight",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              tools=[inspect_repository], output_key="preflight")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4119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answers {status: …} and never raises at the model: an envelope lets the model explain.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036691"/>
            <a:ext cx="5991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Abridged. Lines marked + are new in this phase.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4411911"/>
            <a:ext cx="4445000" cy="1064220"/>
          </a:xfrm>
          <a:prstGeom prst="roundRect">
            <a:avLst>
              <a:gd name="adj" fmla="val 9547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5643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4828431"/>
            <a:ext cx="421208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review &lt;demo repo&gt;, branch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feature/payments against main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3 OF 6 · CHANGED FILES · 0:30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 runs before the tool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2540000"/>
          </a:xfrm>
          <a:prstGeom prst="roundRect">
            <a:avLst>
              <a:gd name="adj" fmla="val 4000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def only_changed_paths(tool, args, tool_context) -&gt; dict | None: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if tool.name != "show_diff":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    return None</a:t>
            </a: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           # lets the call through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listed = tool_context.state.get("review_files")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if … or path not in listed: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    return {"status": "error", …}</a:t>
            </a: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# answers the model; the tool never runs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return None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root_agent = Agent(…, before_tool_callback=[only_changed_paths])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46786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tool's answer is the next tool's boundary: changed_files writes the allowlist, show_diff is held to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5303391"/>
            <a:ext cx="5991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Abridged from callbacks.py and agent.py. Lines marked + are new in this phase.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4678611"/>
            <a:ext cx="4445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8310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5095131"/>
            <a:ext cx="421208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same message, then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diff of src/payments/charge.py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diff of /etc/passwd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4 OF 6 · FIRST REVIEW · 0:35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is the wire between two agents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10566400" cy="1739900"/>
          </a:xfrm>
          <a:prstGeom prst="roundRect">
            <a:avLst>
              <a:gd name="adj" fmla="val 583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collector = LlmAgent(tools=[inspect_repository, changed_files, show_diff],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                output_key="diff")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reviewer = LlmAgent(instruction="Review the change below … {diff}",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                    output_schema=Review, output_key="review")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 root_agent = Workflow(edges=[("START", collector, reviewer)])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878511"/>
            <a:ext cx="5991098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Gathering and judging are separate agents: the collector has the tools, the reviewer has the schema.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503291"/>
            <a:ext cx="59910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Abridged from agent.py. Lines marked + are new in this phase. The command's exit 0 means judged, not clean: phase 4 never exits 1.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34200" y="3878511"/>
            <a:ext cx="4445000" cy="1311870"/>
          </a:xfrm>
          <a:prstGeom prst="roundRect">
            <a:avLst>
              <a:gd name="adj" fmla="val 7745"/>
            </a:avLst>
          </a:prstGeom>
          <a:solidFill>
            <a:srgbClr val="DCEFE8"/>
          </a:solidFill>
          <a:ln/>
        </p:spPr>
      </p:sp>
      <p:sp>
        <p:nvSpPr>
          <p:cNvPr id="8" name="Text 6"/>
          <p:cNvSpPr/>
          <p:nvPr/>
        </p:nvSpPr>
        <p:spPr>
          <a:xfrm>
            <a:off x="7112000" y="4030911"/>
            <a:ext cx="42120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DEMO · THE SAME GRAPH AS A COMMAND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12000" y="4295031"/>
            <a:ext cx="421208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-m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phase_4_first_review.review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--head feature/payments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4 OF 6 · TYPED ANSWERS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are typed, failures are answers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6350000" cy="3441700"/>
          </a:xfrm>
          <a:prstGeom prst="roundRect">
            <a:avLst>
              <a:gd name="adj" fmla="val 2952"/>
            </a:avLst>
          </a:prstGeom>
          <a:solidFill>
            <a:srgbClr val="10181D"/>
          </a:solidFill>
          <a:ln/>
        </p:spPr>
        <p:txBody>
          <a:bodyPr wrap="none" lIns="275042" tIns="224242" rIns="102830" bIns="1988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Finding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(BaseModel):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file: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line: int | None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severity: Literal["blocker", "major", "minor"]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title: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evidence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 str    </a:t>
            </a: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the diff lines, verbatim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suggestion: str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Review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(BaseModel):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findings: list[Finding]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summary: str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5478711"/>
            <a:ext cx="654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schemas.py, abridged. ADK puts the parsed object in state, not text.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69200" y="1935411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on_model_error_callback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69200" y="2240211"/>
            <a:ext cx="392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provider error becomes the agent's answer: one sentence, never a traceback.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69200" y="2976811"/>
            <a:ext cx="39243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before_agent_callback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69200" y="3281611"/>
            <a:ext cx="39243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nothing gathered, the reviewer skips itself and says why.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569200" y="4018211"/>
            <a:ext cx="392430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“Did not look” must never read as “found nothing”.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5 OF 6 · PARALLEL LANES · 0:43 · INTELLIGENCE WHERE NEEDED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edge fans out to three lanes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325" y="2394496"/>
            <a:ext cx="984349" cy="455910"/>
          </a:xfrm>
          <a:prstGeom prst="roundRect">
            <a:avLst>
              <a:gd name="adj" fmla="val 14625"/>
            </a:avLst>
          </a:prstGeom>
          <a:noFill/>
          <a:ln w="19050">
            <a:solidFill>
              <a:srgbClr val="8A9BA4"/>
            </a:solidFill>
            <a:prstDash val="dash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START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968599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409924" y="2394496"/>
            <a:ext cx="1472109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collector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43958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485283" y="1843336"/>
            <a:ext cx="2203748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square" lIns="167797" tIns="66197" rIns="112924" bIns="40797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lane_security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85283" y="2394496"/>
            <a:ext cx="2203748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square" lIns="167797" tIns="66197" rIns="112924" bIns="40797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lane_tests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5283" y="2945656"/>
            <a:ext cx="2203748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lane_complexity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0955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92280" y="2394496"/>
            <a:ext cx="1594048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1D6B58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join_lanes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48254" y="2426891"/>
            <a:ext cx="33528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89579" y="2394496"/>
            <a:ext cx="1228229" cy="455910"/>
          </a:xfrm>
          <a:prstGeom prst="roundRect">
            <a:avLst>
              <a:gd name="adj" fmla="val 14625"/>
            </a:avLst>
          </a:prstGeom>
          <a:solidFill>
            <a:srgbClr val="FBFCFB"/>
          </a:solidFill>
          <a:ln w="19050">
            <a:solidFill>
              <a:srgbClr val="B4540A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verdict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325" y="3545036"/>
            <a:ext cx="184150" cy="184150"/>
          </a:xfrm>
          <a:prstGeom prst="roundRect">
            <a:avLst>
              <a:gd name="adj" fmla="val 15517"/>
            </a:avLst>
          </a:prstGeom>
          <a:noFill/>
          <a:ln w="19050">
            <a:solidFill>
              <a:srgbClr val="B454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7600" y="3512691"/>
            <a:ext cx="222671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calls a model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53842" y="3545036"/>
            <a:ext cx="184150" cy="184150"/>
          </a:xfrm>
          <a:prstGeom prst="roundRect">
            <a:avLst>
              <a:gd name="adj" fmla="val 15517"/>
            </a:avLst>
          </a:prstGeom>
          <a:noFill/>
          <a:ln w="19050">
            <a:solidFill>
              <a:srgbClr val="1D6B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9117" y="3512691"/>
            <a:ext cx="404419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JoinNode: code that waits for every branch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3964781"/>
            <a:ext cx="10566400" cy="838200"/>
          </a:xfrm>
          <a:prstGeom prst="roundRect">
            <a:avLst>
              <a:gd name="adj" fmla="val 12121"/>
            </a:avLst>
          </a:prstGeom>
          <a:solidFill>
            <a:srgbClr val="10181D"/>
          </a:solidFill>
          <a:ln/>
        </p:spPr>
        <p:txBody>
          <a:bodyPr wrap="none" lIns="275042" tIns="122642" rIns="0" bIns="972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lanes = tuple(build_lane(*lane) for lane in LANES)      </a:t>
            </a: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 lane is a row: name, role, budget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root_agent =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Workflow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(edges=[("START", collector,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lanes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join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verdict)], max_concurrency=3)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2800" y="5006181"/>
            <a:ext cx="10566400" cy="765770"/>
          </a:xfrm>
          <a:prstGeom prst="roundRect">
            <a:avLst>
              <a:gd name="adj" fmla="val 13268"/>
            </a:avLst>
          </a:prstGeom>
          <a:solidFill>
            <a:srgbClr val="DCEFE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5133181"/>
            <a:ext cx="105171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DEMO · THE SAME MESSAGE IN ADK WEB, THEN THE COMMAND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90600" y="5397302"/>
            <a:ext cx="1051712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-m phase_5_parallel_lanes.review --head feature/payments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 PHASE 5 TO PHASE 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phase 5 still trusts the model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48111"/>
          <a:ext cx="10553700" cy="2702074"/>
        </p:xfrm>
        <a:graphic>
          <a:graphicData uri="http://schemas.openxmlformats.org/drawingml/2006/table">
            <a:tbl>
              <a:tblPr/>
              <a:tblGrid>
                <a:gridCol w="2532888"/>
                <a:gridCol w="3588258"/>
                <a:gridCol w="4432554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0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B454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5: a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6B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6: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E7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Gathering the diff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 calls chosen by a model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before any model runs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Checking each quote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nothing checks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whole lines of its own file's diff, or dropped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numbers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model's guess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off the diff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 in the diff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 to every lane, and printed back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redacted for models, a blocker from a gate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verdict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 writes APPROVED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function decides, with an exit code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lane that fails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verdict agent is asked to say 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E4C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named, and the run can never approve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954984"/>
            <a:ext cx="1046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spends model requests just to gather the diff. Phase 6 gathers it with git and spends three requests, one per lane.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6 OF 6 · THE REVIEWER · 0:50 · INTELLIGENCE WHERE NEEDED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one of five steps calls a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199132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1991320" cy="2257871"/>
          </a:xfrm>
          <a:custGeom>
            <a:avLst/>
            <a:gdLst/>
            <a:ahLst/>
            <a:cxnLst/>
            <a:rect l="l" t="t" r="r" b="b"/>
            <a:pathLst>
              <a:path w="199132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20" y="0"/>
                </a:lnTo>
                <a:arcTo hR="76200" wR="76200" stAng="16200000" swAng="5400000"/>
                <a:lnTo>
                  <a:pt x="199132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100511"/>
            <a:ext cx="1686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 ·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0600" y="2390031"/>
            <a:ext cx="168652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90600" y="2720231"/>
            <a:ext cx="168652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 git resolves both branches, lists the changed files, reads every diff.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95652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10" name="Shape 8"/>
          <p:cNvSpPr/>
          <p:nvPr/>
        </p:nvSpPr>
        <p:spPr>
          <a:xfrm>
            <a:off x="295652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1" name="Text 9"/>
          <p:cNvSpPr/>
          <p:nvPr/>
        </p:nvSpPr>
        <p:spPr>
          <a:xfrm>
            <a:off x="313432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 ·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3432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34320" y="2720231"/>
            <a:ext cx="168657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added line is checked against 13 kinds of credential. A hit is a blocker.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0029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029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6" name="Text 14"/>
          <p:cNvSpPr/>
          <p:nvPr/>
        </p:nvSpPr>
        <p:spPr>
          <a:xfrm>
            <a:off x="527809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4540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 · models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7809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78090" y="2720231"/>
            <a:ext cx="1686570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lanes judge the same diff, as data, never as instructions.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4406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406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1" name="Text 19"/>
          <p:cNvSpPr/>
          <p:nvPr/>
        </p:nvSpPr>
        <p:spPr>
          <a:xfrm>
            <a:off x="742186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 · code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2186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21860" y="2720231"/>
            <a:ext cx="168657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quote must be whole lines of its file's diff, or it is dropped. Duplicates folded.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87830" y="1884611"/>
            <a:ext cx="1991370" cy="2257871"/>
          </a:xfrm>
          <a:prstGeom prst="roundRect">
            <a:avLst>
              <a:gd name="adj" fmla="val 3827"/>
            </a:avLst>
          </a:prstGeom>
          <a:solidFill>
            <a:srgbClr val="FBFCFB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7830" y="1884611"/>
            <a:ext cx="1991370" cy="2257871"/>
          </a:xfrm>
          <a:custGeom>
            <a:avLst/>
            <a:gdLst/>
            <a:ahLst/>
            <a:cxnLst/>
            <a:rect l="l" t="t" r="r" b="b"/>
            <a:pathLst>
              <a:path w="1991370" h="225787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15170" y="0"/>
                </a:lnTo>
                <a:arcTo hR="76200" wR="76200" stAng="16200000" swAng="5400000"/>
                <a:lnTo>
                  <a:pt x="199137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6" name="Text 24"/>
          <p:cNvSpPr/>
          <p:nvPr/>
        </p:nvSpPr>
        <p:spPr>
          <a:xfrm>
            <a:off x="9565630" y="2100511"/>
            <a:ext cx="16865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 · code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65630" y="2390031"/>
            <a:ext cx="168657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65630" y="2720231"/>
            <a:ext cx="1686570" cy="1269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found, dropped, folded, redacted and not read, and what it cost.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4396482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that decides the exit code is Python.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4721572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command. In adk web chat the lanes and plugins run too, but the verdict is still a model's.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6 · THE APP · CONTROL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carry policy no agent can skip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5411"/>
            <a:ext cx="10566400" cy="1739900"/>
          </a:xfrm>
          <a:prstGeom prst="roundRect">
            <a:avLst>
              <a:gd name="adj" fmla="val 5839"/>
            </a:avLst>
          </a:prstGeom>
          <a:solidFill>
            <a:srgbClr val="10181D"/>
          </a:solidFill>
          <a:ln/>
        </p:spPr>
        <p:txBody>
          <a:bodyPr wrap="none" lIns="275042" tIns="173442" rIns="0" bIns="1480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build_app(*, chat: bool) -&gt;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App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plugins = [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RedactSecretsPlugin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(),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UsageLedger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(),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ReportProviderErrors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()]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App(name=NAME, root_agent=build_workflow(chat=chat), plugins=plugins)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app = build_app(chat=True)      </a:t>
            </a:r>
            <a:r>
              <a:rPr lang="en-US" sz="14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the command builds it with chat=False: lanes only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3980111"/>
            <a:ext cx="3386634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4183311"/>
            <a:ext cx="306964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RedactSecretsPlugin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4500811"/>
            <a:ext cx="306964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Scrubs credential shapes from every request before a model sees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3980111"/>
            <a:ext cx="3386683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9" name="Text 7"/>
          <p:cNvSpPr/>
          <p:nvPr/>
        </p:nvSpPr>
        <p:spPr>
          <a:xfrm>
            <a:off x="4605834" y="4183311"/>
            <a:ext cx="30696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UsageLedger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05834" y="4500811"/>
            <a:ext cx="30696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 every call's tokens; the report ends with what the run cost.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92517" y="3980111"/>
            <a:ext cx="3386683" cy="1221680"/>
          </a:xfrm>
          <a:prstGeom prst="roundRect">
            <a:avLst>
              <a:gd name="adj" fmla="val 8316"/>
            </a:avLst>
          </a:prstGeom>
          <a:solidFill>
            <a:srgbClr val="FBFCFB"/>
          </a:solidFill>
          <a:ln/>
        </p:spPr>
      </p:sp>
      <p:sp>
        <p:nvSpPr>
          <p:cNvPr id="12" name="Text 10"/>
          <p:cNvSpPr/>
          <p:nvPr/>
        </p:nvSpPr>
        <p:spPr>
          <a:xfrm>
            <a:off x="8195717" y="4183311"/>
            <a:ext cx="306969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ReportProviderErrors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95717" y="4500811"/>
            <a:ext cx="30696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failed lane is named with its reason; the others finish.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6 · THE VERDICT · REVIEW.PY · DETERMINISTIC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975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 is a function, not a prompt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681411"/>
            <a:ext cx="10566400" cy="1955800"/>
          </a:xfrm>
          <a:prstGeom prst="roundRect">
            <a:avLst>
              <a:gd name="adj" fmla="val 5195"/>
            </a:avLst>
          </a:prstGeom>
          <a:solidFill>
            <a:srgbClr val="10181D"/>
          </a:solidFill>
          <a:ln/>
        </p:spPr>
        <p:txBody>
          <a:bodyPr wrap="none" lIns="275042" tIns="148042" rIns="0" bIns="12264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def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decide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(outcome: Outcome, fail_on: str) -&gt; tuple[str, int]: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if outcome.errors or outcome.unread or _ungrounded_at(outcome, fail_on):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return 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"DEGRADED"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EXIT_DEGRADED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worst = max((RANK[item.finding.severity] for item in outcome.kept), default=0)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return (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"REQUEST_CHANGES"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EXIT_FINDINGS) if worst &gt;= RANK[fail_on]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else (</a:t>
            </a:r>
            <a:r>
              <a:rPr lang="en-US" sz="14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"APPROVED"</a:t>
            </a:r>
            <a:r>
              <a:rPr lang="en-US" sz="14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, EXIT_CLEAN)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8404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44600" y="3840411"/>
            <a:ext cx="49184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38404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604000" y="3840411"/>
            <a:ext cx="55880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finding at the bar: blocker by default, --fail-on to change it.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2976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44600" y="4297611"/>
            <a:ext cx="49184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usage or readiness error before any model call, or nothing to review.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72200" y="4297611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04000" y="4297611"/>
            <a:ext cx="491845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hole: a failed lane, an unread file, or a finding at the bar the diff does not bear out.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998591"/>
            <a:ext cx="10883392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hole never approves.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54989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function, so it is tested like one: the suite runs every phase offline, on a fake model.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6 · LIVE · OBSERVABLE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fixes, and the build can 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11"/>
            <a:ext cx="3386634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11"/>
            <a:ext cx="30173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1 · exit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478931"/>
            <a:ext cx="3017317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run from the start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1400" y="2834531"/>
            <a:ext cx="301731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hard-coded key, found by the code gate, and the shell call, found by a lane.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35411"/>
            <a:ext cx="3386683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9" name="Text 7"/>
          <p:cNvSpPr/>
          <p:nvPr/>
        </p:nvSpPr>
        <p:spPr>
          <a:xfrm>
            <a:off x="4631234" y="2164011"/>
            <a:ext cx="30173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31234" y="247893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the two fixes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1234" y="2834531"/>
            <a:ext cx="3017368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scripts/make_demo_repo.py --fix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1234" y="3679081"/>
            <a:ext cx="30173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shell=True, and keys read from the environment.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92517" y="1935411"/>
            <a:ext cx="3386683" cy="2470051"/>
          </a:xfrm>
          <a:prstGeom prst="roundRect">
            <a:avLst>
              <a:gd name="adj" fmla="val 4113"/>
            </a:avLst>
          </a:prstGeom>
          <a:solidFill>
            <a:srgbClr val="1A252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1117" y="2164011"/>
            <a:ext cx="30173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Step 3 · exit 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1117" y="2478931"/>
            <a:ext cx="301736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again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1117" y="2834531"/>
            <a:ext cx="301736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same command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1117" y="3183781"/>
            <a:ext cx="301736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left sits below the bar: findings for a person, not a failed build.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710261"/>
            <a:ext cx="1088339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read the end of the report: what the run cost.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GOING FURTHER · PHASE 7 · 1:00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hardens the same reviewer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core/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5200" y="2367211"/>
            <a:ext cx="175806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domain: no process, no model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146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9" name="Shape 7"/>
          <p:cNvSpPr/>
          <p:nvPr/>
        </p:nvSpPr>
        <p:spPr>
          <a:xfrm>
            <a:off x="295146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0" name="Text 8"/>
          <p:cNvSpPr/>
          <p:nvPr/>
        </p:nvSpPr>
        <p:spPr>
          <a:xfrm>
            <a:off x="310386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rules/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3860" y="2367211"/>
            <a:ext cx="175806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project's own rules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90120" y="1884611"/>
            <a:ext cx="201171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090120" y="1884611"/>
            <a:ext cx="2011710" cy="1055291"/>
          </a:xfrm>
          <a:custGeom>
            <a:avLst/>
            <a:gdLst/>
            <a:ahLst/>
            <a:cxnLst/>
            <a:rect l="l" t="t" r="r" b="b"/>
            <a:pathLst>
              <a:path w="201171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510" y="0"/>
                </a:lnTo>
                <a:arcTo hR="76200" wR="76200" stAng="16200000" swAng="5400000"/>
                <a:lnTo>
                  <a:pt x="201171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14" name="Text 12"/>
          <p:cNvSpPr/>
          <p:nvPr/>
        </p:nvSpPr>
        <p:spPr>
          <a:xfrm>
            <a:off x="5242520" y="2049711"/>
            <a:ext cx="175811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collect/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42520" y="2367211"/>
            <a:ext cx="175811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git and the ruff gate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2883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22883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B4540A"/>
          </a:solidFill>
          <a:ln/>
        </p:spPr>
      </p:sp>
      <p:sp>
        <p:nvSpPr>
          <p:cNvPr id="18" name="Text 16"/>
          <p:cNvSpPr/>
          <p:nvPr/>
        </p:nvSpPr>
        <p:spPr>
          <a:xfrm>
            <a:off x="738123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judge/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81230" y="2367211"/>
            <a:ext cx="175806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boundary: lanes, verify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67490" y="1884611"/>
            <a:ext cx="2011660" cy="1055291"/>
          </a:xfrm>
          <a:prstGeom prst="roundRect">
            <a:avLst>
              <a:gd name="adj" fmla="val 7221"/>
            </a:avLst>
          </a:prstGeom>
          <a:solidFill>
            <a:srgbClr val="FBFCFB"/>
          </a:solidFill>
          <a:ln/>
        </p:spPr>
      </p:sp>
      <p:sp>
        <p:nvSpPr>
          <p:cNvPr id="21" name="Shape 19"/>
          <p:cNvSpPr/>
          <p:nvPr/>
        </p:nvSpPr>
        <p:spPr>
          <a:xfrm>
            <a:off x="9367490" y="1884611"/>
            <a:ext cx="2011660" cy="1055291"/>
          </a:xfrm>
          <a:custGeom>
            <a:avLst/>
            <a:gdLst/>
            <a:ahLst/>
            <a:cxnLst/>
            <a:rect l="l" t="t" r="r" b="b"/>
            <a:pathLst>
              <a:path w="2011660" h="1055291">
                <a:moveTo>
                  <a:pt x="0" y="76200"/>
                </a:moveTo>
                <a:lnTo>
                  <a:pt x="0" y="76200"/>
                </a:lnTo>
                <a:arcTo hR="76200" wR="76200" stAng="10800000" swAng="5400000"/>
                <a:lnTo>
                  <a:pt x="1935460" y="0"/>
                </a:lnTo>
                <a:arcTo hR="76200" wR="76200" stAng="16200000" swAng="5400000"/>
                <a:lnTo>
                  <a:pt x="2011660" y="76200"/>
                </a:lnTo>
                <a:arcTo hR="38100" wR="76200" stAng="0" swAng="-5400000"/>
                <a:lnTo>
                  <a:pt x="76200" y="38100"/>
                </a:lnTo>
                <a:arcTo hR="38100" wR="76200" stAng="16200000" swAng="-5400000"/>
                <a:close/>
              </a:path>
            </a:pathLst>
          </a:custGeom>
          <a:solidFill>
            <a:srgbClr val="1D6B58"/>
          </a:solidFill>
          <a:ln/>
        </p:spPr>
      </p:sp>
      <p:sp>
        <p:nvSpPr>
          <p:cNvPr id="22" name="Text 20"/>
          <p:cNvSpPr/>
          <p:nvPr/>
        </p:nvSpPr>
        <p:spPr>
          <a:xfrm>
            <a:off x="9519890" y="2049711"/>
            <a:ext cx="175806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deliver/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19890" y="2367211"/>
            <a:ext cx="175806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304150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group imports only the groups to its left, and a test fails any import that points back.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3544391"/>
            <a:ext cx="546785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adds to phase 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3874591"/>
            <a:ext cx="5467858" cy="1572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retries on both providers, and an optional fallback model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token ceiling that reserves before it spends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ruff gate: a second check by code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--verify: a second opinion on lane findings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file's blast radius, from the import graph</a:t>
            </a:r>
            <a:endParaRPr lang="en-US" sz="1400" dirty="0"/>
          </a:p>
          <a:p>
            <a:pPr algn="l" marL="213360" indent="-156718">
              <a:lnSpc>
                <a:spcPts val="203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project's own rules, chosen by profile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26200" y="3544391"/>
            <a:ext cx="4953000" cy="1876822"/>
          </a:xfrm>
          <a:prstGeom prst="roundRect">
            <a:avLst>
              <a:gd name="adj" fmla="val 5413"/>
            </a:avLst>
          </a:prstGeom>
          <a:solidFill>
            <a:srgbClr val="10181D"/>
          </a:solidFill>
          <a:ln/>
        </p:spPr>
        <p:txBody>
          <a:bodyPr wrap="none" lIns="173442" tIns="173442" rIns="37044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pytest -q tests/test_layering.py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-m phase_7_hardened.review \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--head feature/payments --verify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then the same with --max-tokens 2000,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and with --profile gates-only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 7 · YOUR TEAM'S RULES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is a class, a profile a list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5715000" cy="2635250"/>
          </a:xfrm>
          <a:prstGeom prst="roundRect">
            <a:avLst>
              <a:gd name="adj" fmla="val 3855"/>
            </a:avLst>
          </a:prstGeom>
          <a:solidFill>
            <a:srgbClr val="10181D"/>
          </a:solidFill>
          <a:ln/>
        </p:spPr>
        <p:txBody>
          <a:bodyPr wrap="none" lIns="224242" tIns="173442" rIns="6803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rules/no_print.py, abridged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NoPrint(</a:t>
            </a: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Rule</a:t>
            </a: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):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id = "no-print"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severity = "minor"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title = "print() left in library code"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fix = "Use the logger."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def </a:t>
            </a: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check</a:t>
            </a: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(self, path: str, line: str) -&gt; bool: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...  </a:t>
            </a: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a print token, then "("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4646861"/>
            <a:ext cx="5715000" cy="1149350"/>
          </a:xfrm>
          <a:prstGeom prst="roundRect">
            <a:avLst>
              <a:gd name="adj" fmla="val 8840"/>
            </a:avLst>
          </a:prstGeom>
          <a:solidFill>
            <a:srgbClr val="10181D"/>
          </a:solidFill>
          <a:ln/>
        </p:spPr>
        <p:txBody>
          <a:bodyPr wrap="none" lIns="224242" tIns="173442" rIns="68032" bIns="1480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8A9BA4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 config.toml, under [profiles], shortened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gates-only = ["secrets", "lint",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        "no-print", "money-in-cents", ...]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83400" y="1884611"/>
            <a:ext cx="4630674" cy="2265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a file in rules/ and it runs, on every line the branch added, or on the tree at the head.</a:t>
            </a:r>
            <a:endParaRPr lang="en-US" sz="1400" dirty="0"/>
          </a:p>
          <a:p>
            <a:pPr algn="l" marL="213360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profile lists check ids: your rules plus secrets, lint and the three lanes.</a:t>
            </a:r>
            <a:endParaRPr lang="en-US" sz="1400" dirty="0"/>
          </a:p>
          <a:p>
            <a:pPr algn="l" marL="213360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--profile runs every check. gates-only runs no lane: no model, no key.</a:t>
            </a:r>
            <a:endParaRPr lang="en-US" sz="1400" dirty="0"/>
          </a:p>
          <a:p>
            <a:pPr algn="l" marL="213360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rule that will not load, or a broken profile or config, stops the run before it starts (exit 2).</a:t>
            </a:r>
            <a:endParaRPr lang="en-US" sz="1400" dirty="0"/>
          </a:p>
          <a:p>
            <a:pPr algn="l" marL="213360" indent="-1567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read from the repository under review.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to take home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1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6401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an agent one layer at a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1400" y="252596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is a working folder, and the diff between two folders is one lesson.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93541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16401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what the model picks as untrusted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26200" y="252596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answer with envelopes, guardrails sit in front of them, every string is capped.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800" y="349116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" y="371976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shape to code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41400" y="408171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edges, JoinNode and plugins decide the flow. Prompts only fill it in.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7600" y="3491161"/>
            <a:ext cx="5181600" cy="1352550"/>
          </a:xfrm>
          <a:prstGeom prst="roundRect">
            <a:avLst>
              <a:gd name="adj" fmla="val 7512"/>
            </a:avLst>
          </a:prstGeom>
          <a:solidFill>
            <a:srgbClr val="FBFCFB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3719761"/>
            <a:ext cx="4866132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in code, name every hole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26200" y="4081711"/>
            <a:ext cx="486613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judge, code decides, and “did not look” never reads as “found nothing”.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Q&amp;A · 1:03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3500"/>
            <a:ext cx="510159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5149850"/>
            <a:ext cx="51015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Repository: [repository link]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5518150"/>
            <a:ext cx="510159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recording and its chapter times will be in the meeting chat.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333500"/>
            <a:ext cx="5207000" cy="4718050"/>
          </a:xfrm>
          <a:prstGeom prst="roundRect">
            <a:avLst>
              <a:gd name="adj" fmla="val 2153"/>
            </a:avLst>
          </a:prstGeom>
          <a:solidFill>
            <a:srgbClr val="1A252C"/>
          </a:solidFill>
          <a:ln/>
        </p:spPr>
      </p:sp>
      <p:sp>
        <p:nvSpPr>
          <p:cNvPr id="7" name="Text 5"/>
          <p:cNvSpPr/>
          <p:nvPr/>
        </p:nvSpPr>
        <p:spPr>
          <a:xfrm>
            <a:off x="6477000" y="1638300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TRY IT YOURSELF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77000" y="202942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Install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77000" y="233422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sync</a:t>
            </a:r>
            <a:r>
              <a:rPr lang="en-US" sz="13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then copy .env.example to .env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77000" y="274315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Log in to Copilot, once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7000" y="304795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scripts/copilot_login.py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77000" y="3456880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Build the demo repository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77000" y="3761680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scripts/make_demo_repo.py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77000" y="417061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Open every phase in the browser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7000" y="4475411"/>
            <a:ext cx="473532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adk web 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77000" y="5497860"/>
            <a:ext cx="47353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Feedback: [feedback form link]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0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43973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07060"/>
            <a:ext cx="10883392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E6ED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Backup: what each demo shows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801120"/>
            <a:ext cx="915670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B9C7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slide per demo, captured at rehearsal. Jump here when a live call is slow or fails, then carry on.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scripts/ask.py phase_1_hello_world hello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[tokens] in=106 out=45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Hello! To review a git branch, I would need access to the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 and the name of the branch you'd like reviewed.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 don't have any tools or access yet, so I can't start the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review process at this time.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one-sentence greeting, what a review would need, and that it has no tools yet. Click the answer's event card: the side panel shows the request and its tokens.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6753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phase_1_hello_world → hello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preflight block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scripts/ask.py phase_2_preflight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"review &lt;tmp&gt;/adk-demo-repo, branch feature/payments against main"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[tokens] in=1114 out=124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   &lt;tmp&gt;/adk-demo-repo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branch       feature/payments @ 840818199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against      main @ 10559fe72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merge-base   10559fe72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ahead        1 commit(s)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lines: repository, branch @ sha, against @ sha, merge-base, commits ahead.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1419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branch feature/nope against 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77200" y="3472111"/>
            <a:ext cx="3401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tool's own error, repeated in one sentence: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77200" y="4107111"/>
            <a:ext cx="3302000" cy="629841"/>
          </a:xfrm>
          <a:prstGeom prst="roundRect">
            <a:avLst>
              <a:gd name="adj" fmla="val 12098"/>
            </a:avLst>
          </a:prstGeom>
          <a:solidFill>
            <a:srgbClr val="E3EAE7"/>
          </a:solidFill>
          <a:ln/>
        </p:spPr>
        <p:txBody>
          <a:bodyPr wrap="square" lIns="104682" tIns="79282" rIns="13242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head branch 'feature/nope' does not exist in &lt;tmp&gt;/adk-demo-repo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 files, and a refusal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scripts/ask.py phase_3_changed_files "review …"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[tokens] in=2637 out=241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Repository: &lt;tmp&gt;/adk-demo-repo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Branch under review: feature/payments @ 84081819974f…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Against base: main @ 10559fe7217f…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Merge-base: 10559fe7217f…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Commits ahead: 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Changed files: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  src/payments/charge.py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A  src/payments/config.py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A  src/payments/refund.py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A  src/payments/report.py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preflight lines and four files: charge.py modified, config.py, refund.py and report.py added.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141911"/>
            <a:ext cx="34010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show me the diff of /etc/passwd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77200" y="3472111"/>
            <a:ext cx="3401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guardrail answers; the tool never runs: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77200" y="4107111"/>
            <a:ext cx="3302000" cy="843161"/>
          </a:xfrm>
          <a:prstGeom prst="roundRect">
            <a:avLst>
              <a:gd name="adj" fmla="val 9037"/>
            </a:avLst>
          </a:prstGeom>
          <a:solidFill>
            <a:srgbClr val="E3EAE7"/>
          </a:solidFill>
          <a:ln/>
        </p:spPr>
        <p:txBody>
          <a:bodyPr wrap="square" lIns="104682" tIns="79282" rIns="13242" bIns="5388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181D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'/etc/passwd' is not one of the files this change touched; choose one changed_files listed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typed review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-m phase_4_first_review.review 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"findings": [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"file": "src/payments/charge.py",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"line": 11,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"severity": "blocker",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"title": "Command injection … unsanitized printer name",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  …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 "file": "src/payments/config.py", "severity": "blocker", … 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 "file": "src/payments/refund.py", "severity": "major", … },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{ "file": "src/payments/report.py", "severity": "major", … }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],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"summary": "… critical security issues (command injection, …"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as JSON: findings with file, severity, quoted evidence and a fix, one of them the shell=True line in charge.py. Exit 0: judged.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408611"/>
            <a:ext cx="34010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uv run python -m phase_4_first_review.review --head feature/payments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lanes side by side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11"/>
            <a:ext cx="6959600" cy="4160589"/>
          </a:xfrm>
          <a:prstGeom prst="roundRect">
            <a:avLst>
              <a:gd name="adj" fmla="val 2442"/>
            </a:avLst>
          </a:prstGeom>
          <a:solidFill>
            <a:srgbClr val="10181D"/>
          </a:solidFill>
          <a:ln/>
        </p:spPr>
        <p:txBody>
          <a:bodyPr wrap="none" lIns="173442" tIns="173442" rIns="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-m phase_5_parallel_lanes.review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REQUEST CHANGES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 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src/payments/charge.py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**Command injection vulnerability via unsanitized printer name**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src/payments/config.py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**Hardcoded AWS credentials in source code**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 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src/payments/refund.py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src/payments/charge.py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src/payments/report.py (major)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 complexity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src/payments/charge.py (blocker)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src/payments/config.py (blocker)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077200" y="1884611"/>
            <a:ext cx="340106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77200" y="2240211"/>
            <a:ext cx="3401060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lane calls side by side in the Traces view, the join once after all three, then a verdict with findings grouped by lane: REQUEST CHANGES.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77200" y="3675311"/>
            <a:ext cx="3962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E6D7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phase_5_parallel_lanes, same message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1D6B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BACKUP · PHASE 6 AND THE OPENING RUN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229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and after the two fixes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42741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fixes: </a:t>
            </a: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charge.py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longer uses </a:t>
            </a: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shell=True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and </a:t>
            </a:r>
            <a:r>
              <a:rPr lang="en-US" sz="1400" dirty="0">
                <a:solidFill>
                  <a:srgbClr val="1D6B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config.py</a:t>
            </a:r>
            <a:r>
              <a:rPr lang="en-US" sz="1400" dirty="0">
                <a:solidFill>
                  <a:srgbClr val="3E4C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reads the AWS keys from the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18795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exit 1, the key found by the gate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247801"/>
            <a:ext cx="5130800" cy="4152999"/>
          </a:xfrm>
          <a:prstGeom prst="roundRect">
            <a:avLst>
              <a:gd name="adj" fmla="val 2446"/>
            </a:avLst>
          </a:prstGeom>
          <a:solidFill>
            <a:srgbClr val="10181D"/>
          </a:solidFill>
          <a:ln/>
        </p:spPr>
        <p:txBody>
          <a:bodyPr wrap="none" lIns="173442" tIns="173442" rIns="3171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scripts/make_demo_repo.py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-m phase_6_reviewer.review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 Verdict: REQUEST_CHANGES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gate_secrets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blocker hard-coded credential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(aws_access_key_id) (config.py:4)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blocker hard-coded credential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(aws_secret_access_key) (config.py:5)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lane_security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blocker Command injection … (charge.py:22)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lane_tests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major No tests for refund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major No tests for daily_total and format_total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secrets redacted before any model call: 6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spend: 3 model call(s) completed of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attempted, 4,350 tokens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48400" y="18795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two fixes: exit 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48400" y="2247801"/>
            <a:ext cx="5130800" cy="4152999"/>
          </a:xfrm>
          <a:prstGeom prst="roundRect">
            <a:avLst>
              <a:gd name="adj" fmla="val 2446"/>
            </a:avLst>
          </a:prstGeom>
          <a:solidFill>
            <a:srgbClr val="10181D"/>
          </a:solidFill>
          <a:ln/>
        </p:spPr>
        <p:txBody>
          <a:bodyPr wrap="none" lIns="173442" tIns="173442" rIns="31710" bIns="148042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scripts/make_demo_repo.py --fix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$ uv run python -m phase_6_reviewer.review \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CC2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--head feature/payments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 Verdict: APPROVED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gate_secrets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no findings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lane_security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major No validation for negative refund amounts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minor Sensitive credentials … environment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lane_tests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major No tests for daily_total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major No test for receipt function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### lane_complexity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no findings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secrets redacted before any model call: 0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- spend: 3 model call(s) completed of 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6E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attempted, 4,182 tokens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K Code Reviewer KT">
  <a:themeElements>
    <a:clrScheme name="ADK Code Reviewer KT">
      <a:dk1>
        <a:srgbClr val="10181D"/>
      </a:dk1>
      <a:lt1>
        <a:srgbClr val="F3F6F5"/>
      </a:lt1>
      <a:dk2>
        <a:srgbClr val="495053"/>
      </a:dk2>
      <a:lt2>
        <a:srgbClr val="DCE0DF"/>
      </a:lt2>
      <a:accent1>
        <a:srgbClr val="1D6B58"/>
      </a:accent1>
      <a:accent2>
        <a:srgbClr val="B3261E"/>
      </a:accent2>
      <a:accent3>
        <a:srgbClr val="5CC2A0"/>
      </a:accent3>
      <a:accent4>
        <a:srgbClr val="B4540A"/>
      </a:accent4>
      <a:accent5>
        <a:srgbClr val="3E4C57"/>
      </a:accent5>
      <a:accent6>
        <a:srgbClr val="5E6D78"/>
      </a:accent6>
      <a:hlink>
        <a:srgbClr val="0563C1"/>
      </a:hlink>
      <a:folHlink>
        <a:srgbClr val="954F72"/>
      </a:folHlink>
    </a:clrScheme>
    <a:fontScheme name="ADK Code Reviewer K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ADK Code Reviewer KT</dc:title>
  <dc:subject/>
  <dc:creator/>
  <cp:lastModifiedBy/>
  <cp:revision>1</cp:revision>
  <dcterms:created xsi:type="dcterms:W3CDTF">2026-10-02T14:09:23Z</dcterms:created>
  <dcterms:modified xsi:type="dcterms:W3CDTF">2026-10-02T14:09:23Z</dcterms:modified>
</cp:coreProperties>
</file>