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DAY BEFORE: run the full rehearsal on Copilot (uv run python scripts/rehearse.py), then rebuild the demo repository.
BEFORE THE SESSION (15 minutes early):
1. uv sync. If this machine has never logged in to Copilot: uv run python scripts/copilot_login.py (one time).
2. Build a fresh demo repository: uv run python scripts/make_demo_repo.py. Keep the path it prints: the chat messages in phases 2 to 5 need it.
3. Check that .env says REVIEW_PROVIDER=copilot.
4. Run the opening command once: uv run python -m phase_6_reviewer.review --head feature/payments. Expect the report and exit 1. This checks that Copilot answers before the session. The first call after a day may print "API key expired, refreshing": that is the login renewing its key by itself. It is harmless, and the new key lasts a day, so this run keeps it out of the talk.
5. If you will show the Gemini switch in phase 1, check it too: REVIEW_PROVIDER=gemini uv run python scripts/ask.py phase_1_hello_world hello
6. Delete old chats: rm -rf phase_*/.adk (adk web keeps every chat there). Then start uv run adk web . in a second terminal and open it in the browser. Never add -v on a shared screen: in phases 1 to 5 its debug log shows the Copilot token.
7. Get the chat messages ready to paste. uv run python scripts/rehearse.py --dry-run prints the review message with the real path (it runs nothing). The three follow-ups never change:
- branch feature/nope against main
- show me the diff of src/payments/charge.py
- show me the diff of /etc/passwd
8. Make the terminal font large and turn off notifications.
DO: Before this slide, start the recording and turn on transcription.
SAY: "This session is recorded. If you prefer not to appear, keep your camera off and use the chat."
SAY: "Today we build a code reviewer for a git branch, in six phases. Each phase adds one ADK idea."
SAY: "Ask questions in the chat at any time. I will answer them at the end. Phase 7 is in the repository for self-study."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Walk through the plan quickly.
SAY: "First twenty minutes of concepts. Then six phases, live. Phase 6 gets the most time, because it uses everything from the earlier phases."
SAY: "The announcement said one hour. We run a few minutes past it: the six phases end at 1:00, then three minutes on phase 7. The Q&amp;A after that is open, and everything is recorded."
SAY: Read the three goals: "After this session you can do these three things."
TIP: If a live call is still running after about 30 seconds, jump to its backup slide at the end of the deck. If time runs short, shorten phases 2 and 3, never phase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Run the command in the terminal now. With no repository named, it reviews the demo repository.
SAY: "Don't read the details yet. Look at three things."
1. The AWS key, found by code, with its file and line.
2. The findings from three model reviewers, each quoting the code.
3. The exit code. Run echo $? : 1 means a blocker.
SAY: "Over the next hour we build every part of this."
TIMING: Usually 5 to 7 seconds; once it took 55. While it runs, keep talking. If it is still running after about 30 seconds, or it fails, show the phase 6 backup slide and let the command finish in the terminal.
TIME: be on this slide by about 0:02.
TIP: Run this in its own terminal tab, and do not clear it: phase 6's demo comes back to this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reviewer we build today. In: a repository and two branches. Out: findings, a verdict and an exit code."
SAY: "One script builds the demo repository. Its feature branch has four planted problems." Point at the four.
SAY: "The AWS keys are Amazon's public example values. Nothing real."
IF ASKED: Code finds the key every run. In our five measured runs the model reviewers always found the shell call and the untested function. No reviewer named the copied block: a model does not notice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"ADK is Google's open-source Agent Development Kit. An agent is a Python object, a tool is a Python function, and the flow between agents is code."
SAY: "It is not tied to Gemini. We run on GitHub Copilot, through LiteLLM. One setting switches to Gemini."
SAY: "The third card is the theme of today: the more of the flow is code, the more predictable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phase runs through this loop." Then point at each card:
1. Runner: runs the agent for each message. adk web and adk run are runners; our command uses InMemoryRunner.
2. Agent: the model reads its instruction, picks tools and answers. This is the only part that calls a model.
3. Events: everything that happens is recorded. adk web lists them as numbered cards in the chat, and its side panel shows each one with its request, its answer and its tokens. It is our debugger today.
4. Session state: a shared dictionary. One agent writes with output_key, the next reads it with {diff}, a tool uses tool_context.state.
IF ASKED: A key that starts with temp: lasts one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"Hooks let code step in around each step. This is how we move decisions from the model into code."
SAY the one rule: "Return nothing and the step runs. Return a value and it replaces the step."
EXAMPLES: In phase 3, before_tool_callback returns a refusal, so the tool never runs. In phase 4, on_model_error_callback turns a crash into one sentence.
SAY: "A callback is for one agent. A plugin puts the same hooks on every agent, and no agent can skip it. That is where rules like hiding secrets belong."
TIME: be on this slide by about 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plan for the live part. Each phase adds one ADK idea and answers one question."
SAY: "Each phase is a complete folder you can run on its own. Phase 2 is phase 1 plus one idea, and so on."
POINT AT the git diff command: "To replay any lesson later, compare one phase folder with the next."
SAY: "Phase 7 is shown in grey: it is for self-study."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you remember one thing today, remember this: models judge, code decides."
SAY: "In phase 1 the model does everything. By phase 6, code collects the evidence, checks every quote and decides the verdict. The model only does what only a model can do: judge the code."
SAY: "At each phase, ask yourself: what did this phase move from the model into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we build it, a fair comparison: one agent with one prompt or skill file, against an ADK workflow."
DO: Read the rows quickly. Say clearly that the single agent file wins on speed for a first version.
SAY the two limits before anyone asks:
1. "The model's own judgement still varies inside a step. What is fixed is the flow around it."
2. "We still test the model's answers live. ADK has adk eval for that."
IF ASKED for proof (same model, same tools, measured on Copilot), in the order of the rows:
- Development speed: phase 1 is 42 lines of code; phase 6 is about 1,300, plus tests.
- Determinism: in our tests the single agent file did follow every step. Nothing forces it to.
- Reliability: on bigger changes it approved 6 of 6 runs without saying that some files were only partly read. Phase 6 named them and refused to approve.
- Control: it sent the demo's AWS key to the model in all 5 runs and printed it in 4. Phase 6 hides it first.
- Observability and debugging: you will see it in adk web's event cards in phases 1 to 5. adk web also has a Traces view with the timing of every call.
- Testing: the whole test suite runs offline, with a fake model, in about a minute.
TIME: be on this slide by about 0:14.
IF BEHIND (already past 0:14 here): show the next slide, table 2 of 2, for one sentence only: "This one is for later: what changes as the system grows." Then go on to "Where ADK makes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BEHIND: say only "This one is for later: what changes as the system grows", and go on.
SAY: "And as the system grows, and when the result really matters."
DO: Read the rows quickly. Stop on the last two:
- Business-critical: "When a build, a merge or money depends on the answer, the workflow is the safer choice."
- Research or creative work: "Here a single agent file is usually the better fit. Use each where it is strong."
IF ASKED:
- Failure recovery: phase 7 tries each model call up to three times and can fall back to a second model. ADK can also resume a run from where it stopped. That feature is experimental, and this demo does not use it.
- Governance: in this demo, the secrets plugin that no agent can skip, and phase 7's own rules. ADK tools can also ask a person to confirm before they run; not used here.
- Scalability: the three lanes run in parallel. Phase 7 can review a whole project with --all. On a project of 4,826 files the code checks read every file; the model lanes read up to a size limit and name the files past it as not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the five places where the two really behave differently. Same model, same tools. The difference is what the code guarantees."
Go row by row:
1. A secret: "The single agent file sent our demo AWS key to the model every time, and printed it in 4 of 5 answers. ADK hides it from the model and reports it as a blocker."
2. A file too long: "The single agent file approved anyway, with no warning, in 6 of 6 runs. ADK names the file and refuses to approve."
3. Pass or fail: "A sentence has to be read and trusted. An exit code can be acted on."
4. A spending limit: "Phase 7 stops at the limit and says so."
5. Testing: "Our whole test suite runs offline, with a fake model, in about a minute."
IF ASKED how we measured: the same model (gpt-4.1 on Copilot) and the same read-only git tools. On the demo: 5 runs each. On two bigger changes: 3 runs each for the single agent file, 2 each for phase 6. On the small demo both found the same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summary: "With ADK, code controls the process, and every run takes the same steps. Every step is visible, and the model's intelligence is used exactly where it is needed."
DO: Read the four cards, one line each.
SAY, to be fair: "A single agent file is still the faster start when a person reads every answer. ADK is worth it when nobody checks in between: a build, a merge, a nightly job."
SAY: "And it is not either-or. An ADK agent can load and use a skill file, a SKILL.md. So a skill you already have can be used inside a workflow."
SAY: "From now on, each phase slide's label shows which of these four it adds." Then go to phase 1.
IF ASKED: ADK's SkillToolset gives an agent tools to list, load and run skills. This demo does not use it.
TIME: phase 1 starts at 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1, hello world." (Say each phase name aloud for the recording.)
SAY: "The smallest agent: a model, a name and an instruction. The folder name is the agent's name."
SAY: "config.py is the only file that names a provider. Copilot by default; REVIEW_PROVIDER=gemini switches to Gemini."
DO:
1. uv run adk run phase_1_hello_world : a chat in the terminal. Say hello, then type exit.
2. Switch to adk web (already running from uv run adk web .). Pick phase_1_hello_world. Before the first message the page shows the phase's README. Type hello. Expect a greeting that says it has no tools yet.
3. Click the answer's event card (#2) in the chat. The side panel shows the event: the Request view names the model, the Usage Metadata view shows the tokens.
4. Switch the provider: in the adk web terminal press Ctrl+C, run REVIEW_PROVIDER=gemini uv run adk web . , reload the browser and say hello again. Click the answer's event: its Request view now names a Gemini model. (Needs GOOGLE_API_KEY in .env. Without it, or if you are behind, skip steps 4 and 5 and only say it.)
5. Press Ctrl+C, run uv run adk web . again and reload the browser, so the rest of the talk runs on Copilot.
IF ASKED: There is no error handling yet, on purpose: until phase 4 a provider error is a traceback. Copilot needs a one-time login (scripts/copilot_login.py), no key. A variable set in the shell wins over .env.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2, preflight. The agent gets its first tool."
SAY: "A tool is a plain Python function. ADK reads its signature and docstring, so we write the docstring for the model."
SAY: "A tool never crashes on the model. It answers status success, or status error with a message, so the model can explain what went wrong."
DO:
1. In adk web, pick phase_2_preflight. Send: review [the path make_demo_repo.py printed], branch feature/payments against main. Expect five lines: repository, branch, against, merge-base, commits ahead.
2. Send: branch feature/nope against main. Expect one polite sentence with the tool's error. Click the tool call's event card in the chat to show the call and its answer.
IF SLOW OR FAILED (about 30 seconds): backup slide b-p2.
IF ASKED: git runs read-only, as a list of arguments, with a 30-second timeout, never through a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3, changed files. The model picks the tool arguments, so we treat them as untrusted."
SAY: "before_tool_callback runs before every tool call. If it returns an answer, the tool never runs."
SAY: "The list of allowed files is kept in state: changed_files writes it, and show_diff is held to it."
DO: In adk web, pick phase_3_changed_files and send three messages:
1. The review message: the preflight lines and four changed files.
2. "show me the diff of src/payments/charge.py": the diff.
3. "show me the diff of /etc/passwd": refused. This is the point of the phase.
SHOW: Click the show_diff event card in the chat: its answer is the guardrail's error, not a diff. The tool's own code never ran.
IF SLOW OR FAILED (about 30 seconds): backup slide b-p3.
IF ASKED: Every text a model reads is capped (4,000 characters for a diff), and the cut is marked.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4, the first review. Two agents in a workflow."
SAY: "LlmAgent on this slide is the same class as Agent in the earlier phases. Agent is its short name."
SAY: "The collector has the tools and puts the diff in state. The reviewer has the schema and returns typed findings. Gathering and judging are different jobs, so they are different agents."
SAY: "From here on, the judging agents run at temperature zero."
DO:
1. In adk web, pick phase_4_first_review and send the review message. Show the tool calls, then the review as JSON. Open the State tab in the side panel: review is a dict in state, next to diff. The event card that wrote it carries a "State: review" badge.
2. Run the same graph as a command: uv run python -m phase_4_first_review.review --head feature/payments
Expect a finding on the shell=True line in charge.py.
SAY: "Exit 0 means it judged, not that the code is clean. Phase 4 never exits 1."
POINT OUT: Count the model calls the collector spends just to gather the diff. Phase 6 removes them.
IF SLOW OR FAILED (about 30 seconds): backup slide b-p4.
IF ASKED: SequentialAgent, ParallelAgent and LoopAgent are the older way to build a flow. ADK 2.9.2 marks them as deprecated; Workflow replaces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"Findings are typed. Evidence is required: every finding must quote the code."
SAY: "Error handling starts here. on_model_error_callback turns a provider error into one sentence, instead of 60 lines of traceback."
SAY: "If nothing was gathered, the reviewer skips itself and says why. Otherwise it would review an error message, report no findings, and look like a clean change."
SAY the rule for the rest of the talk: "Did not look must never read as found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5, parallel lanes. Three reviewers judge the same diff at once: security, tests and complexity."
POINT AT the graph: one edge fans out, JoinNode waits for all three, then a verdict agent writes the summary.
SAY: "Adding a lane is one row in a table, not a new file."
SAY: "max_concurrency=3 limits how many run at the same time."
DO:
1. In adk web, pick phase_5_parallel_lanes and send the same message. Switch the chat from Events to Traces: each lane has its own call, and join_lanes comes once after all three. The Info tab's graph (the tree icon) shows the fan-out.
2. Run uv run python -m phase_5_parallel_lanes.review --head feature/payments, then echo $? : usually 1 on this branch. The model's first line decides it.
IF SLOW OR FAILED (about 30 seconds): backup slide b-p5.
NOTE: Phase 5 may print the AWS key back in its verdict. If it does, leave it on screen: phase 6 stops that.
IF ASKED: The budget in a lane's row is a thinking budget. Only Gemini uses it; on Copilot it does nothing.
TO MOVE ON, ASK: "What is still decided by a model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5 works. But look at who decides what."
Walk the rows:
1. The model gathers the diff, which costs model calls.
2. Nothing checks that a quote is really in the code.
3. Line numbers are guesses: on Copilot, 4 of 5 were wrong.
4. Secrets go to every lane and come back: it printed the AWS key.
5. The verdict is a model writing APPROVED.
6. A failed lane: the verdict agent is only asked to mention it. Phase 6 names it, and the run can never approve.
SAY: "Phase 6 moves each of these into code. The right column is the plan for the next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6, the reviewer. This is what you saw at the start, step by step. Only one of the five steps calls a model."
1. Evidence, by code: git reads every changed file. A file no reviewer can read in full is named, and the run exits 3.
2. A gate, by code: every added line is checked for 13 kinds of credentials. A hit is a blocker with its file and line.
3. Judgement, by models: three lanes. The code is data to judge, never instructions to follow.
4. The verdict, by code: a finding must quote whole lines of the code, or it is dropped. Duplicates are folded, that is merged into one.
5. A report: what was found, dropped, folded, redacted (hidden from the model) and not read, and what it cost.
CAREFUL: This is the command. In adk web the verdict is still the model's.
IF ASKED: In 6 live runs on both providers, 37 of 37 quotes matched the code. The code calls this check grounding.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App wraps the graph with plugins. A plugin runs for every agent, and no agent can skip it."
The three plugins:
1. RedactSecretsPlugin hides secrets before any model sees them. If hiding fails, the model is not called.
2. UsageLedger counts every call and its tokens. That is the spend at the end of the report: a total, then one line per agent.
3. ReportProviderErrors names a failed lane and the reason. The other lanes still finish.
WATCH OUT: Export app, not only root_agent, or the plugins are lost.
IF ASKED: There are two graphs. In chat, an agent gathers the diff with tools. The command gathers it in Python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verdict is a real Python function, not a prompt."
Read the exit codes:
- 0: approved.
- 1: a blocker was found.
- 2: a usage error before any model call, or nothing to review.
- 3: a hole: a failed lane, an unread file, or a finding at the bar whose quote is not in the diff.
SAY: "A hole never approves."
SAY: "The bar is 'blocker' by default. Majors and minors stay in the report for a person. --fail-on changes the bar."
SAY: "It is a function, so we test it like one. The whole test suite runs offline with a fake model, in about a minute."
IF ASKED: "ungrounded" in the code means a finding whose quote is not in the diff.
CAREFUL: Phase 6 writes REQUEST_CHANGES with an underscore.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"Now the fix, and run again." Do this in the terminal.
DO:
1. Don't run the review again. Go back to the terminal tab with the run from the start. Point at the key found by the gate with its file and line, the quoted findings, and exit 1.
2. Run uv run python scripts/make_demo_repo.py --fix. It commits two fixes: no more shell=True, and the keys are read from the environment.
3. Run the review again, then echo $? : exit 0. Untested functions may still show as majors, below the bar: for a person to read, not to fail the build.
END on the spend line: what the run cost.
IF A LANE FAILS LIVE: that is a demo too. The report names it, and the exit code is 3, never 0.
TIME: be on this slide by about 0:56. Phase 7 starts at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"Going further: phase 7. I won't present it today. Here is where to start."
SAY: "The same reviewer, in five groups. Each group imports only the groups to its left, and a test checks that."
DO: Read the six additions quickly, without stopping.
SAY: "Start with the layering test, then --verify, then --max-tokens, then --profile gates-only."
NOTE: Without --base, phase 7 asks at the terminal what to review. Answer 1: the change against main.
IF ASKED: The fallback model is optional: it is used only when REVIEW_FALLBACK_MODEL is set. Phase 7 can also review one folder of a change (--path) or a whole project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Self-study. Go through this quickly, and only if there is a minute left.
SAY: "A rule is one Python class in rules/. Drop the file in, and it checks every line the branch added. A tree rule checks the whole project instead: a file that must exist, a name a module must define, a parent a class must have, a parameter a function must take."
SAY: "A profile is a named list of checks in config.toml. gates-only names the gates and every rule, and no lane: no model, no key needed, fast enough for every push."
SAY: "A rule file that will not load, or a broken config, stops the run before it starts, with exit 2. A rule that crashes while it checks is named in the report, and the run exits 3."
SAY: "Nothing is read from the repository under review. Otherwise a branch could switch off its own secrets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four rules, one sentence each.
SAY: "If you remember one: let models judge, and let code decide everything a build or a person acts on. And when something did not run, say so clearly."
SAY: "ADK has more that we did not cover today: context caching, evaluation sets, MCP tools and agent-to-agent calls. Each is a topic of its own."
CLOSE: "With ADK you get control of the whole process, repeatable runs, every step visible, and intelligence exactly where it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Leave this slide up during the Q&amp;A, so the four setup steps stay on screen. Take questions from the chat first.
SAY: "To try it yourself, you need git 2.41 or later, uv, and GitHub Copilot access. uv installs Python 3.13 for you. Four steps, and every phase is in one dropdown in the browser."
IF ASKED about Gemini: put a GOOGLE_API_KEY in .env and set REVIEW_PROVIDER=gemini. Step 2 is then not needed.
IF ASKED what to try next:
1. A fourth lane: add one row to LANES in phase_6_reviewer/lanes.py, for example a documentation lane: a name, a role sentence and a thinking budget. The graph, the verdict agent's sections and the report all follow from that table. Review the branch again, and the new lane is in the report.
2. A rule of your own: one class in phase_7_hardened/rules/. Add its id to gates-only in config.toml, then run phase 7 with --profile gates-only: no model, no key. Without that step the profile does not run the new rule.
AFTERWARDS:
1. Stop the recording.
2. Post the recording, the repository link, the feedback link and the chapter times in the meeting chat.
CHAPTERS (adjust to the actual recording): 0:00 welcome and concepts, 0:20 phase 1, 0:25 phase 2, 0:30 phase 3, 0:35 phase 4, 0:43 phase 5, 0:50 phase 6, 1:00 phase 7, 1:03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slides show the real output of each demo, from a rehearsal on Copilot.
IF a model call is still running after about 30 seconds: say so, jump here, show the output, then go back. The live call finishes in the meantime.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a rehearsal on Copilot. Use it if the live demo is slow or fails.
In adk web you would also see the event cards and the side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a rehearsal on Copilot. Use it if the live demo is slow or fails.
The feature/nope message was not part of this run. The error in the box is the tool's own message, the fixed text from tools.py. The model repeats it in one sentence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a rehearsal on Copilot, shortened (…). Use it if the live demo is slow or fails.
Only the first message was captured. The refusal in the box is the guardrail's own answer, the fixed text from callbacks.py. The model's sentence around it varies.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a rehearsal on Copilot, shortened (…). Use it if the live demo is slow or fails.
Exit 0: it judged.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a rehearsal on Copilot, shortened (…). Use it if the live demo is slow or fails.
Exit 1: REQUEST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a rehearsal on Copilot, shortened (…). Use it if the live demo is slow or fails.
Each panel starts with its commands. Before: build the demo repository and review it, exit 1. After: commit the two fixes with --fix and review again, exit 0.
Shortened: the Before panel leaves out the complexity section, and file paths are cut to the file name.
AFTER ANY REHEARSAL: rebuild the demo repository (uv run python scripts/make_demo_repo.py), so the live session starts from the unfixed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6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0181D"/>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018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6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0181D"/>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018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CC2A0"/>
                </a:solidFill>
                <a:latin typeface="IBM Plex Mono" pitchFamily="49" charset="0"/>
                <a:ea typeface="IBM Plex Mono" pitchFamily="49" charset="-122"/>
                <a:cs typeface="IBM Plex Mono" pitchFamily="49" charset="-120"/>
              </a:rPr>
              <a:t>KNOWLEDGE TRANSFER · GOOGLE ADK · PYTHON</a:t>
            </a:r>
            <a:endParaRPr lang="en-US" sz="1200" dirty="0"/>
          </a:p>
        </p:txBody>
      </p:sp>
      <p:sp>
        <p:nvSpPr>
          <p:cNvPr id="3" name="Text 1"/>
          <p:cNvSpPr/>
          <p:nvPr>
            <p:ph type="title"/>
          </p:nvPr>
        </p:nvSpPr>
        <p:spPr>
          <a:xfrm>
            <a:off x="812800" y="2049810"/>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E6EDF0"/>
                </a:solidFill>
                <a:latin typeface="Bricolage Grotesque" pitchFamily="34" charset="0"/>
                <a:ea typeface="Bricolage Grotesque" pitchFamily="34" charset="-122"/>
                <a:cs typeface="Bricolage Grotesque" pitchFamily="34" charset="-120"/>
              </a:rPr>
              <a:t>Building a code reviewer with Google ADK</a:t>
            </a:r>
            <a:endParaRPr lang="en-US" sz="6000" dirty="0"/>
          </a:p>
        </p:txBody>
      </p:sp>
      <p:sp>
        <p:nvSpPr>
          <p:cNvPr id="4" name="Text 2"/>
          <p:cNvSpPr/>
          <p:nvPr/>
        </p:nvSpPr>
        <p:spPr>
          <a:xfrm>
            <a:off x="812800" y="3904010"/>
            <a:ext cx="915670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9C7CF"/>
                </a:solidFill>
                <a:latin typeface="IBM Plex Sans" pitchFamily="34" charset="0"/>
                <a:ea typeface="IBM Plex Sans" pitchFamily="34" charset="-122"/>
                <a:cs typeface="IBM Plex Sans" pitchFamily="34" charset="-120"/>
              </a:rPr>
              <a:t>Six phases, one layer at a time: from a bare model to a reviewer whose verdict is decided by code.</a:t>
            </a:r>
            <a:endParaRPr lang="en-US" sz="2200" dirty="0"/>
          </a:p>
        </p:txBody>
      </p:sp>
      <p:sp>
        <p:nvSpPr>
          <p:cNvPr id="5" name="Text 3"/>
          <p:cNvSpPr/>
          <p:nvPr/>
        </p:nvSpPr>
        <p:spPr>
          <a:xfrm>
            <a:off x="812800" y="5707410"/>
            <a:ext cx="447180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DF0"/>
                </a:solidFill>
                <a:latin typeface="IBM Plex Sans" pitchFamily="34" charset="0"/>
                <a:ea typeface="IBM Plex Sans" pitchFamily="34" charset="-122"/>
                <a:cs typeface="IBM Plex Sans" pitchFamily="34" charset="-120"/>
              </a:rPr>
              <a:t>Emre Camdere · Monday 5 October 2026</a:t>
            </a:r>
            <a:endParaRPr lang="en-US" sz="1600" dirty="0"/>
          </a:p>
        </p:txBody>
      </p:sp>
      <p:sp>
        <p:nvSpPr>
          <p:cNvPr id="6" name="Text 4"/>
          <p:cNvSpPr/>
          <p:nvPr/>
        </p:nvSpPr>
        <p:spPr>
          <a:xfrm>
            <a:off x="9367441" y="5660430"/>
            <a:ext cx="2005409" cy="378420"/>
          </a:xfrm>
          <a:prstGeom prst="roundRect">
            <a:avLst>
              <a:gd name="adj" fmla="val 50000"/>
            </a:avLst>
          </a:prstGeom>
          <a:noFill/>
          <a:ln w="12700">
            <a:solidFill>
              <a:srgbClr val="5E6D78"/>
            </a:solidFill>
            <a:prstDash val="solid"/>
          </a:ln>
        </p:spPr>
        <p:txBody>
          <a:bodyPr wrap="none" lIns="0" tIns="0" rIns="0" bIns="0" rtlCol="0" anchor="ctr">
            <a:normAutofit/>
          </a:bodyPr>
          <a:lstStyle/>
          <a:p>
            <a:pPr algn="ctr" indent="0" marL="0">
              <a:lnSpc>
                <a:spcPts val="1680"/>
              </a:lnSpc>
              <a:buNone/>
            </a:pPr>
            <a:r>
              <a:rPr lang="en-US" sz="1200" dirty="0">
                <a:solidFill>
                  <a:srgbClr val="E6EDF0"/>
                </a:solidFill>
                <a:latin typeface="IBM Plex Sans" pitchFamily="34" charset="0"/>
                <a:ea typeface="IBM Plex Sans" pitchFamily="34" charset="-122"/>
                <a:cs typeface="IBM Plex Sans" pitchFamily="34" charset="-120"/>
              </a:rPr>
              <a:t>This session is recorded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THE PLAN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The next hour</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9450"/>
          <a:ext cx="6337300" cy="3474095"/>
        </p:xfrm>
        <a:graphic>
          <a:graphicData uri="http://schemas.openxmlformats.org/drawingml/2006/table">
            <a:tbl>
              <a:tblPr/>
              <a:tblGrid>
                <a:gridCol w="887222"/>
                <a:gridCol w="4309364"/>
                <a:gridCol w="1140714"/>
              </a:tblGrid>
              <a:tr h="386011">
                <a:tc>
                  <a:txBody>
                    <a:bodyPr/>
                    <a:lstStyle/>
                    <a:p>
                      <a:pPr indent="0" marL="0">
                        <a:lnSpc>
                          <a:spcPts val="1960"/>
                        </a:lnSpc>
                        <a:buNone/>
                      </a:pPr>
                      <a:r>
                        <a:rPr lang="en-US" sz="1400" dirty="0">
                          <a:solidFill>
                            <a:srgbClr val="1D6B58"/>
                          </a:solidFill>
                          <a:latin typeface="IBM Plex Sans" pitchFamily="34" charset="0"/>
                          <a:ea typeface="IBM Plex Sans" pitchFamily="34" charset="-122"/>
                          <a:cs typeface="IBM Plex Sans" pitchFamily="34" charset="-120"/>
                        </a:rPr>
                        <a:t>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Welcome and ADK core concepts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20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IBM Plex Sans" pitchFamily="34" charset="0"/>
                          <a:ea typeface="IBM Plex Sans" pitchFamily="34" charset="-122"/>
                          <a:cs typeface="IBM Plex Sans" pitchFamily="34" charset="-120"/>
                        </a:rPr>
                        <a:t>0:20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Phase 1 · Hello world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5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IBM Plex Sans" pitchFamily="34" charset="0"/>
                          <a:ea typeface="IBM Plex Sans" pitchFamily="34" charset="-122"/>
                          <a:cs typeface="IBM Plex Sans" pitchFamily="34" charset="-120"/>
                        </a:rPr>
                        <a:t>0:25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Phase 2 · Preflight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5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IBM Plex Sans" pitchFamily="34" charset="0"/>
                          <a:ea typeface="IBM Plex Sans" pitchFamily="34" charset="-122"/>
                          <a:cs typeface="IBM Plex Sans" pitchFamily="34" charset="-120"/>
                        </a:rPr>
                        <a:t>0:30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Phase 3 · Changed files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5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IBM Plex Sans" pitchFamily="34" charset="0"/>
                          <a:ea typeface="IBM Plex Sans" pitchFamily="34" charset="-122"/>
                          <a:cs typeface="IBM Plex Sans" pitchFamily="34" charset="-120"/>
                        </a:rPr>
                        <a:t>0:35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Phase 4 · First review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8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IBM Plex Sans" pitchFamily="34" charset="0"/>
                          <a:ea typeface="IBM Plex Sans" pitchFamily="34" charset="-122"/>
                          <a:cs typeface="IBM Plex Sans" pitchFamily="34" charset="-120"/>
                        </a:rPr>
                        <a:t>0:43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Phase 5 · Parallel lanes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7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IBM Plex Sans" pitchFamily="34" charset="0"/>
                          <a:ea typeface="IBM Plex Sans" pitchFamily="34" charset="-122"/>
                          <a:cs typeface="IBM Plex Sans" pitchFamily="34" charset="-120"/>
                        </a:rPr>
                        <a:t>0:50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Phase 6 · The reviewer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10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IBM Plex Sans" pitchFamily="34" charset="0"/>
                          <a:ea typeface="IBM Plex Sans" pitchFamily="34" charset="-122"/>
                          <a:cs typeface="IBM Plex Sans" pitchFamily="34" charset="-120"/>
                        </a:rPr>
                        <a:t>1:00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Going further: phase 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3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IBM Plex Sans" pitchFamily="34" charset="0"/>
                          <a:ea typeface="IBM Plex Sans" pitchFamily="34" charset="-122"/>
                          <a:cs typeface="IBM Plex Sans" pitchFamily="34" charset="-120"/>
                        </a:rPr>
                        <a:t>1:03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Q&amp;A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bl>
          </a:graphicData>
        </a:graphic>
      </p:graphicFrame>
      <p:sp>
        <p:nvSpPr>
          <p:cNvPr id="5" name="Text 2"/>
          <p:cNvSpPr/>
          <p:nvPr/>
        </p:nvSpPr>
        <p:spPr>
          <a:xfrm>
            <a:off x="7569200" y="1936750"/>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After this session you can</a:t>
            </a:r>
            <a:endParaRPr lang="en-US" sz="1600" dirty="0"/>
          </a:p>
        </p:txBody>
      </p:sp>
      <p:sp>
        <p:nvSpPr>
          <p:cNvPr id="6" name="Text 3"/>
          <p:cNvSpPr/>
          <p:nvPr/>
        </p:nvSpPr>
        <p:spPr>
          <a:xfrm>
            <a:off x="7569200" y="2317750"/>
            <a:ext cx="3924300" cy="1358900"/>
          </a:xfrm>
          <a:prstGeom prst="rect">
            <a:avLst/>
          </a:prstGeom>
          <a:noFill/>
          <a:ln/>
        </p:spPr>
        <p:txBody>
          <a:bodyPr wrap="square" lIns="0" tIns="0" rIns="0" bIns="0" rtlCol="0" anchor="t">
            <a:normAutofit/>
          </a:bodyPr>
          <a:lstStyle/>
          <a:p>
            <a:pPr algn="l" marL="228600" indent="-182880">
              <a:lnSpc>
                <a:spcPts val="2100"/>
              </a:lnSpc>
              <a:buSzPct val="100000"/>
              <a:buChar char="•"/>
            </a:pPr>
            <a:r>
              <a:rPr lang="en-US" sz="1500" dirty="0">
                <a:solidFill>
                  <a:srgbClr val="3E4C57"/>
                </a:solidFill>
                <a:latin typeface="IBM Plex Sans" pitchFamily="34" charset="0"/>
                <a:ea typeface="IBM Plex Sans" pitchFamily="34" charset="-122"/>
                <a:cs typeface="IBM Plex Sans" pitchFamily="34" charset="-120"/>
              </a:rPr>
              <a:t>build an agent with tools and a guardrail</a:t>
            </a:r>
            <a:endParaRPr lang="en-US" sz="1500" dirty="0"/>
          </a:p>
          <a:p>
            <a:pPr algn="l" marL="228600" indent="-182880">
              <a:lnSpc>
                <a:spcPts val="2100"/>
              </a:lnSpc>
              <a:buSzPct val="100000"/>
              <a:buChar char="•"/>
            </a:pPr>
            <a:r>
              <a:rPr lang="en-US" sz="1500" dirty="0">
                <a:solidFill>
                  <a:srgbClr val="3E4C57"/>
                </a:solidFill>
                <a:latin typeface="IBM Plex Sans" pitchFamily="34" charset="0"/>
                <a:ea typeface="IBM Plex Sans" pitchFamily="34" charset="-122"/>
                <a:cs typeface="IBM Plex Sans" pitchFamily="34" charset="-120"/>
              </a:rPr>
              <a:t>wire agents into a workflow with typed answers</a:t>
            </a:r>
            <a:endParaRPr lang="en-US" sz="1500" dirty="0"/>
          </a:p>
          <a:p>
            <a:pPr algn="l" marL="228600" indent="-182880">
              <a:lnSpc>
                <a:spcPts val="2100"/>
              </a:lnSpc>
              <a:buSzPct val="100000"/>
              <a:buChar char="•"/>
            </a:pPr>
            <a:r>
              <a:rPr lang="en-US" sz="1500" dirty="0">
                <a:solidFill>
                  <a:srgbClr val="3E4C57"/>
                </a:solidFill>
                <a:latin typeface="IBM Plex Sans" pitchFamily="34" charset="0"/>
                <a:ea typeface="IBM Plex Sans" pitchFamily="34" charset="-122"/>
                <a:cs typeface="IBM Plex Sans" pitchFamily="34" charset="-120"/>
              </a:rPr>
              <a:t>move decisions out of the model and into code</a:t>
            </a:r>
            <a:endParaRPr lang="en-US" sz="1500" dirty="0"/>
          </a:p>
        </p:txBody>
      </p:sp>
      <p:sp>
        <p:nvSpPr>
          <p:cNvPr id="7" name="Text 4"/>
          <p:cNvSpPr/>
          <p:nvPr/>
        </p:nvSpPr>
        <p:spPr>
          <a:xfrm>
            <a:off x="7569200" y="3778250"/>
            <a:ext cx="392430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6D78"/>
                </a:solidFill>
                <a:latin typeface="IBM Plex Sans" pitchFamily="34" charset="0"/>
                <a:ea typeface="IBM Plex Sans" pitchFamily="34" charset="-122"/>
                <a:cs typeface="IBM Plex Sans" pitchFamily="34" charset="-120"/>
              </a:rPr>
              <a:t>Phases 1 to 6 live. Phase 7 is in the repository for self-study.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8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CC2A0"/>
                </a:solidFill>
                <a:latin typeface="IBM Plex Mono" pitchFamily="49" charset="0"/>
                <a:ea typeface="IBM Plex Mono" pitchFamily="49" charset="-122"/>
                <a:cs typeface="IBM Plex Mono" pitchFamily="49" charset="-120"/>
              </a:rPr>
              <a:t>WHERE WE'RE GOING · LIVE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6EDF0"/>
                </a:solidFill>
                <a:latin typeface="Bricolage Grotesque" pitchFamily="34" charset="0"/>
                <a:ea typeface="Bricolage Grotesque" pitchFamily="34" charset="-122"/>
                <a:cs typeface="Bricolage Grotesque" pitchFamily="34" charset="-120"/>
              </a:rPr>
              <a:t>One command, one verdict a build can trust</a:t>
            </a:r>
            <a:endParaRPr lang="en-US" sz="3600" dirty="0"/>
          </a:p>
        </p:txBody>
      </p:sp>
      <p:sp>
        <p:nvSpPr>
          <p:cNvPr id="4" name="Text 2"/>
          <p:cNvSpPr/>
          <p:nvPr/>
        </p:nvSpPr>
        <p:spPr>
          <a:xfrm>
            <a:off x="812800" y="1935411"/>
            <a:ext cx="10566400" cy="692150"/>
          </a:xfrm>
          <a:prstGeom prst="roundRect">
            <a:avLst>
              <a:gd name="adj" fmla="val 14679"/>
            </a:avLst>
          </a:prstGeom>
          <a:solidFill>
            <a:srgbClr val="1A252C"/>
          </a:solidFill>
          <a:ln/>
        </p:spPr>
        <p:txBody>
          <a:bodyPr wrap="none" lIns="224242" tIns="173442" rIns="0" bIns="148042" rtlCol="0" anchor="t">
            <a:normAutofit/>
          </a:bodyPr>
          <a:lstStyle/>
          <a:p>
            <a:pPr algn="l" indent="0" marL="0">
              <a:lnSpc>
                <a:spcPts val="2250"/>
              </a:lnSpc>
              <a:buNone/>
            </a:pPr>
            <a:r>
              <a:rPr lang="en-US" sz="1500" dirty="0">
                <a:solidFill>
                  <a:srgbClr val="5CC2A0"/>
                </a:solidFill>
                <a:latin typeface="IBM Plex Mono" pitchFamily="49" charset="0"/>
                <a:ea typeface="IBM Plex Mono" pitchFamily="49" charset="-122"/>
                <a:cs typeface="IBM Plex Mono" pitchFamily="49" charset="-120"/>
              </a:rPr>
              <a:t>$</a:t>
            </a:r>
            <a:r>
              <a:rPr lang="en-US" sz="1500" dirty="0">
                <a:solidFill>
                  <a:srgbClr val="DCE6EA"/>
                </a:solidFill>
                <a:latin typeface="IBM Plex Mono" pitchFamily="49" charset="0"/>
                <a:ea typeface="IBM Plex Mono" pitchFamily="49" charset="-122"/>
                <a:cs typeface="IBM Plex Mono" pitchFamily="49" charset="-120"/>
              </a:rPr>
              <a:t> uv run python -m phase_6_reviewer.review --head feature/payments</a:t>
            </a:r>
            <a:endParaRPr lang="en-US" sz="1500" dirty="0"/>
          </a:p>
        </p:txBody>
      </p:sp>
      <p:sp>
        <p:nvSpPr>
          <p:cNvPr id="5" name="Shape 3"/>
          <p:cNvSpPr/>
          <p:nvPr/>
        </p:nvSpPr>
        <p:spPr>
          <a:xfrm>
            <a:off x="812800" y="2932361"/>
            <a:ext cx="3386634" cy="1534071"/>
          </a:xfrm>
          <a:prstGeom prst="roundRect">
            <a:avLst>
              <a:gd name="adj" fmla="val 6623"/>
            </a:avLst>
          </a:prstGeom>
          <a:solidFill>
            <a:srgbClr val="1A252C"/>
          </a:solidFill>
          <a:ln/>
        </p:spPr>
      </p:sp>
      <p:sp>
        <p:nvSpPr>
          <p:cNvPr id="6" name="Text 4"/>
          <p:cNvSpPr/>
          <p:nvPr/>
        </p:nvSpPr>
        <p:spPr>
          <a:xfrm>
            <a:off x="1041400" y="3160961"/>
            <a:ext cx="301731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IBM Plex Sans" pitchFamily="34" charset="0"/>
                <a:ea typeface="IBM Plex Sans" pitchFamily="34" charset="-122"/>
                <a:cs typeface="IBM Plex Sans" pitchFamily="34" charset="-120"/>
              </a:rPr>
              <a:t>The key, found by code</a:t>
            </a:r>
            <a:endParaRPr lang="en-US" sz="1600" dirty="0"/>
          </a:p>
        </p:txBody>
      </p:sp>
      <p:sp>
        <p:nvSpPr>
          <p:cNvPr id="7" name="Text 5"/>
          <p:cNvSpPr/>
          <p:nvPr/>
        </p:nvSpPr>
        <p:spPr>
          <a:xfrm>
            <a:off x="1041400" y="3491161"/>
            <a:ext cx="301731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CF"/>
                </a:solidFill>
                <a:latin typeface="IBM Plex Sans" pitchFamily="34" charset="0"/>
                <a:ea typeface="IBM Plex Sans" pitchFamily="34" charset="-122"/>
                <a:cs typeface="IBM Plex Sans" pitchFamily="34" charset="-120"/>
              </a:rPr>
              <a:t>Two blockers from the secrets gate, each with its exact file and line.</a:t>
            </a:r>
            <a:endParaRPr lang="en-US" sz="1400" dirty="0"/>
          </a:p>
        </p:txBody>
      </p:sp>
      <p:sp>
        <p:nvSpPr>
          <p:cNvPr id="8" name="Shape 6"/>
          <p:cNvSpPr/>
          <p:nvPr/>
        </p:nvSpPr>
        <p:spPr>
          <a:xfrm>
            <a:off x="4402634" y="2932361"/>
            <a:ext cx="3386683" cy="1534071"/>
          </a:xfrm>
          <a:prstGeom prst="roundRect">
            <a:avLst>
              <a:gd name="adj" fmla="val 6623"/>
            </a:avLst>
          </a:prstGeom>
          <a:solidFill>
            <a:srgbClr val="1A252C"/>
          </a:solidFill>
          <a:ln/>
        </p:spPr>
      </p:sp>
      <p:sp>
        <p:nvSpPr>
          <p:cNvPr id="9" name="Text 7"/>
          <p:cNvSpPr/>
          <p:nvPr/>
        </p:nvSpPr>
        <p:spPr>
          <a:xfrm>
            <a:off x="4631234" y="3160961"/>
            <a:ext cx="30173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IBM Plex Sans" pitchFamily="34" charset="0"/>
                <a:ea typeface="IBM Plex Sans" pitchFamily="34" charset="-122"/>
                <a:cs typeface="IBM Plex Sans" pitchFamily="34" charset="-120"/>
              </a:rPr>
              <a:t>Findings that quote the diff</a:t>
            </a:r>
            <a:endParaRPr lang="en-US" sz="1600" dirty="0"/>
          </a:p>
        </p:txBody>
      </p:sp>
      <p:sp>
        <p:nvSpPr>
          <p:cNvPr id="10" name="Text 8"/>
          <p:cNvSpPr/>
          <p:nvPr/>
        </p:nvSpPr>
        <p:spPr>
          <a:xfrm>
            <a:off x="4631234" y="3491161"/>
            <a:ext cx="301736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CF"/>
                </a:solidFill>
                <a:latin typeface="IBM Plex Sans" pitchFamily="34" charset="0"/>
                <a:ea typeface="IBM Plex Sans" pitchFamily="34" charset="-122"/>
                <a:cs typeface="IBM Plex Sans" pitchFamily="34" charset="-120"/>
              </a:rPr>
              <a:t>Three model lanes judge; a finding the diff does not bear out is dropped.</a:t>
            </a:r>
            <a:endParaRPr lang="en-US" sz="1400" dirty="0"/>
          </a:p>
        </p:txBody>
      </p:sp>
      <p:sp>
        <p:nvSpPr>
          <p:cNvPr id="11" name="Shape 9"/>
          <p:cNvSpPr/>
          <p:nvPr/>
        </p:nvSpPr>
        <p:spPr>
          <a:xfrm>
            <a:off x="7992517" y="2932361"/>
            <a:ext cx="3386683" cy="1534071"/>
          </a:xfrm>
          <a:prstGeom prst="roundRect">
            <a:avLst>
              <a:gd name="adj" fmla="val 6623"/>
            </a:avLst>
          </a:prstGeom>
          <a:solidFill>
            <a:srgbClr val="1A252C"/>
          </a:solidFill>
          <a:ln/>
        </p:spPr>
      </p:sp>
      <p:sp>
        <p:nvSpPr>
          <p:cNvPr id="12" name="Text 10"/>
          <p:cNvSpPr/>
          <p:nvPr/>
        </p:nvSpPr>
        <p:spPr>
          <a:xfrm>
            <a:off x="8221117" y="3160961"/>
            <a:ext cx="30173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IBM Plex Sans" pitchFamily="34" charset="0"/>
                <a:ea typeface="IBM Plex Sans" pitchFamily="34" charset="-122"/>
                <a:cs typeface="IBM Plex Sans" pitchFamily="34" charset="-120"/>
              </a:rPr>
              <a:t>An exit code</a:t>
            </a:r>
            <a:endParaRPr lang="en-US" sz="1600" dirty="0"/>
          </a:p>
        </p:txBody>
      </p:sp>
      <p:sp>
        <p:nvSpPr>
          <p:cNvPr id="13" name="Text 11"/>
          <p:cNvSpPr/>
          <p:nvPr/>
        </p:nvSpPr>
        <p:spPr>
          <a:xfrm>
            <a:off x="8221117" y="3491161"/>
            <a:ext cx="30173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CF"/>
                </a:solidFill>
                <a:latin typeface="IBM Plex Sans" pitchFamily="34" charset="0"/>
                <a:ea typeface="IBM Plex Sans" pitchFamily="34" charset="-122"/>
                <a:cs typeface="IBM Plex Sans" pitchFamily="34" charset="-120"/>
              </a:rPr>
              <a:t>1 here: a blocker. The report ends with what the run cost.</a:t>
            </a:r>
            <a:endParaRPr lang="en-US" sz="1400" dirty="0"/>
          </a:p>
        </p:txBody>
      </p:sp>
      <p:sp>
        <p:nvSpPr>
          <p:cNvPr id="14" name="Text 12"/>
          <p:cNvSpPr/>
          <p:nvPr/>
        </p:nvSpPr>
        <p:spPr>
          <a:xfrm>
            <a:off x="812800" y="4771231"/>
            <a:ext cx="1088339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6EDF0"/>
                </a:solidFill>
                <a:latin typeface="IBM Plex Sans" pitchFamily="34" charset="0"/>
                <a:ea typeface="IBM Plex Sans" pitchFamily="34" charset="-122"/>
                <a:cs typeface="IBM Plex Sans" pitchFamily="34" charset="-120"/>
              </a:rPr>
              <a:t>Over the next hour we build this, one phase at a time.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WHAT WE BUILD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A reviewer for one git branch</a:t>
            </a:r>
            <a:endParaRPr lang="en-US" sz="3600" dirty="0"/>
          </a:p>
        </p:txBody>
      </p:sp>
      <p:sp>
        <p:nvSpPr>
          <p:cNvPr id="4" name="Text 2"/>
          <p:cNvSpPr/>
          <p:nvPr/>
        </p:nvSpPr>
        <p:spPr>
          <a:xfrm>
            <a:off x="812800" y="1935411"/>
            <a:ext cx="575564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IN</a:t>
            </a:r>
            <a:endParaRPr lang="en-US" sz="1200" dirty="0"/>
          </a:p>
        </p:txBody>
      </p:sp>
      <p:sp>
        <p:nvSpPr>
          <p:cNvPr id="5" name="Text 3"/>
          <p:cNvSpPr/>
          <p:nvPr/>
        </p:nvSpPr>
        <p:spPr>
          <a:xfrm>
            <a:off x="812800" y="2199531"/>
            <a:ext cx="5755640"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IBM Plex Sans" pitchFamily="34" charset="0"/>
                <a:ea typeface="IBM Plex Sans" pitchFamily="34" charset="-122"/>
                <a:cs typeface="IBM Plex Sans" pitchFamily="34" charset="-120"/>
              </a:rPr>
              <a:t>A repository, a base branch and the branch under review.</a:t>
            </a:r>
            <a:endParaRPr lang="en-US" sz="1600" dirty="0"/>
          </a:p>
        </p:txBody>
      </p:sp>
      <p:sp>
        <p:nvSpPr>
          <p:cNvPr id="6" name="Text 4"/>
          <p:cNvSpPr/>
          <p:nvPr/>
        </p:nvSpPr>
        <p:spPr>
          <a:xfrm>
            <a:off x="812800" y="2727821"/>
            <a:ext cx="575564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OUT</a:t>
            </a:r>
            <a:endParaRPr lang="en-US" sz="1200" dirty="0"/>
          </a:p>
        </p:txBody>
      </p:sp>
      <p:sp>
        <p:nvSpPr>
          <p:cNvPr id="7" name="Text 5"/>
          <p:cNvSpPr/>
          <p:nvPr/>
        </p:nvSpPr>
        <p:spPr>
          <a:xfrm>
            <a:off x="812800" y="2991941"/>
            <a:ext cx="5994400"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IBM Plex Sans" pitchFamily="34" charset="0"/>
                <a:ea typeface="IBM Plex Sans" pitchFamily="34" charset="-122"/>
                <a:cs typeface="IBM Plex Sans" pitchFamily="34" charset="-120"/>
              </a:rPr>
              <a:t>Typed findings, a verdict, and an exit code a build can act on.</a:t>
            </a:r>
            <a:endParaRPr lang="en-US" sz="1600" dirty="0"/>
          </a:p>
        </p:txBody>
      </p:sp>
      <p:sp>
        <p:nvSpPr>
          <p:cNvPr id="8" name="Text 6"/>
          <p:cNvSpPr/>
          <p:nvPr/>
        </p:nvSpPr>
        <p:spPr>
          <a:xfrm>
            <a:off x="812800" y="3520232"/>
            <a:ext cx="575564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RUNS</a:t>
            </a:r>
            <a:endParaRPr lang="en-US" sz="1200" dirty="0"/>
          </a:p>
        </p:txBody>
      </p:sp>
      <p:sp>
        <p:nvSpPr>
          <p:cNvPr id="9" name="Text 7"/>
          <p:cNvSpPr/>
          <p:nvPr/>
        </p:nvSpPr>
        <p:spPr>
          <a:xfrm>
            <a:off x="812800" y="3784352"/>
            <a:ext cx="575564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IBM Plex Sans" pitchFamily="34" charset="0"/>
                <a:ea typeface="IBM Plex Sans" pitchFamily="34" charset="-122"/>
                <a:cs typeface="IBM Plex Sans" pitchFamily="34" charset="-120"/>
              </a:rPr>
              <a:t>In adk web from a chat message, or from the shell as one command.</a:t>
            </a:r>
            <a:endParaRPr lang="en-US" sz="1600" dirty="0"/>
          </a:p>
        </p:txBody>
      </p:sp>
      <p:sp>
        <p:nvSpPr>
          <p:cNvPr id="10" name="Shape 8"/>
          <p:cNvSpPr/>
          <p:nvPr/>
        </p:nvSpPr>
        <p:spPr>
          <a:xfrm>
            <a:off x="6807200" y="1935411"/>
            <a:ext cx="4572000" cy="4109789"/>
          </a:xfrm>
          <a:prstGeom prst="roundRect">
            <a:avLst>
              <a:gd name="adj" fmla="val 2472"/>
            </a:avLst>
          </a:prstGeom>
          <a:solidFill>
            <a:srgbClr val="10181D"/>
          </a:solidFill>
          <a:ln/>
        </p:spPr>
      </p:sp>
      <p:sp>
        <p:nvSpPr>
          <p:cNvPr id="11" name="Text 9"/>
          <p:cNvSpPr/>
          <p:nvPr/>
        </p:nvSpPr>
        <p:spPr>
          <a:xfrm>
            <a:off x="7112000" y="2240211"/>
            <a:ext cx="40812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C2A0"/>
                </a:solidFill>
                <a:latin typeface="IBM Plex Mono" pitchFamily="49" charset="0"/>
                <a:ea typeface="IBM Plex Mono" pitchFamily="49" charset="-122"/>
                <a:cs typeface="IBM Plex Mono" pitchFamily="49" charset="-120"/>
              </a:rPr>
              <a:t>feature/payments · 4 planted defects</a:t>
            </a:r>
            <a:endParaRPr lang="en-US" sz="1200" dirty="0"/>
          </a:p>
        </p:txBody>
      </p:sp>
      <p:sp>
        <p:nvSpPr>
          <p:cNvPr id="12" name="Text 10"/>
          <p:cNvSpPr/>
          <p:nvPr/>
        </p:nvSpPr>
        <p:spPr>
          <a:xfrm>
            <a:off x="7112000" y="2580531"/>
            <a:ext cx="4081272" cy="1314252"/>
          </a:xfrm>
          <a:prstGeom prst="rect">
            <a:avLst/>
          </a:prstGeom>
          <a:noFill/>
          <a:ln/>
        </p:spPr>
        <p:txBody>
          <a:bodyPr wrap="square" lIns="0" tIns="0" rIns="0" bIns="0" rtlCol="0" anchor="t">
            <a:normAutofit/>
          </a:bodyPr>
          <a:lstStyle/>
          <a:p>
            <a:pPr algn="l" marL="213360" indent="-175768">
              <a:lnSpc>
                <a:spcPts val="2030"/>
              </a:lnSpc>
              <a:buSzPct val="100000"/>
              <a:buChar char="•"/>
            </a:pPr>
            <a:r>
              <a:rPr lang="en-US" sz="1400" dirty="0">
                <a:solidFill>
                  <a:srgbClr val="DCE6EA"/>
                </a:solidFill>
                <a:latin typeface="IBM Plex Sans" pitchFamily="34" charset="0"/>
                <a:ea typeface="IBM Plex Sans" pitchFamily="34" charset="-122"/>
                <a:cs typeface="IBM Plex Sans" pitchFamily="34" charset="-120"/>
              </a:rPr>
              <a:t>subprocess.run(..., shell=True)</a:t>
            </a:r>
            <a:endParaRPr lang="en-US" sz="1400" dirty="0"/>
          </a:p>
          <a:p>
            <a:pPr algn="l" marL="213360" indent="-175768">
              <a:lnSpc>
                <a:spcPts val="2030"/>
              </a:lnSpc>
              <a:buSzPct val="100000"/>
              <a:buChar char="•"/>
            </a:pPr>
            <a:r>
              <a:rPr lang="en-US" sz="1400" dirty="0">
                <a:solidFill>
                  <a:srgbClr val="DCE6EA"/>
                </a:solidFill>
                <a:latin typeface="IBM Plex Sans" pitchFamily="34" charset="0"/>
                <a:ea typeface="IBM Plex Sans" pitchFamily="34" charset="-122"/>
                <a:cs typeface="IBM Plex Sans" pitchFamily="34" charset="-120"/>
              </a:rPr>
              <a:t>a hard-coded AWS key pair (Amazon's documented example values)</a:t>
            </a:r>
            <a:endParaRPr lang="en-US" sz="1400" dirty="0"/>
          </a:p>
          <a:p>
            <a:pPr algn="l" marL="213360" indent="-175768">
              <a:lnSpc>
                <a:spcPts val="2030"/>
              </a:lnSpc>
              <a:buSzPct val="100000"/>
              <a:buChar char="•"/>
            </a:pPr>
            <a:r>
              <a:rPr lang="en-US" sz="1400" dirty="0">
                <a:solidFill>
                  <a:srgbClr val="DCE6EA"/>
                </a:solidFill>
                <a:latin typeface="IBM Plex Sans" pitchFamily="34" charset="0"/>
                <a:ea typeface="IBM Plex Sans" pitchFamily="34" charset="-122"/>
                <a:cs typeface="IBM Plex Sans" pitchFamily="34" charset="-120"/>
              </a:rPr>
              <a:t>a function nothing tests</a:t>
            </a:r>
            <a:endParaRPr lang="en-US" sz="1400" dirty="0"/>
          </a:p>
          <a:p>
            <a:pPr algn="l" marL="213360" indent="-175768">
              <a:lnSpc>
                <a:spcPts val="2030"/>
              </a:lnSpc>
              <a:buSzPct val="100000"/>
              <a:buChar char="•"/>
            </a:pPr>
            <a:r>
              <a:rPr lang="en-US" sz="1400" dirty="0">
                <a:solidFill>
                  <a:srgbClr val="DCE6EA"/>
                </a:solidFill>
                <a:latin typeface="IBM Plex Sans" pitchFamily="34" charset="0"/>
                <a:ea typeface="IBM Plex Sans" pitchFamily="34" charset="-122"/>
                <a:cs typeface="IBM Plex Sans" pitchFamily="34" charset="-120"/>
              </a:rPr>
              <a:t>a copy-pasted block</a:t>
            </a:r>
            <a:endParaRPr lang="en-US" sz="1400" dirty="0"/>
          </a:p>
        </p:txBody>
      </p:sp>
      <p:sp>
        <p:nvSpPr>
          <p:cNvPr id="13" name="Text 11"/>
          <p:cNvSpPr/>
          <p:nvPr/>
        </p:nvSpPr>
        <p:spPr>
          <a:xfrm>
            <a:off x="7112000" y="3996382"/>
            <a:ext cx="40812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BA4"/>
                </a:solidFill>
                <a:latin typeface="IBM Plex Sans" pitchFamily="34" charset="0"/>
                <a:ea typeface="IBM Plex Sans" pitchFamily="34" charset="-122"/>
                <a:cs typeface="IBM Plex Sans" pitchFamily="34" charset="-120"/>
              </a:rPr>
              <a:t>Built by scripts/make_demo_repo.py: predictable findings, no network.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CORE CONCEPTS · GOOGLE-ADK 2.9.2</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ADK: agents as ordinary Python</a:t>
            </a:r>
            <a:endParaRPr lang="en-US" sz="3600" dirty="0"/>
          </a:p>
        </p:txBody>
      </p:sp>
      <p:sp>
        <p:nvSpPr>
          <p:cNvPr id="4" name="Text 2"/>
          <p:cNvSpPr/>
          <p:nvPr/>
        </p:nvSpPr>
        <p:spPr>
          <a:xfrm>
            <a:off x="812800" y="1935411"/>
            <a:ext cx="98107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0181D"/>
                </a:solidFill>
                <a:latin typeface="IBM Plex Sans" pitchFamily="34" charset="0"/>
                <a:ea typeface="IBM Plex Sans" pitchFamily="34" charset="-122"/>
                <a:cs typeface="IBM Plex Sans" pitchFamily="34" charset="-120"/>
              </a:rPr>
              <a:t>Google's open-source Agent Development Kit. You write agents, tools and the graph that connects them in Python, and ADK runs them.</a:t>
            </a:r>
            <a:endParaRPr lang="en-US" sz="2200" dirty="0"/>
          </a:p>
        </p:txBody>
      </p:sp>
      <p:sp>
        <p:nvSpPr>
          <p:cNvPr id="5" name="Shape 3"/>
          <p:cNvSpPr/>
          <p:nvPr/>
        </p:nvSpPr>
        <p:spPr>
          <a:xfrm>
            <a:off x="812800" y="2966591"/>
            <a:ext cx="3386634" cy="1572171"/>
          </a:xfrm>
          <a:prstGeom prst="roundRect">
            <a:avLst>
              <a:gd name="adj" fmla="val 6462"/>
            </a:avLst>
          </a:prstGeom>
          <a:solidFill>
            <a:srgbClr val="FBFCFB"/>
          </a:solidFill>
          <a:ln/>
        </p:spPr>
      </p:sp>
      <p:sp>
        <p:nvSpPr>
          <p:cNvPr id="6" name="Shape 4"/>
          <p:cNvSpPr/>
          <p:nvPr/>
        </p:nvSpPr>
        <p:spPr>
          <a:xfrm>
            <a:off x="812800" y="2966591"/>
            <a:ext cx="3386634" cy="1572171"/>
          </a:xfrm>
          <a:custGeom>
            <a:avLst/>
            <a:gdLst/>
            <a:ahLst/>
            <a:cxnLst/>
            <a:rect l="l" t="t" r="r" b="b"/>
            <a:pathLst>
              <a:path w="3386634" h="1572171">
                <a:moveTo>
                  <a:pt x="0" y="101600"/>
                </a:moveTo>
                <a:lnTo>
                  <a:pt x="0" y="101600"/>
                </a:lnTo>
                <a:arcTo hR="101600" wR="101600" stAng="10800000" swAng="5400000"/>
                <a:lnTo>
                  <a:pt x="3285034" y="0"/>
                </a:lnTo>
                <a:arcTo hR="101600" wR="101600" stAng="16200000" swAng="5400000"/>
                <a:lnTo>
                  <a:pt x="3386634" y="101600"/>
                </a:lnTo>
                <a:arcTo hR="63500" wR="101600" stAng="0" swAng="-5400000"/>
                <a:lnTo>
                  <a:pt x="101600" y="38100"/>
                </a:lnTo>
                <a:arcTo hR="63500" wR="101600" stAng="16200000" swAng="-5400000"/>
                <a:close/>
              </a:path>
            </a:pathLst>
          </a:custGeom>
          <a:solidFill>
            <a:srgbClr val="1D6B58"/>
          </a:solidFill>
          <a:ln/>
        </p:spPr>
      </p:sp>
      <p:sp>
        <p:nvSpPr>
          <p:cNvPr id="7" name="Text 5"/>
          <p:cNvSpPr/>
          <p:nvPr/>
        </p:nvSpPr>
        <p:spPr>
          <a:xfrm>
            <a:off x="1041400" y="3233291"/>
            <a:ext cx="301731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Any model</a:t>
            </a:r>
            <a:endParaRPr lang="en-US" sz="1600" dirty="0"/>
          </a:p>
        </p:txBody>
      </p:sp>
      <p:sp>
        <p:nvSpPr>
          <p:cNvPr id="8" name="Text 6"/>
          <p:cNvSpPr/>
          <p:nvPr/>
        </p:nvSpPr>
        <p:spPr>
          <a:xfrm>
            <a:off x="1041400" y="3563491"/>
            <a:ext cx="3017317"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GitHub Copilot through LiteLLM, Gemini natively. Here: both, one setting apart.</a:t>
            </a:r>
            <a:endParaRPr lang="en-US" sz="1400" dirty="0"/>
          </a:p>
        </p:txBody>
      </p:sp>
      <p:sp>
        <p:nvSpPr>
          <p:cNvPr id="9" name="Shape 7"/>
          <p:cNvSpPr/>
          <p:nvPr/>
        </p:nvSpPr>
        <p:spPr>
          <a:xfrm>
            <a:off x="4402634" y="2966591"/>
            <a:ext cx="3386683" cy="1572171"/>
          </a:xfrm>
          <a:prstGeom prst="roundRect">
            <a:avLst>
              <a:gd name="adj" fmla="val 6462"/>
            </a:avLst>
          </a:prstGeom>
          <a:solidFill>
            <a:srgbClr val="FBFCFB"/>
          </a:solidFill>
          <a:ln/>
        </p:spPr>
      </p:sp>
      <p:sp>
        <p:nvSpPr>
          <p:cNvPr id="10" name="Shape 8"/>
          <p:cNvSpPr/>
          <p:nvPr/>
        </p:nvSpPr>
        <p:spPr>
          <a:xfrm>
            <a:off x="4402634" y="2966591"/>
            <a:ext cx="3386683" cy="1572171"/>
          </a:xfrm>
          <a:custGeom>
            <a:avLst/>
            <a:gdLst/>
            <a:ahLst/>
            <a:cxnLst/>
            <a:rect l="l" t="t" r="r" b="b"/>
            <a:pathLst>
              <a:path w="3386683" h="1572171">
                <a:moveTo>
                  <a:pt x="0" y="101600"/>
                </a:moveTo>
                <a:lnTo>
                  <a:pt x="0" y="101600"/>
                </a:lnTo>
                <a:arcTo hR="101600" wR="101600" stAng="10800000" swAng="5400000"/>
                <a:lnTo>
                  <a:pt x="3285083" y="0"/>
                </a:lnTo>
                <a:arcTo hR="101600" wR="101600" stAng="16200000" swAng="5400000"/>
                <a:lnTo>
                  <a:pt x="3386683" y="101600"/>
                </a:lnTo>
                <a:arcTo hR="63500" wR="101600" stAng="0" swAng="-5400000"/>
                <a:lnTo>
                  <a:pt x="101600" y="38100"/>
                </a:lnTo>
                <a:arcTo hR="63500" wR="101600" stAng="16200000" swAng="-5400000"/>
                <a:close/>
              </a:path>
            </a:pathLst>
          </a:custGeom>
          <a:solidFill>
            <a:srgbClr val="1D6B58"/>
          </a:solidFill>
          <a:ln/>
        </p:spPr>
      </p:sp>
      <p:sp>
        <p:nvSpPr>
          <p:cNvPr id="11" name="Text 9"/>
          <p:cNvSpPr/>
          <p:nvPr/>
        </p:nvSpPr>
        <p:spPr>
          <a:xfrm>
            <a:off x="4631234" y="3233291"/>
            <a:ext cx="30173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Tools to watch it run</a:t>
            </a:r>
            <a:endParaRPr lang="en-US" sz="1600" dirty="0"/>
          </a:p>
        </p:txBody>
      </p:sp>
      <p:sp>
        <p:nvSpPr>
          <p:cNvPr id="12" name="Text 10"/>
          <p:cNvSpPr/>
          <p:nvPr/>
        </p:nvSpPr>
        <p:spPr>
          <a:xfrm>
            <a:off x="4631234" y="3563491"/>
            <a:ext cx="301736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6B58"/>
                </a:solidFill>
                <a:latin typeface="IBM Plex Sans" pitchFamily="34" charset="0"/>
                <a:ea typeface="IBM Plex Sans" pitchFamily="34" charset="-122"/>
                <a:cs typeface="IBM Plex Sans" pitchFamily="34" charset="-120"/>
              </a:rPr>
              <a:t>adk web</a:t>
            </a:r>
            <a:r>
              <a:rPr lang="en-US" sz="1400" dirty="0">
                <a:solidFill>
                  <a:srgbClr val="3E4C57"/>
                </a:solidFill>
                <a:latin typeface="IBM Plex Sans" pitchFamily="34" charset="0"/>
                <a:ea typeface="IBM Plex Sans" pitchFamily="34" charset="-122"/>
                <a:cs typeface="IBM Plex Sans" pitchFamily="34" charset="-120"/>
              </a:rPr>
              <a:t> opens a browser UI that lists every event; </a:t>
            </a:r>
            <a:r>
              <a:rPr lang="en-US" sz="1400" dirty="0">
                <a:solidFill>
                  <a:srgbClr val="1D6B58"/>
                </a:solidFill>
                <a:latin typeface="IBM Plex Sans" pitchFamily="34" charset="0"/>
                <a:ea typeface="IBM Plex Sans" pitchFamily="34" charset="-122"/>
                <a:cs typeface="IBM Plex Sans" pitchFamily="34" charset="-120"/>
              </a:rPr>
              <a:t>adk run</a:t>
            </a:r>
            <a:r>
              <a:rPr lang="en-US" sz="1400" dirty="0">
                <a:solidFill>
                  <a:srgbClr val="3E4C57"/>
                </a:solidFill>
                <a:latin typeface="IBM Plex Sans" pitchFamily="34" charset="0"/>
                <a:ea typeface="IBM Plex Sans" pitchFamily="34" charset="-122"/>
                <a:cs typeface="IBM Plex Sans" pitchFamily="34" charset="-120"/>
              </a:rPr>
              <a:t> is a terminal chat.</a:t>
            </a:r>
            <a:endParaRPr lang="en-US" sz="1400" dirty="0"/>
          </a:p>
        </p:txBody>
      </p:sp>
      <p:sp>
        <p:nvSpPr>
          <p:cNvPr id="13" name="Shape 11"/>
          <p:cNvSpPr/>
          <p:nvPr/>
        </p:nvSpPr>
        <p:spPr>
          <a:xfrm>
            <a:off x="7992517" y="2966591"/>
            <a:ext cx="3386683" cy="1572171"/>
          </a:xfrm>
          <a:prstGeom prst="roundRect">
            <a:avLst>
              <a:gd name="adj" fmla="val 6462"/>
            </a:avLst>
          </a:prstGeom>
          <a:solidFill>
            <a:srgbClr val="FBFCFB"/>
          </a:solidFill>
          <a:ln/>
        </p:spPr>
      </p:sp>
      <p:sp>
        <p:nvSpPr>
          <p:cNvPr id="14" name="Shape 12"/>
          <p:cNvSpPr/>
          <p:nvPr/>
        </p:nvSpPr>
        <p:spPr>
          <a:xfrm>
            <a:off x="7992517" y="2966591"/>
            <a:ext cx="3386683" cy="1572171"/>
          </a:xfrm>
          <a:custGeom>
            <a:avLst/>
            <a:gdLst/>
            <a:ahLst/>
            <a:cxnLst/>
            <a:rect l="l" t="t" r="r" b="b"/>
            <a:pathLst>
              <a:path w="3386683" h="1572171">
                <a:moveTo>
                  <a:pt x="0" y="101600"/>
                </a:moveTo>
                <a:lnTo>
                  <a:pt x="0" y="101600"/>
                </a:lnTo>
                <a:arcTo hR="101600" wR="101600" stAng="10800000" swAng="5400000"/>
                <a:lnTo>
                  <a:pt x="3285083" y="0"/>
                </a:lnTo>
                <a:arcTo hR="101600" wR="101600" stAng="16200000" swAng="5400000"/>
                <a:lnTo>
                  <a:pt x="3386683" y="101600"/>
                </a:lnTo>
                <a:arcTo hR="63500" wR="101600" stAng="0" swAng="-5400000"/>
                <a:lnTo>
                  <a:pt x="101600" y="38100"/>
                </a:lnTo>
                <a:arcTo hR="63500" wR="101600" stAng="16200000" swAng="-5400000"/>
                <a:close/>
              </a:path>
            </a:pathLst>
          </a:custGeom>
          <a:solidFill>
            <a:srgbClr val="1D6B58"/>
          </a:solidFill>
          <a:ln/>
        </p:spPr>
      </p:sp>
      <p:sp>
        <p:nvSpPr>
          <p:cNvPr id="15" name="Text 13"/>
          <p:cNvSpPr/>
          <p:nvPr/>
        </p:nvSpPr>
        <p:spPr>
          <a:xfrm>
            <a:off x="8221117" y="3233291"/>
            <a:ext cx="30173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Code where you want control</a:t>
            </a:r>
            <a:endParaRPr lang="en-US" sz="1600" dirty="0"/>
          </a:p>
        </p:txBody>
      </p:sp>
      <p:sp>
        <p:nvSpPr>
          <p:cNvPr id="16" name="Text 14"/>
          <p:cNvSpPr/>
          <p:nvPr/>
        </p:nvSpPr>
        <p:spPr>
          <a:xfrm>
            <a:off x="8221117" y="3563491"/>
            <a:ext cx="301736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Workflows, callbacks and plugins let code decide what a model should not.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CORE CONCEPTS · HOW A TURN RUNS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Every step of a turn becomes an event</a:t>
            </a:r>
            <a:endParaRPr lang="en-US" sz="3600" dirty="0"/>
          </a:p>
        </p:txBody>
      </p:sp>
      <p:sp>
        <p:nvSpPr>
          <p:cNvPr id="4" name="Shape 2"/>
          <p:cNvSpPr/>
          <p:nvPr/>
        </p:nvSpPr>
        <p:spPr>
          <a:xfrm>
            <a:off x="812800" y="1884611"/>
            <a:ext cx="2241550" cy="1981051"/>
          </a:xfrm>
          <a:prstGeom prst="roundRect">
            <a:avLst>
              <a:gd name="adj" fmla="val 3846"/>
            </a:avLst>
          </a:prstGeom>
          <a:solidFill>
            <a:srgbClr val="FBFCFB"/>
          </a:solidFill>
          <a:ln/>
        </p:spPr>
      </p:sp>
      <p:sp>
        <p:nvSpPr>
          <p:cNvPr id="5" name="Shape 3"/>
          <p:cNvSpPr/>
          <p:nvPr/>
        </p:nvSpPr>
        <p:spPr>
          <a:xfrm>
            <a:off x="812800" y="1884611"/>
            <a:ext cx="2241550" cy="1981051"/>
          </a:xfrm>
          <a:custGeom>
            <a:avLst/>
            <a:gdLst/>
            <a:ahLst/>
            <a:cxnLst/>
            <a:rect l="l" t="t" r="r" b="b"/>
            <a:pathLst>
              <a:path w="2241550" h="1981051">
                <a:moveTo>
                  <a:pt x="0" y="76200"/>
                </a:moveTo>
                <a:lnTo>
                  <a:pt x="0" y="76200"/>
                </a:lnTo>
                <a:arcTo hR="76200" wR="76200" stAng="10800000" swAng="5400000"/>
                <a:lnTo>
                  <a:pt x="2165350" y="0"/>
                </a:lnTo>
                <a:arcTo hR="76200" wR="76200" stAng="16200000" swAng="5400000"/>
                <a:lnTo>
                  <a:pt x="2241550" y="76200"/>
                </a:lnTo>
                <a:arcTo hR="38100" wR="76200" stAng="0" swAng="-5400000"/>
                <a:lnTo>
                  <a:pt x="76200" y="38100"/>
                </a:lnTo>
                <a:arcTo hR="38100" wR="76200" stAng="16200000" swAng="-5400000"/>
                <a:close/>
              </a:path>
            </a:pathLst>
          </a:custGeom>
          <a:solidFill>
            <a:srgbClr val="1D6B58"/>
          </a:solidFill>
          <a:ln/>
        </p:spPr>
      </p:sp>
      <p:sp>
        <p:nvSpPr>
          <p:cNvPr id="6" name="Text 4"/>
          <p:cNvSpPr/>
          <p:nvPr/>
        </p:nvSpPr>
        <p:spPr>
          <a:xfrm>
            <a:off x="990600" y="2100511"/>
            <a:ext cx="19425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IBM Plex Mono" pitchFamily="49" charset="0"/>
                <a:ea typeface="IBM Plex Mono" pitchFamily="49" charset="-122"/>
                <a:cs typeface="IBM Plex Mono" pitchFamily="49" charset="-120"/>
              </a:rPr>
              <a:t>Runner</a:t>
            </a:r>
            <a:endParaRPr lang="en-US" sz="1500" dirty="0"/>
          </a:p>
        </p:txBody>
      </p:sp>
      <p:sp>
        <p:nvSpPr>
          <p:cNvPr id="7" name="Text 5"/>
          <p:cNvSpPr/>
          <p:nvPr/>
        </p:nvSpPr>
        <p:spPr>
          <a:xfrm>
            <a:off x="990600" y="2443411"/>
            <a:ext cx="1942529"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Runs the agent for each message: adk web, adk run, or InMemoryRunner behind review.py.</a:t>
            </a:r>
            <a:endParaRPr lang="en-US" sz="1400" dirty="0"/>
          </a:p>
        </p:txBody>
      </p:sp>
      <p:sp>
        <p:nvSpPr>
          <p:cNvPr id="8" name="Text 6"/>
          <p:cNvSpPr/>
          <p:nvPr/>
        </p:nvSpPr>
        <p:spPr>
          <a:xfrm>
            <a:off x="3181350" y="267955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IBM Plex Sans" pitchFamily="34" charset="0"/>
                <a:ea typeface="IBM Plex Sans" pitchFamily="34" charset="-122"/>
                <a:cs typeface="IBM Plex Sans" pitchFamily="34" charset="-120"/>
              </a:rPr>
              <a:t>→</a:t>
            </a:r>
            <a:endParaRPr lang="en-US" sz="2200" dirty="0"/>
          </a:p>
        </p:txBody>
      </p:sp>
      <p:sp>
        <p:nvSpPr>
          <p:cNvPr id="9" name="Shape 7"/>
          <p:cNvSpPr/>
          <p:nvPr/>
        </p:nvSpPr>
        <p:spPr>
          <a:xfrm>
            <a:off x="3587750" y="1884611"/>
            <a:ext cx="2241550" cy="1981051"/>
          </a:xfrm>
          <a:prstGeom prst="roundRect">
            <a:avLst>
              <a:gd name="adj" fmla="val 3846"/>
            </a:avLst>
          </a:prstGeom>
          <a:solidFill>
            <a:srgbClr val="FBFCFB"/>
          </a:solidFill>
          <a:ln/>
        </p:spPr>
      </p:sp>
      <p:sp>
        <p:nvSpPr>
          <p:cNvPr id="10" name="Shape 8"/>
          <p:cNvSpPr/>
          <p:nvPr/>
        </p:nvSpPr>
        <p:spPr>
          <a:xfrm>
            <a:off x="3587750" y="1884611"/>
            <a:ext cx="2241550" cy="1981051"/>
          </a:xfrm>
          <a:custGeom>
            <a:avLst/>
            <a:gdLst/>
            <a:ahLst/>
            <a:cxnLst/>
            <a:rect l="l" t="t" r="r" b="b"/>
            <a:pathLst>
              <a:path w="2241550" h="1981051">
                <a:moveTo>
                  <a:pt x="0" y="76200"/>
                </a:moveTo>
                <a:lnTo>
                  <a:pt x="0" y="76200"/>
                </a:lnTo>
                <a:arcTo hR="76200" wR="76200" stAng="10800000" swAng="5400000"/>
                <a:lnTo>
                  <a:pt x="2165350" y="0"/>
                </a:lnTo>
                <a:arcTo hR="76200" wR="76200" stAng="16200000" swAng="5400000"/>
                <a:lnTo>
                  <a:pt x="2241550" y="76200"/>
                </a:lnTo>
                <a:arcTo hR="38100" wR="76200" stAng="0" swAng="-5400000"/>
                <a:lnTo>
                  <a:pt x="76200" y="38100"/>
                </a:lnTo>
                <a:arcTo hR="38100" wR="76200" stAng="16200000" swAng="-5400000"/>
                <a:close/>
              </a:path>
            </a:pathLst>
          </a:custGeom>
          <a:solidFill>
            <a:srgbClr val="B4540A"/>
          </a:solidFill>
          <a:ln/>
        </p:spPr>
      </p:sp>
      <p:sp>
        <p:nvSpPr>
          <p:cNvPr id="11" name="Text 9"/>
          <p:cNvSpPr/>
          <p:nvPr/>
        </p:nvSpPr>
        <p:spPr>
          <a:xfrm>
            <a:off x="3765550" y="2100511"/>
            <a:ext cx="19425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IBM Plex Mono" pitchFamily="49" charset="0"/>
                <a:ea typeface="IBM Plex Mono" pitchFamily="49" charset="-122"/>
                <a:cs typeface="IBM Plex Mono" pitchFamily="49" charset="-120"/>
              </a:rPr>
              <a:t>Agent</a:t>
            </a:r>
            <a:endParaRPr lang="en-US" sz="1500" dirty="0"/>
          </a:p>
        </p:txBody>
      </p:sp>
      <p:sp>
        <p:nvSpPr>
          <p:cNvPr id="12" name="Text 10"/>
          <p:cNvSpPr/>
          <p:nvPr/>
        </p:nvSpPr>
        <p:spPr>
          <a:xfrm>
            <a:off x="3765550" y="2443411"/>
            <a:ext cx="1942529"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The model reads its instruction, picks the tools to call, and answers.</a:t>
            </a:r>
            <a:endParaRPr lang="en-US" sz="1400" dirty="0"/>
          </a:p>
        </p:txBody>
      </p:sp>
      <p:sp>
        <p:nvSpPr>
          <p:cNvPr id="13" name="Text 11"/>
          <p:cNvSpPr/>
          <p:nvPr/>
        </p:nvSpPr>
        <p:spPr>
          <a:xfrm>
            <a:off x="5956300" y="267955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IBM Plex Sans" pitchFamily="34" charset="0"/>
                <a:ea typeface="IBM Plex Sans" pitchFamily="34" charset="-122"/>
                <a:cs typeface="IBM Plex Sans" pitchFamily="34" charset="-120"/>
              </a:rPr>
              <a:t>→</a:t>
            </a:r>
            <a:endParaRPr lang="en-US" sz="2200" dirty="0"/>
          </a:p>
        </p:txBody>
      </p:sp>
      <p:sp>
        <p:nvSpPr>
          <p:cNvPr id="14" name="Shape 12"/>
          <p:cNvSpPr/>
          <p:nvPr/>
        </p:nvSpPr>
        <p:spPr>
          <a:xfrm>
            <a:off x="6362700" y="1884611"/>
            <a:ext cx="2241550" cy="1981051"/>
          </a:xfrm>
          <a:prstGeom prst="roundRect">
            <a:avLst>
              <a:gd name="adj" fmla="val 3846"/>
            </a:avLst>
          </a:prstGeom>
          <a:solidFill>
            <a:srgbClr val="FBFCFB"/>
          </a:solidFill>
          <a:ln/>
        </p:spPr>
      </p:sp>
      <p:sp>
        <p:nvSpPr>
          <p:cNvPr id="15" name="Shape 13"/>
          <p:cNvSpPr/>
          <p:nvPr/>
        </p:nvSpPr>
        <p:spPr>
          <a:xfrm>
            <a:off x="6362700" y="1884611"/>
            <a:ext cx="2241550" cy="1981051"/>
          </a:xfrm>
          <a:custGeom>
            <a:avLst/>
            <a:gdLst/>
            <a:ahLst/>
            <a:cxnLst/>
            <a:rect l="l" t="t" r="r" b="b"/>
            <a:pathLst>
              <a:path w="2241550" h="1981051">
                <a:moveTo>
                  <a:pt x="0" y="76200"/>
                </a:moveTo>
                <a:lnTo>
                  <a:pt x="0" y="76200"/>
                </a:lnTo>
                <a:arcTo hR="76200" wR="76200" stAng="10800000" swAng="5400000"/>
                <a:lnTo>
                  <a:pt x="2165350" y="0"/>
                </a:lnTo>
                <a:arcTo hR="76200" wR="76200" stAng="16200000" swAng="5400000"/>
                <a:lnTo>
                  <a:pt x="2241550" y="76200"/>
                </a:lnTo>
                <a:arcTo hR="38100" wR="76200" stAng="0" swAng="-5400000"/>
                <a:lnTo>
                  <a:pt x="76200" y="38100"/>
                </a:lnTo>
                <a:arcTo hR="38100" wR="76200" stAng="16200000" swAng="-5400000"/>
                <a:close/>
              </a:path>
            </a:pathLst>
          </a:custGeom>
          <a:solidFill>
            <a:srgbClr val="1D6B58"/>
          </a:solidFill>
          <a:ln/>
        </p:spPr>
      </p:sp>
      <p:sp>
        <p:nvSpPr>
          <p:cNvPr id="16" name="Text 14"/>
          <p:cNvSpPr/>
          <p:nvPr/>
        </p:nvSpPr>
        <p:spPr>
          <a:xfrm>
            <a:off x="6540500" y="2100511"/>
            <a:ext cx="19425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IBM Plex Mono" pitchFamily="49" charset="0"/>
                <a:ea typeface="IBM Plex Mono" pitchFamily="49" charset="-122"/>
                <a:cs typeface="IBM Plex Mono" pitchFamily="49" charset="-120"/>
              </a:rPr>
              <a:t>Events</a:t>
            </a:r>
            <a:endParaRPr lang="en-US" sz="1500" dirty="0"/>
          </a:p>
        </p:txBody>
      </p:sp>
      <p:sp>
        <p:nvSpPr>
          <p:cNvPr id="17" name="Text 15"/>
          <p:cNvSpPr/>
          <p:nvPr/>
        </p:nvSpPr>
        <p:spPr>
          <a:xfrm>
            <a:off x="6540500" y="2443411"/>
            <a:ext cx="1942529"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Each model request, tool call and answer is recorded. adk web lists them as event cards.</a:t>
            </a:r>
            <a:endParaRPr lang="en-US" sz="1400" dirty="0"/>
          </a:p>
        </p:txBody>
      </p:sp>
      <p:sp>
        <p:nvSpPr>
          <p:cNvPr id="18" name="Text 16"/>
          <p:cNvSpPr/>
          <p:nvPr/>
        </p:nvSpPr>
        <p:spPr>
          <a:xfrm>
            <a:off x="8731250" y="267955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IBM Plex Sans" pitchFamily="34" charset="0"/>
                <a:ea typeface="IBM Plex Sans" pitchFamily="34" charset="-122"/>
                <a:cs typeface="IBM Plex Sans" pitchFamily="34" charset="-120"/>
              </a:rPr>
              <a:t>→</a:t>
            </a:r>
            <a:endParaRPr lang="en-US" sz="2200" dirty="0"/>
          </a:p>
        </p:txBody>
      </p:sp>
      <p:sp>
        <p:nvSpPr>
          <p:cNvPr id="19" name="Shape 17"/>
          <p:cNvSpPr/>
          <p:nvPr/>
        </p:nvSpPr>
        <p:spPr>
          <a:xfrm>
            <a:off x="9137650" y="1884611"/>
            <a:ext cx="2241550" cy="1981051"/>
          </a:xfrm>
          <a:prstGeom prst="roundRect">
            <a:avLst>
              <a:gd name="adj" fmla="val 3846"/>
            </a:avLst>
          </a:prstGeom>
          <a:solidFill>
            <a:srgbClr val="FBFCFB"/>
          </a:solidFill>
          <a:ln/>
        </p:spPr>
      </p:sp>
      <p:sp>
        <p:nvSpPr>
          <p:cNvPr id="20" name="Shape 18"/>
          <p:cNvSpPr/>
          <p:nvPr/>
        </p:nvSpPr>
        <p:spPr>
          <a:xfrm>
            <a:off x="9137650" y="1884611"/>
            <a:ext cx="2241550" cy="1981051"/>
          </a:xfrm>
          <a:custGeom>
            <a:avLst/>
            <a:gdLst/>
            <a:ahLst/>
            <a:cxnLst/>
            <a:rect l="l" t="t" r="r" b="b"/>
            <a:pathLst>
              <a:path w="2241550" h="1981051">
                <a:moveTo>
                  <a:pt x="0" y="76200"/>
                </a:moveTo>
                <a:lnTo>
                  <a:pt x="0" y="76200"/>
                </a:lnTo>
                <a:arcTo hR="76200" wR="76200" stAng="10800000" swAng="5400000"/>
                <a:lnTo>
                  <a:pt x="2165350" y="0"/>
                </a:lnTo>
                <a:arcTo hR="76200" wR="76200" stAng="16200000" swAng="5400000"/>
                <a:lnTo>
                  <a:pt x="2241550" y="76200"/>
                </a:lnTo>
                <a:arcTo hR="38100" wR="76200" stAng="0" swAng="-5400000"/>
                <a:lnTo>
                  <a:pt x="76200" y="38100"/>
                </a:lnTo>
                <a:arcTo hR="38100" wR="76200" stAng="16200000" swAng="-5400000"/>
                <a:close/>
              </a:path>
            </a:pathLst>
          </a:custGeom>
          <a:solidFill>
            <a:srgbClr val="1D6B58"/>
          </a:solidFill>
          <a:ln/>
        </p:spPr>
      </p:sp>
      <p:sp>
        <p:nvSpPr>
          <p:cNvPr id="21" name="Text 19"/>
          <p:cNvSpPr/>
          <p:nvPr/>
        </p:nvSpPr>
        <p:spPr>
          <a:xfrm>
            <a:off x="9315450" y="2100511"/>
            <a:ext cx="19425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IBM Plex Mono" pitchFamily="49" charset="0"/>
                <a:ea typeface="IBM Plex Mono" pitchFamily="49" charset="-122"/>
                <a:cs typeface="IBM Plex Mono" pitchFamily="49" charset="-120"/>
              </a:rPr>
              <a:t>Session state</a:t>
            </a:r>
            <a:endParaRPr lang="en-US" sz="1500" dirty="0"/>
          </a:p>
        </p:txBody>
      </p:sp>
      <p:sp>
        <p:nvSpPr>
          <p:cNvPr id="22" name="Text 20"/>
          <p:cNvSpPr/>
          <p:nvPr/>
        </p:nvSpPr>
        <p:spPr>
          <a:xfrm>
            <a:off x="9315450" y="2443411"/>
            <a:ext cx="1942529"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 dict that agents and tools share for one conversation.</a:t>
            </a:r>
            <a:endParaRPr lang="en-US" sz="1400" dirty="0"/>
          </a:p>
        </p:txBody>
      </p:sp>
      <p:sp>
        <p:nvSpPr>
          <p:cNvPr id="23" name="Text 21"/>
          <p:cNvSpPr/>
          <p:nvPr/>
        </p:nvSpPr>
        <p:spPr>
          <a:xfrm>
            <a:off x="812800" y="4119662"/>
            <a:ext cx="1088339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State is how agents and tools pass work on</a:t>
            </a:r>
            <a:endParaRPr lang="en-US" sz="1600" dirty="0"/>
          </a:p>
        </p:txBody>
      </p:sp>
      <p:sp>
        <p:nvSpPr>
          <p:cNvPr id="24" name="Text 22"/>
          <p:cNvSpPr/>
          <p:nvPr/>
        </p:nvSpPr>
        <p:spPr>
          <a:xfrm>
            <a:off x="812800" y="4475262"/>
            <a:ext cx="260311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6B58"/>
                </a:solidFill>
                <a:latin typeface="IBM Plex Mono" pitchFamily="49" charset="0"/>
                <a:ea typeface="IBM Plex Mono" pitchFamily="49" charset="-122"/>
                <a:cs typeface="IBM Plex Mono" pitchFamily="49" charset="-120"/>
              </a:rPr>
              <a:t>output_key="diff"</a:t>
            </a:r>
            <a:endParaRPr lang="en-US" sz="1300" dirty="0"/>
          </a:p>
        </p:txBody>
      </p:sp>
      <p:sp>
        <p:nvSpPr>
          <p:cNvPr id="25" name="Text 23"/>
          <p:cNvSpPr/>
          <p:nvPr/>
        </p:nvSpPr>
        <p:spPr>
          <a:xfrm>
            <a:off x="812800" y="4744492"/>
            <a:ext cx="260311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C57"/>
                </a:solidFill>
                <a:latin typeface="IBM Plex Sans" pitchFamily="34" charset="0"/>
                <a:ea typeface="IBM Plex Sans" pitchFamily="34" charset="-122"/>
                <a:cs typeface="IBM Plex Sans" pitchFamily="34" charset="-120"/>
              </a:rPr>
              <a:t>saves an agent's answer to state (from phase 2)</a:t>
            </a:r>
            <a:endParaRPr lang="en-US" sz="1300" dirty="0"/>
          </a:p>
        </p:txBody>
      </p:sp>
      <p:sp>
        <p:nvSpPr>
          <p:cNvPr id="26" name="Text 24"/>
          <p:cNvSpPr/>
          <p:nvPr/>
        </p:nvSpPr>
        <p:spPr>
          <a:xfrm>
            <a:off x="3492500" y="4475262"/>
            <a:ext cx="260311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6B58"/>
                </a:solidFill>
                <a:latin typeface="IBM Plex Mono" pitchFamily="49" charset="0"/>
                <a:ea typeface="IBM Plex Mono" pitchFamily="49" charset="-122"/>
                <a:cs typeface="IBM Plex Mono" pitchFamily="49" charset="-120"/>
              </a:rPr>
              <a:t>{diff}</a:t>
            </a:r>
            <a:endParaRPr lang="en-US" sz="1300" dirty="0"/>
          </a:p>
        </p:txBody>
      </p:sp>
      <p:sp>
        <p:nvSpPr>
          <p:cNvPr id="27" name="Text 25"/>
          <p:cNvSpPr/>
          <p:nvPr/>
        </p:nvSpPr>
        <p:spPr>
          <a:xfrm>
            <a:off x="3492500" y="4744492"/>
            <a:ext cx="260311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C57"/>
                </a:solidFill>
                <a:latin typeface="IBM Plex Sans" pitchFamily="34" charset="0"/>
                <a:ea typeface="IBM Plex Sans" pitchFamily="34" charset="-122"/>
                <a:cs typeface="IBM Plex Sans" pitchFamily="34" charset="-120"/>
              </a:rPr>
              <a:t>reads it into the next agent's instruction (phase 4)</a:t>
            </a:r>
            <a:endParaRPr lang="en-US" sz="1300" dirty="0"/>
          </a:p>
        </p:txBody>
      </p:sp>
      <p:sp>
        <p:nvSpPr>
          <p:cNvPr id="28" name="Text 26"/>
          <p:cNvSpPr/>
          <p:nvPr/>
        </p:nvSpPr>
        <p:spPr>
          <a:xfrm>
            <a:off x="6172200" y="4475262"/>
            <a:ext cx="260311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6B58"/>
                </a:solidFill>
                <a:latin typeface="IBM Plex Mono" pitchFamily="49" charset="0"/>
                <a:ea typeface="IBM Plex Mono" pitchFamily="49" charset="-122"/>
                <a:cs typeface="IBM Plex Mono" pitchFamily="49" charset="-120"/>
              </a:rPr>
              <a:t>tool_context.state</a:t>
            </a:r>
            <a:endParaRPr lang="en-US" sz="1300" dirty="0"/>
          </a:p>
        </p:txBody>
      </p:sp>
      <p:sp>
        <p:nvSpPr>
          <p:cNvPr id="29" name="Text 27"/>
          <p:cNvSpPr/>
          <p:nvPr/>
        </p:nvSpPr>
        <p:spPr>
          <a:xfrm>
            <a:off x="6172200" y="4744492"/>
            <a:ext cx="260311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C57"/>
                </a:solidFill>
                <a:latin typeface="IBM Plex Sans" pitchFamily="34" charset="0"/>
                <a:ea typeface="IBM Plex Sans" pitchFamily="34" charset="-122"/>
                <a:cs typeface="IBM Plex Sans" pitchFamily="34" charset="-120"/>
              </a:rPr>
              <a:t>lets a tool read and write it (phase 3)</a:t>
            </a:r>
            <a:endParaRPr lang="en-US" sz="1300" dirty="0"/>
          </a:p>
        </p:txBody>
      </p:sp>
      <p:sp>
        <p:nvSpPr>
          <p:cNvPr id="30" name="Text 28"/>
          <p:cNvSpPr/>
          <p:nvPr/>
        </p:nvSpPr>
        <p:spPr>
          <a:xfrm>
            <a:off x="8851900" y="4475262"/>
            <a:ext cx="260311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6B58"/>
                </a:solidFill>
                <a:latin typeface="IBM Plex Mono" pitchFamily="49" charset="0"/>
                <a:ea typeface="IBM Plex Mono" pitchFamily="49" charset="-122"/>
                <a:cs typeface="IBM Plex Mono" pitchFamily="49" charset="-120"/>
              </a:rPr>
              <a:t>temp:</a:t>
            </a:r>
            <a:endParaRPr lang="en-US" sz="1300" dirty="0"/>
          </a:p>
        </p:txBody>
      </p:sp>
      <p:sp>
        <p:nvSpPr>
          <p:cNvPr id="31" name="Text 29"/>
          <p:cNvSpPr/>
          <p:nvPr/>
        </p:nvSpPr>
        <p:spPr>
          <a:xfrm>
            <a:off x="8851900" y="4744492"/>
            <a:ext cx="260311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C57"/>
                </a:solidFill>
                <a:latin typeface="IBM Plex Sans" pitchFamily="34" charset="0"/>
                <a:ea typeface="IBM Plex Sans" pitchFamily="34" charset="-122"/>
                <a:cs typeface="IBM Plex Sans" pitchFamily="34" charset="-120"/>
              </a:rPr>
              <a:t>a key with this prefix lasts one turn (phase 4)</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CORE CONCEPTS · CALLBACKS AND PLUGINS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Hooks let code step in around every step</a:t>
            </a:r>
            <a:endParaRPr lang="en-US" sz="3600" dirty="0"/>
          </a:p>
        </p:txBody>
      </p:sp>
      <p:sp>
        <p:nvSpPr>
          <p:cNvPr id="4" name="Text 2"/>
          <p:cNvSpPr/>
          <p:nvPr/>
        </p:nvSpPr>
        <p:spPr>
          <a:xfrm>
            <a:off x="812800" y="1884611"/>
            <a:ext cx="3302000" cy="426690"/>
          </a:xfrm>
          <a:prstGeom prst="rect">
            <a:avLst/>
          </a:prstGeom>
          <a:solidFill>
            <a:srgbClr val="E3EAE7"/>
          </a:solidFill>
          <a:ln/>
        </p:spPr>
        <p:txBody>
          <a:bodyPr wrap="square" lIns="127000" tIns="88900" rIns="35560" bIns="63500" rtlCol="0" anchor="t">
            <a:normAutofit/>
          </a:bodyPr>
          <a:lstStyle/>
          <a:p>
            <a:pPr algn="l" indent="0" marL="0">
              <a:lnSpc>
                <a:spcPts val="1960"/>
              </a:lnSpc>
              <a:buNone/>
            </a:pPr>
            <a:r>
              <a:rPr lang="en-US" sz="1400" b="1" dirty="0">
                <a:solidFill>
                  <a:srgbClr val="10181D"/>
                </a:solidFill>
                <a:latin typeface="IBM Plex Sans" pitchFamily="34" charset="0"/>
                <a:ea typeface="IBM Plex Sans" pitchFamily="34" charset="-122"/>
                <a:cs typeface="IBM Plex Sans" pitchFamily="34" charset="-120"/>
              </a:rPr>
              <a:t>Hook</a:t>
            </a:r>
            <a:endParaRPr lang="en-US" sz="1400" dirty="0"/>
          </a:p>
        </p:txBody>
      </p:sp>
      <p:sp>
        <p:nvSpPr>
          <p:cNvPr id="5" name="Text 3"/>
          <p:cNvSpPr/>
          <p:nvPr/>
        </p:nvSpPr>
        <p:spPr>
          <a:xfrm>
            <a:off x="4114800" y="1884611"/>
            <a:ext cx="2794000" cy="426690"/>
          </a:xfrm>
          <a:prstGeom prst="rect">
            <a:avLst/>
          </a:prstGeom>
          <a:solidFill>
            <a:srgbClr val="E3EAE7"/>
          </a:solidFill>
          <a:ln/>
        </p:spPr>
        <p:txBody>
          <a:bodyPr wrap="square" lIns="127000" tIns="88900" rIns="50800" bIns="63500" rtlCol="0" anchor="t">
            <a:normAutofit/>
          </a:bodyPr>
          <a:lstStyle/>
          <a:p>
            <a:pPr algn="l" indent="0" marL="0">
              <a:lnSpc>
                <a:spcPts val="1960"/>
              </a:lnSpc>
              <a:buNone/>
            </a:pPr>
            <a:r>
              <a:rPr lang="en-US" sz="1400" b="1" dirty="0">
                <a:solidFill>
                  <a:srgbClr val="10181D"/>
                </a:solidFill>
                <a:latin typeface="IBM Plex Sans" pitchFamily="34" charset="0"/>
                <a:ea typeface="IBM Plex Sans" pitchFamily="34" charset="-122"/>
                <a:cs typeface="IBM Plex Sans" pitchFamily="34" charset="-120"/>
              </a:rPr>
              <a:t>Runs</a:t>
            </a:r>
            <a:endParaRPr lang="en-US" sz="1400" dirty="0"/>
          </a:p>
        </p:txBody>
      </p:sp>
      <p:sp>
        <p:nvSpPr>
          <p:cNvPr id="6" name="Text 4"/>
          <p:cNvSpPr/>
          <p:nvPr/>
        </p:nvSpPr>
        <p:spPr>
          <a:xfrm>
            <a:off x="6908800" y="1884611"/>
            <a:ext cx="4470400" cy="426690"/>
          </a:xfrm>
          <a:prstGeom prst="rect">
            <a:avLst/>
          </a:prstGeom>
          <a:solidFill>
            <a:srgbClr val="E3EAE7"/>
          </a:solidFill>
          <a:ln/>
        </p:spPr>
        <p:txBody>
          <a:bodyPr wrap="square" lIns="127000" tIns="88900" rIns="508" bIns="63500" rtlCol="0" anchor="t">
            <a:normAutofit/>
          </a:bodyPr>
          <a:lstStyle/>
          <a:p>
            <a:pPr algn="l" indent="0" marL="0">
              <a:lnSpc>
                <a:spcPts val="1960"/>
              </a:lnSpc>
              <a:buNone/>
            </a:pPr>
            <a:r>
              <a:rPr lang="en-US" sz="1400" b="1" dirty="0">
                <a:solidFill>
                  <a:srgbClr val="10181D"/>
                </a:solidFill>
                <a:latin typeface="IBM Plex Sans" pitchFamily="34" charset="0"/>
                <a:ea typeface="IBM Plex Sans" pitchFamily="34" charset="-122"/>
                <a:cs typeface="IBM Plex Sans" pitchFamily="34" charset="-120"/>
              </a:rPr>
              <a:t>In the demo</a:t>
            </a:r>
            <a:endParaRPr lang="en-US" sz="1400" dirty="0"/>
          </a:p>
        </p:txBody>
      </p:sp>
      <p:sp>
        <p:nvSpPr>
          <p:cNvPr id="7" name="Shape 5"/>
          <p:cNvSpPr/>
          <p:nvPr/>
        </p:nvSpPr>
        <p:spPr>
          <a:xfrm>
            <a:off x="812800" y="2741166"/>
            <a:ext cx="3302000" cy="0"/>
          </a:xfrm>
          <a:prstGeom prst="line">
            <a:avLst/>
          </a:prstGeom>
          <a:noFill/>
          <a:ln w="6350">
            <a:solidFill>
              <a:srgbClr val="D5DDDA"/>
            </a:solidFill>
            <a:prstDash val="solid"/>
          </a:ln>
        </p:spPr>
      </p:sp>
      <p:sp>
        <p:nvSpPr>
          <p:cNvPr id="8" name="Text 6"/>
          <p:cNvSpPr/>
          <p:nvPr/>
        </p:nvSpPr>
        <p:spPr>
          <a:xfrm>
            <a:off x="939800" y="2400201"/>
            <a:ext cx="3139440" cy="27429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6B58"/>
                </a:solidFill>
                <a:latin typeface="IBM Plex Mono" pitchFamily="49" charset="0"/>
                <a:ea typeface="IBM Plex Mono" pitchFamily="49" charset="-122"/>
                <a:cs typeface="IBM Plex Mono" pitchFamily="49" charset="-120"/>
              </a:rPr>
              <a:t>before_agent_callback</a:t>
            </a:r>
            <a:endParaRPr lang="en-US" sz="1300" dirty="0"/>
          </a:p>
        </p:txBody>
      </p:sp>
      <p:sp>
        <p:nvSpPr>
          <p:cNvPr id="9" name="Shape 7"/>
          <p:cNvSpPr/>
          <p:nvPr/>
        </p:nvSpPr>
        <p:spPr>
          <a:xfrm>
            <a:off x="4114800" y="2741166"/>
            <a:ext cx="2794000" cy="0"/>
          </a:xfrm>
          <a:prstGeom prst="line">
            <a:avLst/>
          </a:prstGeom>
          <a:noFill/>
          <a:ln w="6350">
            <a:solidFill>
              <a:srgbClr val="D5DDDA"/>
            </a:solidFill>
            <a:prstDash val="solid"/>
          </a:ln>
        </p:spPr>
      </p:sp>
      <p:sp>
        <p:nvSpPr>
          <p:cNvPr id="10" name="Text 8"/>
          <p:cNvSpPr/>
          <p:nvPr/>
        </p:nvSpPr>
        <p:spPr>
          <a:xfrm>
            <a:off x="4241800" y="2400201"/>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before an agent starts</a:t>
            </a:r>
            <a:endParaRPr lang="en-US" sz="1400" dirty="0"/>
          </a:p>
        </p:txBody>
      </p:sp>
      <p:sp>
        <p:nvSpPr>
          <p:cNvPr id="11" name="Shape 9"/>
          <p:cNvSpPr/>
          <p:nvPr/>
        </p:nvSpPr>
        <p:spPr>
          <a:xfrm>
            <a:off x="6908800" y="2741166"/>
            <a:ext cx="4470400" cy="0"/>
          </a:xfrm>
          <a:prstGeom prst="line">
            <a:avLst/>
          </a:prstGeom>
          <a:noFill/>
          <a:ln w="6350">
            <a:solidFill>
              <a:srgbClr val="D5DDDA"/>
            </a:solidFill>
            <a:prstDash val="solid"/>
          </a:ln>
        </p:spPr>
      </p:sp>
      <p:sp>
        <p:nvSpPr>
          <p:cNvPr id="12" name="Text 10"/>
          <p:cNvSpPr/>
          <p:nvPr/>
        </p:nvSpPr>
        <p:spPr>
          <a:xfrm>
            <a:off x="7035800" y="2400201"/>
            <a:ext cx="43428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phase 4: skips the reviewer without evidence</a:t>
            </a:r>
            <a:endParaRPr lang="en-US" sz="1400" dirty="0"/>
          </a:p>
        </p:txBody>
      </p:sp>
      <p:sp>
        <p:nvSpPr>
          <p:cNvPr id="13" name="Shape 11"/>
          <p:cNvSpPr/>
          <p:nvPr/>
        </p:nvSpPr>
        <p:spPr>
          <a:xfrm>
            <a:off x="812800" y="3174206"/>
            <a:ext cx="3302000" cy="0"/>
          </a:xfrm>
          <a:prstGeom prst="line">
            <a:avLst/>
          </a:prstGeom>
          <a:noFill/>
          <a:ln w="6350">
            <a:solidFill>
              <a:srgbClr val="D5DDDA"/>
            </a:solidFill>
            <a:prstDash val="solid"/>
          </a:ln>
        </p:spPr>
      </p:sp>
      <p:sp>
        <p:nvSpPr>
          <p:cNvPr id="14" name="Text 12"/>
          <p:cNvSpPr/>
          <p:nvPr/>
        </p:nvSpPr>
        <p:spPr>
          <a:xfrm>
            <a:off x="939800" y="2833241"/>
            <a:ext cx="3139440" cy="27429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6B58"/>
                </a:solidFill>
                <a:latin typeface="IBM Plex Mono" pitchFamily="49" charset="0"/>
                <a:ea typeface="IBM Plex Mono" pitchFamily="49" charset="-122"/>
                <a:cs typeface="IBM Plex Mono" pitchFamily="49" charset="-120"/>
              </a:rPr>
              <a:t>before_model_callback</a:t>
            </a:r>
            <a:endParaRPr lang="en-US" sz="1300" dirty="0"/>
          </a:p>
        </p:txBody>
      </p:sp>
      <p:sp>
        <p:nvSpPr>
          <p:cNvPr id="15" name="Shape 13"/>
          <p:cNvSpPr/>
          <p:nvPr/>
        </p:nvSpPr>
        <p:spPr>
          <a:xfrm>
            <a:off x="4114800" y="3174206"/>
            <a:ext cx="2794000" cy="0"/>
          </a:xfrm>
          <a:prstGeom prst="line">
            <a:avLst/>
          </a:prstGeom>
          <a:noFill/>
          <a:ln w="6350">
            <a:solidFill>
              <a:srgbClr val="D5DDDA"/>
            </a:solidFill>
            <a:prstDash val="solid"/>
          </a:ln>
        </p:spPr>
      </p:sp>
      <p:sp>
        <p:nvSpPr>
          <p:cNvPr id="16" name="Text 14"/>
          <p:cNvSpPr/>
          <p:nvPr/>
        </p:nvSpPr>
        <p:spPr>
          <a:xfrm>
            <a:off x="4241800" y="2833241"/>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before each model request</a:t>
            </a:r>
            <a:endParaRPr lang="en-US" sz="1400" dirty="0"/>
          </a:p>
        </p:txBody>
      </p:sp>
      <p:sp>
        <p:nvSpPr>
          <p:cNvPr id="17" name="Shape 15"/>
          <p:cNvSpPr/>
          <p:nvPr/>
        </p:nvSpPr>
        <p:spPr>
          <a:xfrm>
            <a:off x="6908800" y="3174206"/>
            <a:ext cx="4470400" cy="0"/>
          </a:xfrm>
          <a:prstGeom prst="line">
            <a:avLst/>
          </a:prstGeom>
          <a:noFill/>
          <a:ln w="6350">
            <a:solidFill>
              <a:srgbClr val="D5DDDA"/>
            </a:solidFill>
            <a:prstDash val="solid"/>
          </a:ln>
        </p:spPr>
      </p:sp>
      <p:sp>
        <p:nvSpPr>
          <p:cNvPr id="18" name="Text 16"/>
          <p:cNvSpPr/>
          <p:nvPr/>
        </p:nvSpPr>
        <p:spPr>
          <a:xfrm>
            <a:off x="7035800" y="2833241"/>
            <a:ext cx="43428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phase 6: redacts secrets, counts the call</a:t>
            </a:r>
            <a:endParaRPr lang="en-US" sz="1400" dirty="0"/>
          </a:p>
        </p:txBody>
      </p:sp>
      <p:sp>
        <p:nvSpPr>
          <p:cNvPr id="19" name="Shape 17"/>
          <p:cNvSpPr/>
          <p:nvPr/>
        </p:nvSpPr>
        <p:spPr>
          <a:xfrm>
            <a:off x="812800" y="3607246"/>
            <a:ext cx="3302000" cy="0"/>
          </a:xfrm>
          <a:prstGeom prst="line">
            <a:avLst/>
          </a:prstGeom>
          <a:noFill/>
          <a:ln w="6350">
            <a:solidFill>
              <a:srgbClr val="D5DDDA"/>
            </a:solidFill>
            <a:prstDash val="solid"/>
          </a:ln>
        </p:spPr>
      </p:sp>
      <p:sp>
        <p:nvSpPr>
          <p:cNvPr id="20" name="Text 18"/>
          <p:cNvSpPr/>
          <p:nvPr/>
        </p:nvSpPr>
        <p:spPr>
          <a:xfrm>
            <a:off x="939800" y="3266281"/>
            <a:ext cx="3139440" cy="27429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6B58"/>
                </a:solidFill>
                <a:latin typeface="IBM Plex Mono" pitchFamily="49" charset="0"/>
                <a:ea typeface="IBM Plex Mono" pitchFamily="49" charset="-122"/>
                <a:cs typeface="IBM Plex Mono" pitchFamily="49" charset="-120"/>
              </a:rPr>
              <a:t>after_model_callback</a:t>
            </a:r>
            <a:endParaRPr lang="en-US" sz="1300" dirty="0"/>
          </a:p>
        </p:txBody>
      </p:sp>
      <p:sp>
        <p:nvSpPr>
          <p:cNvPr id="21" name="Shape 19"/>
          <p:cNvSpPr/>
          <p:nvPr/>
        </p:nvSpPr>
        <p:spPr>
          <a:xfrm>
            <a:off x="4114800" y="3607246"/>
            <a:ext cx="2794000" cy="0"/>
          </a:xfrm>
          <a:prstGeom prst="line">
            <a:avLst/>
          </a:prstGeom>
          <a:noFill/>
          <a:ln w="6350">
            <a:solidFill>
              <a:srgbClr val="D5DDDA"/>
            </a:solidFill>
            <a:prstDash val="solid"/>
          </a:ln>
        </p:spPr>
      </p:sp>
      <p:sp>
        <p:nvSpPr>
          <p:cNvPr id="22" name="Text 20"/>
          <p:cNvSpPr/>
          <p:nvPr/>
        </p:nvSpPr>
        <p:spPr>
          <a:xfrm>
            <a:off x="4241800" y="3266281"/>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after each model answer</a:t>
            </a:r>
            <a:endParaRPr lang="en-US" sz="1400" dirty="0"/>
          </a:p>
        </p:txBody>
      </p:sp>
      <p:sp>
        <p:nvSpPr>
          <p:cNvPr id="23" name="Shape 21"/>
          <p:cNvSpPr/>
          <p:nvPr/>
        </p:nvSpPr>
        <p:spPr>
          <a:xfrm>
            <a:off x="6908800" y="3607246"/>
            <a:ext cx="4470400" cy="0"/>
          </a:xfrm>
          <a:prstGeom prst="line">
            <a:avLst/>
          </a:prstGeom>
          <a:noFill/>
          <a:ln w="6350">
            <a:solidFill>
              <a:srgbClr val="D5DDDA"/>
            </a:solidFill>
            <a:prstDash val="solid"/>
          </a:ln>
        </p:spPr>
      </p:sp>
      <p:sp>
        <p:nvSpPr>
          <p:cNvPr id="24" name="Text 22"/>
          <p:cNvSpPr/>
          <p:nvPr/>
        </p:nvSpPr>
        <p:spPr>
          <a:xfrm>
            <a:off x="7035800" y="3266281"/>
            <a:ext cx="43428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phase 6: counts tokens for the spend line</a:t>
            </a:r>
            <a:endParaRPr lang="en-US" sz="1400" dirty="0"/>
          </a:p>
        </p:txBody>
      </p:sp>
      <p:sp>
        <p:nvSpPr>
          <p:cNvPr id="25" name="Shape 23"/>
          <p:cNvSpPr/>
          <p:nvPr/>
        </p:nvSpPr>
        <p:spPr>
          <a:xfrm>
            <a:off x="812800" y="4040287"/>
            <a:ext cx="3302000" cy="0"/>
          </a:xfrm>
          <a:prstGeom prst="line">
            <a:avLst/>
          </a:prstGeom>
          <a:noFill/>
          <a:ln w="6350">
            <a:solidFill>
              <a:srgbClr val="D5DDDA"/>
            </a:solidFill>
            <a:prstDash val="solid"/>
          </a:ln>
        </p:spPr>
      </p:sp>
      <p:sp>
        <p:nvSpPr>
          <p:cNvPr id="26" name="Text 24"/>
          <p:cNvSpPr/>
          <p:nvPr/>
        </p:nvSpPr>
        <p:spPr>
          <a:xfrm>
            <a:off x="939800" y="3699321"/>
            <a:ext cx="3139440" cy="27429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6B58"/>
                </a:solidFill>
                <a:latin typeface="IBM Plex Mono" pitchFamily="49" charset="0"/>
                <a:ea typeface="IBM Plex Mono" pitchFamily="49" charset="-122"/>
                <a:cs typeface="IBM Plex Mono" pitchFamily="49" charset="-120"/>
              </a:rPr>
              <a:t>on_model_error_callback</a:t>
            </a:r>
            <a:endParaRPr lang="en-US" sz="1300" dirty="0"/>
          </a:p>
        </p:txBody>
      </p:sp>
      <p:sp>
        <p:nvSpPr>
          <p:cNvPr id="27" name="Shape 25"/>
          <p:cNvSpPr/>
          <p:nvPr/>
        </p:nvSpPr>
        <p:spPr>
          <a:xfrm>
            <a:off x="4114800" y="4040287"/>
            <a:ext cx="2794000" cy="0"/>
          </a:xfrm>
          <a:prstGeom prst="line">
            <a:avLst/>
          </a:prstGeom>
          <a:noFill/>
          <a:ln w="6350">
            <a:solidFill>
              <a:srgbClr val="D5DDDA"/>
            </a:solidFill>
            <a:prstDash val="solid"/>
          </a:ln>
        </p:spPr>
      </p:sp>
      <p:sp>
        <p:nvSpPr>
          <p:cNvPr id="28" name="Text 26"/>
          <p:cNvSpPr/>
          <p:nvPr/>
        </p:nvSpPr>
        <p:spPr>
          <a:xfrm>
            <a:off x="4241800" y="3699321"/>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when the provider fails</a:t>
            </a:r>
            <a:endParaRPr lang="en-US" sz="1400" dirty="0"/>
          </a:p>
        </p:txBody>
      </p:sp>
      <p:sp>
        <p:nvSpPr>
          <p:cNvPr id="29" name="Shape 27"/>
          <p:cNvSpPr/>
          <p:nvPr/>
        </p:nvSpPr>
        <p:spPr>
          <a:xfrm>
            <a:off x="6908800" y="4040287"/>
            <a:ext cx="4470400" cy="0"/>
          </a:xfrm>
          <a:prstGeom prst="line">
            <a:avLst/>
          </a:prstGeom>
          <a:noFill/>
          <a:ln w="6350">
            <a:solidFill>
              <a:srgbClr val="D5DDDA"/>
            </a:solidFill>
            <a:prstDash val="solid"/>
          </a:ln>
        </p:spPr>
      </p:sp>
      <p:sp>
        <p:nvSpPr>
          <p:cNvPr id="30" name="Text 28"/>
          <p:cNvSpPr/>
          <p:nvPr/>
        </p:nvSpPr>
        <p:spPr>
          <a:xfrm>
            <a:off x="7035800" y="3699321"/>
            <a:ext cx="43428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phase 4: a sentence instead of a traceback</a:t>
            </a:r>
            <a:endParaRPr lang="en-US" sz="1400" dirty="0"/>
          </a:p>
        </p:txBody>
      </p:sp>
      <p:sp>
        <p:nvSpPr>
          <p:cNvPr id="31" name="Shape 29"/>
          <p:cNvSpPr/>
          <p:nvPr/>
        </p:nvSpPr>
        <p:spPr>
          <a:xfrm>
            <a:off x="812800" y="4473327"/>
            <a:ext cx="3302000" cy="0"/>
          </a:xfrm>
          <a:prstGeom prst="line">
            <a:avLst/>
          </a:prstGeom>
          <a:noFill/>
          <a:ln w="6350">
            <a:solidFill>
              <a:srgbClr val="D5DDDA"/>
            </a:solidFill>
            <a:prstDash val="solid"/>
          </a:ln>
        </p:spPr>
      </p:sp>
      <p:sp>
        <p:nvSpPr>
          <p:cNvPr id="32" name="Text 30"/>
          <p:cNvSpPr/>
          <p:nvPr/>
        </p:nvSpPr>
        <p:spPr>
          <a:xfrm>
            <a:off x="939800" y="4132362"/>
            <a:ext cx="3139440" cy="27429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6B58"/>
                </a:solidFill>
                <a:latin typeface="IBM Plex Mono" pitchFamily="49" charset="0"/>
                <a:ea typeface="IBM Plex Mono" pitchFamily="49" charset="-122"/>
                <a:cs typeface="IBM Plex Mono" pitchFamily="49" charset="-120"/>
              </a:rPr>
              <a:t>before_tool_callback</a:t>
            </a:r>
            <a:endParaRPr lang="en-US" sz="1300" dirty="0"/>
          </a:p>
        </p:txBody>
      </p:sp>
      <p:sp>
        <p:nvSpPr>
          <p:cNvPr id="33" name="Shape 31"/>
          <p:cNvSpPr/>
          <p:nvPr/>
        </p:nvSpPr>
        <p:spPr>
          <a:xfrm>
            <a:off x="4114800" y="4473327"/>
            <a:ext cx="2794000" cy="0"/>
          </a:xfrm>
          <a:prstGeom prst="line">
            <a:avLst/>
          </a:prstGeom>
          <a:noFill/>
          <a:ln w="6350">
            <a:solidFill>
              <a:srgbClr val="D5DDDA"/>
            </a:solidFill>
            <a:prstDash val="solid"/>
          </a:ln>
        </p:spPr>
      </p:sp>
      <p:sp>
        <p:nvSpPr>
          <p:cNvPr id="34" name="Text 32"/>
          <p:cNvSpPr/>
          <p:nvPr/>
        </p:nvSpPr>
        <p:spPr>
          <a:xfrm>
            <a:off x="4241800" y="4132362"/>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before each tool call</a:t>
            </a:r>
            <a:endParaRPr lang="en-US" sz="1400" dirty="0"/>
          </a:p>
        </p:txBody>
      </p:sp>
      <p:sp>
        <p:nvSpPr>
          <p:cNvPr id="35" name="Shape 33"/>
          <p:cNvSpPr/>
          <p:nvPr/>
        </p:nvSpPr>
        <p:spPr>
          <a:xfrm>
            <a:off x="6908800" y="4473327"/>
            <a:ext cx="4470400" cy="0"/>
          </a:xfrm>
          <a:prstGeom prst="line">
            <a:avLst/>
          </a:prstGeom>
          <a:noFill/>
          <a:ln w="6350">
            <a:solidFill>
              <a:srgbClr val="D5DDDA"/>
            </a:solidFill>
            <a:prstDash val="solid"/>
          </a:ln>
        </p:spPr>
      </p:sp>
      <p:sp>
        <p:nvSpPr>
          <p:cNvPr id="36" name="Text 34"/>
          <p:cNvSpPr/>
          <p:nvPr/>
        </p:nvSpPr>
        <p:spPr>
          <a:xfrm>
            <a:off x="7035800" y="4132362"/>
            <a:ext cx="43428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phase 3: the path guardrail</a:t>
            </a:r>
            <a:endParaRPr lang="en-US" sz="1400" dirty="0"/>
          </a:p>
        </p:txBody>
      </p:sp>
      <p:sp>
        <p:nvSpPr>
          <p:cNvPr id="37" name="Shape 35"/>
          <p:cNvSpPr/>
          <p:nvPr/>
        </p:nvSpPr>
        <p:spPr>
          <a:xfrm>
            <a:off x="812800" y="4906367"/>
            <a:ext cx="3302000" cy="0"/>
          </a:xfrm>
          <a:prstGeom prst="line">
            <a:avLst/>
          </a:prstGeom>
          <a:noFill/>
          <a:ln w="6350">
            <a:solidFill>
              <a:srgbClr val="D5DDDA"/>
            </a:solidFill>
            <a:prstDash val="solid"/>
          </a:ln>
        </p:spPr>
      </p:sp>
      <p:sp>
        <p:nvSpPr>
          <p:cNvPr id="38" name="Text 36"/>
          <p:cNvSpPr/>
          <p:nvPr/>
        </p:nvSpPr>
        <p:spPr>
          <a:xfrm>
            <a:off x="939800" y="4565402"/>
            <a:ext cx="3139440" cy="27429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6B58"/>
                </a:solidFill>
                <a:latin typeface="IBM Plex Mono" pitchFamily="49" charset="0"/>
                <a:ea typeface="IBM Plex Mono" pitchFamily="49" charset="-122"/>
                <a:cs typeface="IBM Plex Mono" pitchFamily="49" charset="-120"/>
              </a:rPr>
              <a:t>after_tool_callback</a:t>
            </a:r>
            <a:endParaRPr lang="en-US" sz="1300" dirty="0"/>
          </a:p>
        </p:txBody>
      </p:sp>
      <p:sp>
        <p:nvSpPr>
          <p:cNvPr id="39" name="Shape 37"/>
          <p:cNvSpPr/>
          <p:nvPr/>
        </p:nvSpPr>
        <p:spPr>
          <a:xfrm>
            <a:off x="4114800" y="4906367"/>
            <a:ext cx="2794000" cy="0"/>
          </a:xfrm>
          <a:prstGeom prst="line">
            <a:avLst/>
          </a:prstGeom>
          <a:noFill/>
          <a:ln w="6350">
            <a:solidFill>
              <a:srgbClr val="D5DDDA"/>
            </a:solidFill>
            <a:prstDash val="solid"/>
          </a:ln>
        </p:spPr>
      </p:sp>
      <p:sp>
        <p:nvSpPr>
          <p:cNvPr id="40" name="Text 38"/>
          <p:cNvSpPr/>
          <p:nvPr/>
        </p:nvSpPr>
        <p:spPr>
          <a:xfrm>
            <a:off x="4241800" y="4565402"/>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after each tool result</a:t>
            </a:r>
            <a:endParaRPr lang="en-US" sz="1400" dirty="0"/>
          </a:p>
        </p:txBody>
      </p:sp>
      <p:sp>
        <p:nvSpPr>
          <p:cNvPr id="41" name="Shape 39"/>
          <p:cNvSpPr/>
          <p:nvPr/>
        </p:nvSpPr>
        <p:spPr>
          <a:xfrm>
            <a:off x="6908800" y="4906367"/>
            <a:ext cx="4470400" cy="0"/>
          </a:xfrm>
          <a:prstGeom prst="line">
            <a:avLst/>
          </a:prstGeom>
          <a:noFill/>
          <a:ln w="6350">
            <a:solidFill>
              <a:srgbClr val="D5DDDA"/>
            </a:solidFill>
            <a:prstDash val="solid"/>
          </a:ln>
        </p:spPr>
      </p:sp>
      <p:sp>
        <p:nvSpPr>
          <p:cNvPr id="42" name="Text 40"/>
          <p:cNvSpPr/>
          <p:nvPr/>
        </p:nvSpPr>
        <p:spPr>
          <a:xfrm>
            <a:off x="7035800" y="4565402"/>
            <a:ext cx="43428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phase 6: redacts what tools return</a:t>
            </a:r>
            <a:endParaRPr lang="en-US" sz="1400" dirty="0"/>
          </a:p>
        </p:txBody>
      </p:sp>
      <p:sp>
        <p:nvSpPr>
          <p:cNvPr id="43" name="Text 41"/>
          <p:cNvSpPr/>
          <p:nvPr/>
        </p:nvSpPr>
        <p:spPr>
          <a:xfrm>
            <a:off x="812800" y="5163542"/>
            <a:ext cx="1088339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IBM Plex Sans" pitchFamily="34" charset="0"/>
                <a:ea typeface="IBM Plex Sans" pitchFamily="34" charset="-122"/>
                <a:cs typeface="IBM Plex Sans" pitchFamily="34" charset="-120"/>
              </a:rPr>
              <a:t>Return nothing and the step runs. Return a value and it replaces the step.</a:t>
            </a:r>
            <a:endParaRPr lang="en-US" sz="1600" dirty="0"/>
          </a:p>
        </p:txBody>
      </p:sp>
      <p:sp>
        <p:nvSpPr>
          <p:cNvPr id="44" name="Text 42"/>
          <p:cNvSpPr/>
          <p:nvPr/>
        </p:nvSpPr>
        <p:spPr>
          <a:xfrm>
            <a:off x="812800" y="5514032"/>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 callback belongs to one agent. A plugin puts the same hooks on the whole App.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THE ITERATION MAP</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Each phase adds one ADK idea</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3088084"/>
        </p:xfrm>
        <a:graphic>
          <a:graphicData uri="http://schemas.openxmlformats.org/drawingml/2006/table">
            <a:tbl>
              <a:tblPr/>
              <a:tblGrid>
                <a:gridCol w="2321814"/>
                <a:gridCol w="4432554"/>
                <a:gridCol w="3799332"/>
              </a:tblGrid>
              <a:tr h="386011">
                <a:tc>
                  <a:txBody>
                    <a:bodyPr/>
                    <a:lstStyle/>
                    <a:p>
                      <a:pPr indent="0" marL="0">
                        <a:lnSpc>
                          <a:spcPts val="1960"/>
                        </a:lnSpc>
                        <a:buNone/>
                      </a:pPr>
                      <a:r>
                        <a:rPr lang="en-US" sz="1400" b="1" dirty="0">
                          <a:solidFill>
                            <a:srgbClr val="10181D"/>
                          </a:solidFill>
                          <a:latin typeface="IBM Plex Sans" pitchFamily="34" charset="0"/>
                          <a:ea typeface="IBM Plex Sans" pitchFamily="34" charset="-122"/>
                          <a:cs typeface="IBM Plex Sans" pitchFamily="34" charset="-120"/>
                        </a:rPr>
                        <a:t>Phase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7"/>
                    </a:solidFill>
                  </a:tcPr>
                </a:tc>
                <a:tc>
                  <a:txBody>
                    <a:bodyPr/>
                    <a:lstStyle/>
                    <a:p>
                      <a:pPr indent="0" marL="0">
                        <a:lnSpc>
                          <a:spcPts val="1960"/>
                        </a:lnSpc>
                        <a:buNone/>
                      </a:pPr>
                      <a:r>
                        <a:rPr lang="en-US" sz="1400" b="1" dirty="0">
                          <a:solidFill>
                            <a:srgbClr val="10181D"/>
                          </a:solidFill>
                          <a:latin typeface="IBM Plex Sans" pitchFamily="34" charset="0"/>
                          <a:ea typeface="IBM Plex Sans" pitchFamily="34" charset="-122"/>
                          <a:cs typeface="IBM Plex Sans" pitchFamily="34" charset="-120"/>
                        </a:rPr>
                        <a:t>New ADK idea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7"/>
                    </a:solidFill>
                  </a:tcPr>
                </a:tc>
                <a:tc>
                  <a:txBody>
                    <a:bodyPr/>
                    <a:lstStyle/>
                    <a:p>
                      <a:pPr indent="0" marL="0">
                        <a:lnSpc>
                          <a:spcPts val="1960"/>
                        </a:lnSpc>
                        <a:buNone/>
                      </a:pPr>
                      <a:r>
                        <a:rPr lang="en-US" sz="1400" b="1" dirty="0">
                          <a:solidFill>
                            <a:srgbClr val="10181D"/>
                          </a:solidFill>
                          <a:latin typeface="IBM Plex Sans" pitchFamily="34" charset="0"/>
                          <a:ea typeface="IBM Plex Sans" pitchFamily="34" charset="-122"/>
                          <a:cs typeface="IBM Plex Sans" pitchFamily="34" charset="-120"/>
                        </a:rPr>
                        <a:t>Answers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7"/>
                    </a:solidFill>
                  </a:tcPr>
                </a:tc>
              </a:tr>
              <a:tr h="386011">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1 · Hello world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Agent, root_agent, adk web and adk run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one agent, two providers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2 · Preflight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 function tool, the {status} envelope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“Do this repo and branch exist?”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3 · Changed files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ToolContext.state, before_tool_callback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“What did the branch change?”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4 · First review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Workflow, output_key → {diff}, output_schema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“Is this change OK?”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5 · Parallel lanes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fan-out, JoinNode, max_concurrency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three opinions at once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6 · The reviewer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App and plugins, the verdict in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an exit code a build can trust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5E6D78"/>
                          </a:solidFill>
                          <a:latin typeface="IBM Plex Sans" pitchFamily="34" charset="0"/>
                          <a:ea typeface="IBM Plex Sans" pitchFamily="34" charset="-122"/>
                          <a:cs typeface="IBM Plex Sans" pitchFamily="34" charset="-120"/>
                        </a:rPr>
                        <a:t>7 · Hardened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5E6D78"/>
                          </a:solidFill>
                          <a:latin typeface="IBM Plex Sans" pitchFamily="34" charset="0"/>
                          <a:ea typeface="IBM Plex Sans" pitchFamily="34" charset="-122"/>
                          <a:cs typeface="IBM Plex Sans" pitchFamily="34" charset="-120"/>
                        </a:rPr>
                        <a:t>layers, retries, gates, rules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5E6D78"/>
                          </a:solidFill>
                          <a:latin typeface="IBM Plex Sans" pitchFamily="34" charset="0"/>
                          <a:ea typeface="IBM Plex Sans" pitchFamily="34" charset="-122"/>
                          <a:cs typeface="IBM Plex Sans" pitchFamily="34" charset="-120"/>
                        </a:rPr>
                        <a:t>self-study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bl>
          </a:graphicData>
        </a:graphic>
      </p:graphicFrame>
      <p:sp>
        <p:nvSpPr>
          <p:cNvPr id="5" name="Text 2"/>
          <p:cNvSpPr/>
          <p:nvPr/>
        </p:nvSpPr>
        <p:spPr>
          <a:xfrm>
            <a:off x="812800" y="5340995"/>
            <a:ext cx="234796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81D"/>
                </a:solidFill>
                <a:latin typeface="IBM Plex Sans" pitchFamily="34" charset="0"/>
                <a:ea typeface="IBM Plex Sans" pitchFamily="34" charset="-122"/>
                <a:cs typeface="IBM Plex Sans" pitchFamily="34" charset="-120"/>
              </a:rPr>
              <a:t>One phase's lesson, exactly:</a:t>
            </a:r>
            <a:endParaRPr lang="en-US" sz="1400" dirty="0"/>
          </a:p>
        </p:txBody>
      </p:sp>
      <p:sp>
        <p:nvSpPr>
          <p:cNvPr id="6" name="Text 3"/>
          <p:cNvSpPr/>
          <p:nvPr/>
        </p:nvSpPr>
        <p:spPr>
          <a:xfrm>
            <a:off x="3160762" y="5356870"/>
            <a:ext cx="772668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6B58"/>
                </a:solidFill>
                <a:latin typeface="IBM Plex Mono" pitchFamily="49" charset="0"/>
                <a:ea typeface="IBM Plex Mono" pitchFamily="49" charset="-122"/>
                <a:cs typeface="IBM Plex Mono" pitchFamily="49" charset="-120"/>
              </a:rPr>
              <a:t>git diff --no-index -- phase_3_changed_files phase_4_first_review</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D6B58"/>
        </a:solidFill>
      </p:bgPr>
    </p:bg>
    <p:spTree>
      <p:nvGrpSpPr>
        <p:cNvPr id="1" name=""/>
        <p:cNvGrpSpPr/>
        <p:nvPr/>
      </p:nvGrpSpPr>
      <p:grpSpPr>
        <a:xfrm>
          <a:off x="0" y="0"/>
          <a:ext cx="0" cy="0"/>
          <a:chOff x="0" y="0"/>
          <a:chExt cx="0" cy="0"/>
        </a:xfrm>
      </p:grpSpPr>
      <p:sp>
        <p:nvSpPr>
          <p:cNvPr id="2" name="Text 0"/>
          <p:cNvSpPr/>
          <p:nvPr/>
        </p:nvSpPr>
        <p:spPr>
          <a:xfrm>
            <a:off x="812800" y="167263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FE3D6"/>
                </a:solidFill>
                <a:latin typeface="IBM Plex Mono" pitchFamily="49" charset="0"/>
                <a:ea typeface="IBM Plex Mono" pitchFamily="49" charset="-122"/>
                <a:cs typeface="IBM Plex Mono" pitchFamily="49" charset="-120"/>
              </a:rPr>
              <a:t>THE THREAD THROUGH EVERY PHASE</a:t>
            </a:r>
            <a:endParaRPr lang="en-US" sz="1200" dirty="0"/>
          </a:p>
        </p:txBody>
      </p:sp>
      <p:sp>
        <p:nvSpPr>
          <p:cNvPr id="3" name="Text 1"/>
          <p:cNvSpPr/>
          <p:nvPr>
            <p:ph type="title"/>
          </p:nvPr>
        </p:nvSpPr>
        <p:spPr>
          <a:xfrm>
            <a:off x="812800" y="219075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6F5"/>
                </a:solidFill>
                <a:latin typeface="Bricolage Grotesque" pitchFamily="34" charset="0"/>
                <a:ea typeface="Bricolage Grotesque" pitchFamily="34" charset="-122"/>
                <a:cs typeface="Bricolage Grotesque" pitchFamily="34" charset="-120"/>
              </a:rPr>
              <a:t>Models judge.</a:t>
            </a:r>
            <a:endParaRPr lang="en-US" sz="6000" dirty="0"/>
          </a:p>
          <a:p>
            <a:pPr algn="l" indent="0" marL="0">
              <a:lnSpc>
                <a:spcPts val="6300"/>
              </a:lnSpc>
              <a:buNone/>
            </a:pPr>
            <a:r>
              <a:rPr lang="en-US" sz="6000" b="1" i="0" dirty="0">
                <a:solidFill>
                  <a:srgbClr val="F3F6F5"/>
                </a:solidFill>
                <a:latin typeface="Bricolage Grotesque" pitchFamily="34" charset="0"/>
                <a:ea typeface="Bricolage Grotesque" pitchFamily="34" charset="-122"/>
                <a:cs typeface="Bricolage Grotesque" pitchFamily="34" charset="-120"/>
              </a:rPr>
              <a:t>Code decides.</a:t>
            </a:r>
            <a:endParaRPr lang="en-US" sz="6000" dirty="0"/>
          </a:p>
        </p:txBody>
      </p:sp>
      <p:sp>
        <p:nvSpPr>
          <p:cNvPr id="4" name="Text 2"/>
          <p:cNvSpPr/>
          <p:nvPr/>
        </p:nvSpPr>
        <p:spPr>
          <a:xfrm>
            <a:off x="812800" y="4095750"/>
            <a:ext cx="9156700" cy="111497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DCEFE8"/>
                </a:solidFill>
                <a:latin typeface="IBM Plex Sans" pitchFamily="34" charset="0"/>
                <a:ea typeface="IBM Plex Sans" pitchFamily="34" charset="-122"/>
                <a:cs typeface="IBM Plex Sans" pitchFamily="34" charset="-120"/>
              </a:rPr>
              <a:t>We start with a model doing everything. Each phase moves one more decision into code, and that is what makes the agent deterministic and controllable.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CORE CONCEPTS · A FAIR COMPARISON · 1 OF 2</a:t>
            </a:r>
            <a:endParaRPr lang="en-US" sz="1200" dirty="0"/>
          </a:p>
        </p:txBody>
      </p:sp>
      <p:sp>
        <p:nvSpPr>
          <p:cNvPr id="3" name="Text 1"/>
          <p:cNvSpPr/>
          <p:nvPr>
            <p:ph type="title"/>
          </p:nvPr>
        </p:nvSpPr>
        <p:spPr>
          <a:xfrm>
            <a:off x="812800" y="746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0181D"/>
                </a:solidFill>
                <a:latin typeface="Bricolage Grotesque" pitchFamily="34" charset="0"/>
                <a:ea typeface="Bricolage Grotesque" pitchFamily="34" charset="-122"/>
                <a:cs typeface="Bricolage Grotesque" pitchFamily="34" charset="-120"/>
              </a:rPr>
              <a:t>A single agent file or an ADK workflow?</a:t>
            </a:r>
            <a:endParaRPr lang="en-US" sz="3000" dirty="0"/>
          </a:p>
        </p:txBody>
      </p:sp>
      <p:sp>
        <p:nvSpPr>
          <p:cNvPr id="4" name="Text 2"/>
          <p:cNvSpPr/>
          <p:nvPr/>
        </p:nvSpPr>
        <p:spPr>
          <a:xfrm>
            <a:off x="812800" y="1318220"/>
            <a:ext cx="1905000" cy="580330"/>
          </a:xfrm>
          <a:prstGeom prst="rect">
            <a:avLst/>
          </a:prstGeom>
          <a:solidFill>
            <a:srgbClr val="E3EAE7"/>
          </a:solidFill>
          <a:ln/>
        </p:spPr>
        <p:txBody>
          <a:bodyPr wrap="square" lIns="114300" tIns="76200" rIns="63500" bIns="50800" rtlCol="0" anchor="t">
            <a:normAutofit/>
          </a:bodyPr>
          <a:lstStyle/>
          <a:p>
            <a:pPr algn="l" indent="0" marL="0">
              <a:lnSpc>
                <a:spcPts val="1690"/>
              </a:lnSpc>
              <a:buNone/>
            </a:pPr>
            <a:r>
              <a:rPr lang="en-US" sz="1300" b="1" dirty="0">
                <a:solidFill>
                  <a:srgbClr val="10181D"/>
                </a:solidFill>
                <a:latin typeface="IBM Plex Sans" pitchFamily="34" charset="0"/>
                <a:ea typeface="IBM Plex Sans" pitchFamily="34" charset="-122"/>
                <a:cs typeface="IBM Plex Sans" pitchFamily="34" charset="-120"/>
              </a:rPr>
              <a:t>Dimension</a:t>
            </a:r>
            <a:endParaRPr lang="en-US" sz="1300" dirty="0"/>
          </a:p>
        </p:txBody>
      </p:sp>
      <p:sp>
        <p:nvSpPr>
          <p:cNvPr id="5" name="Shape 3"/>
          <p:cNvSpPr/>
          <p:nvPr/>
        </p:nvSpPr>
        <p:spPr>
          <a:xfrm>
            <a:off x="2717800" y="1318220"/>
            <a:ext cx="4330700" cy="580330"/>
          </a:xfrm>
          <a:prstGeom prst="rect">
            <a:avLst/>
          </a:prstGeom>
          <a:solidFill>
            <a:srgbClr val="E3EAE7"/>
          </a:solidFill>
          <a:ln/>
        </p:spPr>
      </p:sp>
      <p:sp>
        <p:nvSpPr>
          <p:cNvPr id="6" name="Text 4"/>
          <p:cNvSpPr/>
          <p:nvPr/>
        </p:nvSpPr>
        <p:spPr>
          <a:xfrm>
            <a:off x="2832100" y="1394420"/>
            <a:ext cx="4225163"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0181D"/>
                </a:solidFill>
                <a:latin typeface="IBM Plex Sans" pitchFamily="34" charset="0"/>
                <a:ea typeface="IBM Plex Sans" pitchFamily="34" charset="-122"/>
                <a:cs typeface="IBM Plex Sans" pitchFamily="34" charset="-120"/>
              </a:rPr>
              <a:t>Single agent file</a:t>
            </a:r>
            <a:endParaRPr lang="en-US" sz="1300" dirty="0"/>
          </a:p>
        </p:txBody>
      </p:sp>
      <p:sp>
        <p:nvSpPr>
          <p:cNvPr id="7" name="Text 5"/>
          <p:cNvSpPr/>
          <p:nvPr/>
        </p:nvSpPr>
        <p:spPr>
          <a:xfrm>
            <a:off x="2832100" y="1609030"/>
            <a:ext cx="42251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1D"/>
                </a:solidFill>
                <a:latin typeface="IBM Plex Sans" pitchFamily="34" charset="0"/>
                <a:ea typeface="IBM Plex Sans" pitchFamily="34" charset="-122"/>
                <a:cs typeface="IBM Plex Sans" pitchFamily="34" charset="-120"/>
              </a:rPr>
              <a:t>the prompt defines the steps and flow</a:t>
            </a:r>
            <a:endParaRPr lang="en-US" sz="1200" dirty="0"/>
          </a:p>
        </p:txBody>
      </p:sp>
      <p:sp>
        <p:nvSpPr>
          <p:cNvPr id="8" name="Shape 6"/>
          <p:cNvSpPr/>
          <p:nvPr/>
        </p:nvSpPr>
        <p:spPr>
          <a:xfrm>
            <a:off x="7048500" y="1318220"/>
            <a:ext cx="4330700" cy="580330"/>
          </a:xfrm>
          <a:prstGeom prst="rect">
            <a:avLst/>
          </a:prstGeom>
          <a:solidFill>
            <a:srgbClr val="E3EAE7"/>
          </a:solidFill>
          <a:ln/>
        </p:spPr>
      </p:sp>
      <p:sp>
        <p:nvSpPr>
          <p:cNvPr id="9" name="Text 7"/>
          <p:cNvSpPr/>
          <p:nvPr/>
        </p:nvSpPr>
        <p:spPr>
          <a:xfrm>
            <a:off x="7162800" y="1394420"/>
            <a:ext cx="4225163"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0181D"/>
                </a:solidFill>
                <a:latin typeface="IBM Plex Sans" pitchFamily="34" charset="0"/>
                <a:ea typeface="IBM Plex Sans" pitchFamily="34" charset="-122"/>
                <a:cs typeface="IBM Plex Sans" pitchFamily="34" charset="-120"/>
              </a:rPr>
              <a:t>ADK workflow</a:t>
            </a:r>
            <a:endParaRPr lang="en-US" sz="1300" dirty="0"/>
          </a:p>
        </p:txBody>
      </p:sp>
      <p:sp>
        <p:nvSpPr>
          <p:cNvPr id="10" name="Text 8"/>
          <p:cNvSpPr/>
          <p:nvPr/>
        </p:nvSpPr>
        <p:spPr>
          <a:xfrm>
            <a:off x="7162800" y="1609030"/>
            <a:ext cx="42251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1D"/>
                </a:solidFill>
                <a:latin typeface="IBM Plex Sans" pitchFamily="34" charset="0"/>
                <a:ea typeface="IBM Plex Sans" pitchFamily="34" charset="-122"/>
                <a:cs typeface="IBM Plex Sans" pitchFamily="34" charset="-120"/>
              </a:rPr>
              <a:t>code defines the steps and flow</a:t>
            </a:r>
            <a:endParaRPr lang="en-US" sz="1200" dirty="0"/>
          </a:p>
        </p:txBody>
      </p:sp>
      <p:sp>
        <p:nvSpPr>
          <p:cNvPr id="11" name="Shape 9"/>
          <p:cNvSpPr/>
          <p:nvPr/>
        </p:nvSpPr>
        <p:spPr>
          <a:xfrm>
            <a:off x="812800" y="2568476"/>
            <a:ext cx="1905000" cy="0"/>
          </a:xfrm>
          <a:prstGeom prst="line">
            <a:avLst/>
          </a:prstGeom>
          <a:noFill/>
          <a:ln w="6350">
            <a:solidFill>
              <a:srgbClr val="D5DDDA"/>
            </a:solidFill>
            <a:prstDash val="solid"/>
          </a:ln>
        </p:spPr>
      </p:sp>
      <p:sp>
        <p:nvSpPr>
          <p:cNvPr id="12" name="Text 10"/>
          <p:cNvSpPr/>
          <p:nvPr/>
        </p:nvSpPr>
        <p:spPr>
          <a:xfrm>
            <a:off x="927100" y="2103338"/>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Development speed</a:t>
            </a:r>
            <a:endParaRPr lang="en-US" sz="1350" dirty="0"/>
          </a:p>
        </p:txBody>
      </p:sp>
      <p:sp>
        <p:nvSpPr>
          <p:cNvPr id="13" name="Shape 11"/>
          <p:cNvSpPr/>
          <p:nvPr/>
        </p:nvSpPr>
        <p:spPr>
          <a:xfrm>
            <a:off x="2717800" y="2568476"/>
            <a:ext cx="4330700" cy="0"/>
          </a:xfrm>
          <a:prstGeom prst="line">
            <a:avLst/>
          </a:prstGeom>
          <a:noFill/>
          <a:ln w="6350">
            <a:solidFill>
              <a:srgbClr val="D5DDDA"/>
            </a:solidFill>
            <a:prstDash val="solid"/>
          </a:ln>
        </p:spPr>
      </p:sp>
      <p:sp>
        <p:nvSpPr>
          <p:cNvPr id="14" name="Text 12"/>
          <p:cNvSpPr/>
          <p:nvPr/>
        </p:nvSpPr>
        <p:spPr>
          <a:xfrm>
            <a:off x="2832100" y="19620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15" name="Text 13"/>
          <p:cNvSpPr/>
          <p:nvPr/>
        </p:nvSpPr>
        <p:spPr>
          <a:xfrm>
            <a:off x="3035300" y="19620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Very fast to build and change</a:t>
            </a:r>
            <a:endParaRPr lang="en-US" sz="1350" dirty="0"/>
          </a:p>
        </p:txBody>
      </p:sp>
      <p:sp>
        <p:nvSpPr>
          <p:cNvPr id="16" name="Text 14"/>
          <p:cNvSpPr/>
          <p:nvPr/>
        </p:nvSpPr>
        <p:spPr>
          <a:xfrm>
            <a:off x="2832100" y="22446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17" name="Text 15"/>
          <p:cNvSpPr/>
          <p:nvPr/>
        </p:nvSpPr>
        <p:spPr>
          <a:xfrm>
            <a:off x="3035300" y="22446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Can get messy as it grows</a:t>
            </a:r>
            <a:endParaRPr lang="en-US" sz="1350" dirty="0"/>
          </a:p>
        </p:txBody>
      </p:sp>
      <p:sp>
        <p:nvSpPr>
          <p:cNvPr id="18" name="Shape 16"/>
          <p:cNvSpPr/>
          <p:nvPr/>
        </p:nvSpPr>
        <p:spPr>
          <a:xfrm>
            <a:off x="7048500" y="2568476"/>
            <a:ext cx="4330700" cy="0"/>
          </a:xfrm>
          <a:prstGeom prst="line">
            <a:avLst/>
          </a:prstGeom>
          <a:noFill/>
          <a:ln w="6350">
            <a:solidFill>
              <a:srgbClr val="D5DDDA"/>
            </a:solidFill>
            <a:prstDash val="solid"/>
          </a:ln>
        </p:spPr>
      </p:sp>
      <p:sp>
        <p:nvSpPr>
          <p:cNvPr id="19" name="Text 17"/>
          <p:cNvSpPr/>
          <p:nvPr/>
        </p:nvSpPr>
        <p:spPr>
          <a:xfrm>
            <a:off x="7162800" y="19620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20" name="Text 18"/>
          <p:cNvSpPr/>
          <p:nvPr/>
        </p:nvSpPr>
        <p:spPr>
          <a:xfrm>
            <a:off x="7366000" y="19620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More work up front</a:t>
            </a:r>
            <a:endParaRPr lang="en-US" sz="1350" dirty="0"/>
          </a:p>
        </p:txBody>
      </p:sp>
      <p:sp>
        <p:nvSpPr>
          <p:cNvPr id="21" name="Text 19"/>
          <p:cNvSpPr/>
          <p:nvPr/>
        </p:nvSpPr>
        <p:spPr>
          <a:xfrm>
            <a:off x="7162800" y="22446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22" name="Text 20"/>
          <p:cNvSpPr/>
          <p:nvPr/>
        </p:nvSpPr>
        <p:spPr>
          <a:xfrm>
            <a:off x="7366000" y="22446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Easier to grow cleanly over time</a:t>
            </a:r>
            <a:endParaRPr lang="en-US" sz="1350" dirty="0"/>
          </a:p>
        </p:txBody>
      </p:sp>
      <p:sp>
        <p:nvSpPr>
          <p:cNvPr id="23" name="Shape 21"/>
          <p:cNvSpPr/>
          <p:nvPr/>
        </p:nvSpPr>
        <p:spPr>
          <a:xfrm>
            <a:off x="812800" y="2959001"/>
            <a:ext cx="1905000" cy="0"/>
          </a:xfrm>
          <a:prstGeom prst="line">
            <a:avLst/>
          </a:prstGeom>
          <a:noFill/>
          <a:ln w="6350">
            <a:solidFill>
              <a:srgbClr val="D5DDDA"/>
            </a:solidFill>
            <a:prstDash val="solid"/>
          </a:ln>
        </p:spPr>
      </p:sp>
      <p:sp>
        <p:nvSpPr>
          <p:cNvPr id="24" name="Text 22"/>
          <p:cNvSpPr/>
          <p:nvPr/>
        </p:nvSpPr>
        <p:spPr>
          <a:xfrm>
            <a:off x="927100" y="2635151"/>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Determinism</a:t>
            </a:r>
            <a:endParaRPr lang="en-US" sz="1350" dirty="0"/>
          </a:p>
        </p:txBody>
      </p:sp>
      <p:sp>
        <p:nvSpPr>
          <p:cNvPr id="25" name="Shape 23"/>
          <p:cNvSpPr/>
          <p:nvPr/>
        </p:nvSpPr>
        <p:spPr>
          <a:xfrm>
            <a:off x="2717800" y="2959001"/>
            <a:ext cx="4330700" cy="0"/>
          </a:xfrm>
          <a:prstGeom prst="line">
            <a:avLst/>
          </a:prstGeom>
          <a:noFill/>
          <a:ln w="6350">
            <a:solidFill>
              <a:srgbClr val="D5DDDA"/>
            </a:solidFill>
            <a:prstDash val="solid"/>
          </a:ln>
        </p:spPr>
      </p:sp>
      <p:sp>
        <p:nvSpPr>
          <p:cNvPr id="26" name="Text 24"/>
          <p:cNvSpPr/>
          <p:nvPr/>
        </p:nvSpPr>
        <p:spPr>
          <a:xfrm>
            <a:off x="2832100" y="26351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27" name="Text 25"/>
          <p:cNvSpPr/>
          <p:nvPr/>
        </p:nvSpPr>
        <p:spPr>
          <a:xfrm>
            <a:off x="3035300" y="26351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The agent may skip, merge or reinterpret steps</a:t>
            </a:r>
            <a:endParaRPr lang="en-US" sz="1350" dirty="0"/>
          </a:p>
        </p:txBody>
      </p:sp>
      <p:sp>
        <p:nvSpPr>
          <p:cNvPr id="28" name="Shape 26"/>
          <p:cNvSpPr/>
          <p:nvPr/>
        </p:nvSpPr>
        <p:spPr>
          <a:xfrm>
            <a:off x="7048500" y="2959001"/>
            <a:ext cx="4330700" cy="0"/>
          </a:xfrm>
          <a:prstGeom prst="line">
            <a:avLst/>
          </a:prstGeom>
          <a:noFill/>
          <a:ln w="6350">
            <a:solidFill>
              <a:srgbClr val="D5DDDA"/>
            </a:solidFill>
            <a:prstDash val="solid"/>
          </a:ln>
        </p:spPr>
      </p:sp>
      <p:sp>
        <p:nvSpPr>
          <p:cNvPr id="29" name="Text 27"/>
          <p:cNvSpPr/>
          <p:nvPr/>
        </p:nvSpPr>
        <p:spPr>
          <a:xfrm>
            <a:off x="7162800" y="26351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30" name="Text 28"/>
          <p:cNvSpPr/>
          <p:nvPr/>
        </p:nvSpPr>
        <p:spPr>
          <a:xfrm>
            <a:off x="7366000" y="26351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Steps run exactly as coded</a:t>
            </a:r>
            <a:endParaRPr lang="en-US" sz="1350" dirty="0"/>
          </a:p>
        </p:txBody>
      </p:sp>
      <p:sp>
        <p:nvSpPr>
          <p:cNvPr id="31" name="Shape 29"/>
          <p:cNvSpPr/>
          <p:nvPr/>
        </p:nvSpPr>
        <p:spPr>
          <a:xfrm>
            <a:off x="812800" y="3632101"/>
            <a:ext cx="1905000" cy="0"/>
          </a:xfrm>
          <a:prstGeom prst="line">
            <a:avLst/>
          </a:prstGeom>
          <a:noFill/>
          <a:ln w="6350">
            <a:solidFill>
              <a:srgbClr val="D5DDDA"/>
            </a:solidFill>
            <a:prstDash val="solid"/>
          </a:ln>
        </p:spPr>
      </p:sp>
      <p:sp>
        <p:nvSpPr>
          <p:cNvPr id="32" name="Text 30"/>
          <p:cNvSpPr/>
          <p:nvPr/>
        </p:nvSpPr>
        <p:spPr>
          <a:xfrm>
            <a:off x="927100" y="3166963"/>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Reliability</a:t>
            </a:r>
            <a:endParaRPr lang="en-US" sz="1350" dirty="0"/>
          </a:p>
        </p:txBody>
      </p:sp>
      <p:sp>
        <p:nvSpPr>
          <p:cNvPr id="33" name="Shape 31"/>
          <p:cNvSpPr/>
          <p:nvPr/>
        </p:nvSpPr>
        <p:spPr>
          <a:xfrm>
            <a:off x="2717800" y="3632101"/>
            <a:ext cx="4330700" cy="0"/>
          </a:xfrm>
          <a:prstGeom prst="line">
            <a:avLst/>
          </a:prstGeom>
          <a:noFill/>
          <a:ln w="6350">
            <a:solidFill>
              <a:srgbClr val="D5DDDA"/>
            </a:solidFill>
            <a:prstDash val="solid"/>
          </a:ln>
        </p:spPr>
      </p:sp>
      <p:sp>
        <p:nvSpPr>
          <p:cNvPr id="34" name="Text 32"/>
          <p:cNvSpPr/>
          <p:nvPr/>
        </p:nvSpPr>
        <p:spPr>
          <a:xfrm>
            <a:off x="2832100" y="3166963"/>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35" name="Text 33"/>
          <p:cNvSpPr/>
          <p:nvPr/>
        </p:nvSpPr>
        <p:spPr>
          <a:xfrm>
            <a:off x="3035300" y="3166963"/>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Depends heavily on model behaviour</a:t>
            </a:r>
            <a:endParaRPr lang="en-US" sz="1350" dirty="0"/>
          </a:p>
        </p:txBody>
      </p:sp>
      <p:sp>
        <p:nvSpPr>
          <p:cNvPr id="36" name="Shape 34"/>
          <p:cNvSpPr/>
          <p:nvPr/>
        </p:nvSpPr>
        <p:spPr>
          <a:xfrm>
            <a:off x="7048500" y="3632101"/>
            <a:ext cx="4330700" cy="0"/>
          </a:xfrm>
          <a:prstGeom prst="line">
            <a:avLst/>
          </a:prstGeom>
          <a:noFill/>
          <a:ln w="6350">
            <a:solidFill>
              <a:srgbClr val="D5DDDA"/>
            </a:solidFill>
            <a:prstDash val="solid"/>
          </a:ln>
        </p:spPr>
      </p:sp>
      <p:sp>
        <p:nvSpPr>
          <p:cNvPr id="37" name="Text 35"/>
          <p:cNvSpPr/>
          <p:nvPr/>
        </p:nvSpPr>
        <p:spPr>
          <a:xfrm>
            <a:off x="7162800" y="302567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38" name="Text 36"/>
          <p:cNvSpPr/>
          <p:nvPr/>
        </p:nvSpPr>
        <p:spPr>
          <a:xfrm>
            <a:off x="7366000" y="302567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More predictable and consistent</a:t>
            </a:r>
            <a:endParaRPr lang="en-US" sz="1350" dirty="0"/>
          </a:p>
        </p:txBody>
      </p:sp>
      <p:sp>
        <p:nvSpPr>
          <p:cNvPr id="39" name="Text 37"/>
          <p:cNvSpPr/>
          <p:nvPr/>
        </p:nvSpPr>
        <p:spPr>
          <a:xfrm>
            <a:off x="7162800" y="33082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40" name="Text 38"/>
          <p:cNvSpPr/>
          <p:nvPr/>
        </p:nvSpPr>
        <p:spPr>
          <a:xfrm>
            <a:off x="7366000" y="33082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A failed step is reported, never approved</a:t>
            </a:r>
            <a:endParaRPr lang="en-US" sz="1350" dirty="0"/>
          </a:p>
        </p:txBody>
      </p:sp>
      <p:sp>
        <p:nvSpPr>
          <p:cNvPr id="41" name="Shape 39"/>
          <p:cNvSpPr/>
          <p:nvPr/>
        </p:nvSpPr>
        <p:spPr>
          <a:xfrm>
            <a:off x="812800" y="4022626"/>
            <a:ext cx="1905000" cy="0"/>
          </a:xfrm>
          <a:prstGeom prst="line">
            <a:avLst/>
          </a:prstGeom>
          <a:noFill/>
          <a:ln w="6350">
            <a:solidFill>
              <a:srgbClr val="D5DDDA"/>
            </a:solidFill>
            <a:prstDash val="solid"/>
          </a:ln>
        </p:spPr>
      </p:sp>
      <p:sp>
        <p:nvSpPr>
          <p:cNvPr id="42" name="Text 40"/>
          <p:cNvSpPr/>
          <p:nvPr/>
        </p:nvSpPr>
        <p:spPr>
          <a:xfrm>
            <a:off x="927100" y="3698776"/>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Control</a:t>
            </a:r>
            <a:endParaRPr lang="en-US" sz="1350" dirty="0"/>
          </a:p>
        </p:txBody>
      </p:sp>
      <p:sp>
        <p:nvSpPr>
          <p:cNvPr id="43" name="Shape 41"/>
          <p:cNvSpPr/>
          <p:nvPr/>
        </p:nvSpPr>
        <p:spPr>
          <a:xfrm>
            <a:off x="2717800" y="4022626"/>
            <a:ext cx="4330700" cy="0"/>
          </a:xfrm>
          <a:prstGeom prst="line">
            <a:avLst/>
          </a:prstGeom>
          <a:noFill/>
          <a:ln w="6350">
            <a:solidFill>
              <a:srgbClr val="D5DDDA"/>
            </a:solidFill>
            <a:prstDash val="solid"/>
          </a:ln>
        </p:spPr>
      </p:sp>
      <p:sp>
        <p:nvSpPr>
          <p:cNvPr id="44" name="Text 42"/>
          <p:cNvSpPr/>
          <p:nvPr/>
        </p:nvSpPr>
        <p:spPr>
          <a:xfrm>
            <a:off x="2832100" y="369877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45" name="Text 43"/>
          <p:cNvSpPr/>
          <p:nvPr/>
        </p:nvSpPr>
        <p:spPr>
          <a:xfrm>
            <a:off x="3035300" y="369877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Limited control over what runs, and when</a:t>
            </a:r>
            <a:endParaRPr lang="en-US" sz="1350" dirty="0"/>
          </a:p>
        </p:txBody>
      </p:sp>
      <p:sp>
        <p:nvSpPr>
          <p:cNvPr id="46" name="Shape 44"/>
          <p:cNvSpPr/>
          <p:nvPr/>
        </p:nvSpPr>
        <p:spPr>
          <a:xfrm>
            <a:off x="7048500" y="4022626"/>
            <a:ext cx="4330700" cy="0"/>
          </a:xfrm>
          <a:prstGeom prst="line">
            <a:avLst/>
          </a:prstGeom>
          <a:noFill/>
          <a:ln w="6350">
            <a:solidFill>
              <a:srgbClr val="D5DDDA"/>
            </a:solidFill>
            <a:prstDash val="solid"/>
          </a:ln>
        </p:spPr>
      </p:sp>
      <p:sp>
        <p:nvSpPr>
          <p:cNvPr id="47" name="Text 45"/>
          <p:cNvSpPr/>
          <p:nvPr/>
        </p:nvSpPr>
        <p:spPr>
          <a:xfrm>
            <a:off x="7162800" y="369877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48" name="Text 46"/>
          <p:cNvSpPr/>
          <p:nvPr/>
        </p:nvSpPr>
        <p:spPr>
          <a:xfrm>
            <a:off x="7366000" y="369877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Full control over order, retries and permissions</a:t>
            </a:r>
            <a:endParaRPr lang="en-US" sz="1350" dirty="0"/>
          </a:p>
        </p:txBody>
      </p:sp>
      <p:sp>
        <p:nvSpPr>
          <p:cNvPr id="49" name="Shape 47"/>
          <p:cNvSpPr/>
          <p:nvPr/>
        </p:nvSpPr>
        <p:spPr>
          <a:xfrm>
            <a:off x="812800" y="4413151"/>
            <a:ext cx="1905000" cy="0"/>
          </a:xfrm>
          <a:prstGeom prst="line">
            <a:avLst/>
          </a:prstGeom>
          <a:noFill/>
          <a:ln w="6350">
            <a:solidFill>
              <a:srgbClr val="D5DDDA"/>
            </a:solidFill>
            <a:prstDash val="solid"/>
          </a:ln>
        </p:spPr>
      </p:sp>
      <p:sp>
        <p:nvSpPr>
          <p:cNvPr id="50" name="Text 48"/>
          <p:cNvSpPr/>
          <p:nvPr/>
        </p:nvSpPr>
        <p:spPr>
          <a:xfrm>
            <a:off x="927100" y="4089301"/>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Observability</a:t>
            </a:r>
            <a:endParaRPr lang="en-US" sz="1350" dirty="0"/>
          </a:p>
        </p:txBody>
      </p:sp>
      <p:sp>
        <p:nvSpPr>
          <p:cNvPr id="51" name="Shape 49"/>
          <p:cNvSpPr/>
          <p:nvPr/>
        </p:nvSpPr>
        <p:spPr>
          <a:xfrm>
            <a:off x="2717800" y="4413151"/>
            <a:ext cx="4330700" cy="0"/>
          </a:xfrm>
          <a:prstGeom prst="line">
            <a:avLst/>
          </a:prstGeom>
          <a:noFill/>
          <a:ln w="6350">
            <a:solidFill>
              <a:srgbClr val="D5DDDA"/>
            </a:solidFill>
            <a:prstDash val="solid"/>
          </a:ln>
        </p:spPr>
      </p:sp>
      <p:sp>
        <p:nvSpPr>
          <p:cNvPr id="52" name="Text 50"/>
          <p:cNvSpPr/>
          <p:nvPr/>
        </p:nvSpPr>
        <p:spPr>
          <a:xfrm>
            <a:off x="2832100" y="408930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53" name="Text 51"/>
          <p:cNvSpPr/>
          <p:nvPr/>
        </p:nvSpPr>
        <p:spPr>
          <a:xfrm>
            <a:off x="3035300" y="408930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Hard to know which steps really ran</a:t>
            </a:r>
            <a:endParaRPr lang="en-US" sz="1350" dirty="0"/>
          </a:p>
        </p:txBody>
      </p:sp>
      <p:sp>
        <p:nvSpPr>
          <p:cNvPr id="54" name="Shape 52"/>
          <p:cNvSpPr/>
          <p:nvPr/>
        </p:nvSpPr>
        <p:spPr>
          <a:xfrm>
            <a:off x="7048500" y="4413151"/>
            <a:ext cx="4330700" cy="0"/>
          </a:xfrm>
          <a:prstGeom prst="line">
            <a:avLst/>
          </a:prstGeom>
          <a:noFill/>
          <a:ln w="6350">
            <a:solidFill>
              <a:srgbClr val="D5DDDA"/>
            </a:solidFill>
            <a:prstDash val="solid"/>
          </a:ln>
        </p:spPr>
      </p:sp>
      <p:sp>
        <p:nvSpPr>
          <p:cNvPr id="55" name="Text 53"/>
          <p:cNvSpPr/>
          <p:nvPr/>
        </p:nvSpPr>
        <p:spPr>
          <a:xfrm>
            <a:off x="7162800" y="408930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56" name="Text 54"/>
          <p:cNvSpPr/>
          <p:nvPr/>
        </p:nvSpPr>
        <p:spPr>
          <a:xfrm>
            <a:off x="7366000" y="408930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Every step is logged and traced</a:t>
            </a:r>
            <a:endParaRPr lang="en-US" sz="1350" dirty="0"/>
          </a:p>
        </p:txBody>
      </p:sp>
      <p:sp>
        <p:nvSpPr>
          <p:cNvPr id="57" name="Shape 55"/>
          <p:cNvSpPr/>
          <p:nvPr/>
        </p:nvSpPr>
        <p:spPr>
          <a:xfrm>
            <a:off x="812800" y="4803676"/>
            <a:ext cx="1905000" cy="0"/>
          </a:xfrm>
          <a:prstGeom prst="line">
            <a:avLst/>
          </a:prstGeom>
          <a:noFill/>
          <a:ln w="6350">
            <a:solidFill>
              <a:srgbClr val="D5DDDA"/>
            </a:solidFill>
            <a:prstDash val="solid"/>
          </a:ln>
        </p:spPr>
      </p:sp>
      <p:sp>
        <p:nvSpPr>
          <p:cNvPr id="58" name="Text 56"/>
          <p:cNvSpPr/>
          <p:nvPr/>
        </p:nvSpPr>
        <p:spPr>
          <a:xfrm>
            <a:off x="927100" y="4479826"/>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Debugging</a:t>
            </a:r>
            <a:endParaRPr lang="en-US" sz="1350" dirty="0"/>
          </a:p>
        </p:txBody>
      </p:sp>
      <p:sp>
        <p:nvSpPr>
          <p:cNvPr id="59" name="Shape 57"/>
          <p:cNvSpPr/>
          <p:nvPr/>
        </p:nvSpPr>
        <p:spPr>
          <a:xfrm>
            <a:off x="2717800" y="4803676"/>
            <a:ext cx="4330700" cy="0"/>
          </a:xfrm>
          <a:prstGeom prst="line">
            <a:avLst/>
          </a:prstGeom>
          <a:noFill/>
          <a:ln w="6350">
            <a:solidFill>
              <a:srgbClr val="D5DDDA"/>
            </a:solidFill>
            <a:prstDash val="solid"/>
          </a:ln>
        </p:spPr>
      </p:sp>
      <p:sp>
        <p:nvSpPr>
          <p:cNvPr id="60" name="Text 58"/>
          <p:cNvSpPr/>
          <p:nvPr/>
        </p:nvSpPr>
        <p:spPr>
          <a:xfrm>
            <a:off x="2832100" y="44798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61" name="Text 59"/>
          <p:cNvSpPr/>
          <p:nvPr/>
        </p:nvSpPr>
        <p:spPr>
          <a:xfrm>
            <a:off x="3035300" y="44798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Hard to find where it went wrong</a:t>
            </a:r>
            <a:endParaRPr lang="en-US" sz="1350" dirty="0"/>
          </a:p>
        </p:txBody>
      </p:sp>
      <p:sp>
        <p:nvSpPr>
          <p:cNvPr id="62" name="Shape 60"/>
          <p:cNvSpPr/>
          <p:nvPr/>
        </p:nvSpPr>
        <p:spPr>
          <a:xfrm>
            <a:off x="7048500" y="4803676"/>
            <a:ext cx="4330700" cy="0"/>
          </a:xfrm>
          <a:prstGeom prst="line">
            <a:avLst/>
          </a:prstGeom>
          <a:noFill/>
          <a:ln w="6350">
            <a:solidFill>
              <a:srgbClr val="D5DDDA"/>
            </a:solidFill>
            <a:prstDash val="solid"/>
          </a:ln>
        </p:spPr>
      </p:sp>
      <p:sp>
        <p:nvSpPr>
          <p:cNvPr id="63" name="Text 61"/>
          <p:cNvSpPr/>
          <p:nvPr/>
        </p:nvSpPr>
        <p:spPr>
          <a:xfrm>
            <a:off x="7162800" y="44798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64" name="Text 62"/>
          <p:cNvSpPr/>
          <p:nvPr/>
        </p:nvSpPr>
        <p:spPr>
          <a:xfrm>
            <a:off x="7366000" y="44798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Easy to find the step that failed</a:t>
            </a:r>
            <a:endParaRPr lang="en-US" sz="1350" dirty="0"/>
          </a:p>
        </p:txBody>
      </p:sp>
      <p:sp>
        <p:nvSpPr>
          <p:cNvPr id="65" name="Shape 63"/>
          <p:cNvSpPr/>
          <p:nvPr/>
        </p:nvSpPr>
        <p:spPr>
          <a:xfrm>
            <a:off x="812800" y="5476776"/>
            <a:ext cx="1905000" cy="0"/>
          </a:xfrm>
          <a:prstGeom prst="line">
            <a:avLst/>
          </a:prstGeom>
          <a:noFill/>
          <a:ln w="6350">
            <a:solidFill>
              <a:srgbClr val="D5DDDA"/>
            </a:solidFill>
            <a:prstDash val="solid"/>
          </a:ln>
        </p:spPr>
      </p:sp>
      <p:sp>
        <p:nvSpPr>
          <p:cNvPr id="66" name="Text 64"/>
          <p:cNvSpPr/>
          <p:nvPr/>
        </p:nvSpPr>
        <p:spPr>
          <a:xfrm>
            <a:off x="927100" y="5011638"/>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Testing</a:t>
            </a:r>
            <a:endParaRPr lang="en-US" sz="1350" dirty="0"/>
          </a:p>
        </p:txBody>
      </p:sp>
      <p:sp>
        <p:nvSpPr>
          <p:cNvPr id="67" name="Shape 65"/>
          <p:cNvSpPr/>
          <p:nvPr/>
        </p:nvSpPr>
        <p:spPr>
          <a:xfrm>
            <a:off x="2717800" y="5476776"/>
            <a:ext cx="4330700" cy="0"/>
          </a:xfrm>
          <a:prstGeom prst="line">
            <a:avLst/>
          </a:prstGeom>
          <a:noFill/>
          <a:ln w="6350">
            <a:solidFill>
              <a:srgbClr val="D5DDDA"/>
            </a:solidFill>
            <a:prstDash val="solid"/>
          </a:ln>
        </p:spPr>
      </p:sp>
      <p:sp>
        <p:nvSpPr>
          <p:cNvPr id="68" name="Text 66"/>
          <p:cNvSpPr/>
          <p:nvPr/>
        </p:nvSpPr>
        <p:spPr>
          <a:xfrm>
            <a:off x="2832100" y="5011638"/>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69" name="Text 67"/>
          <p:cNvSpPr/>
          <p:nvPr/>
        </p:nvSpPr>
        <p:spPr>
          <a:xfrm>
            <a:off x="3035300" y="5011638"/>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Mostly tested by checking the final answer</a:t>
            </a:r>
            <a:endParaRPr lang="en-US" sz="1350" dirty="0"/>
          </a:p>
        </p:txBody>
      </p:sp>
      <p:sp>
        <p:nvSpPr>
          <p:cNvPr id="70" name="Shape 68"/>
          <p:cNvSpPr/>
          <p:nvPr/>
        </p:nvSpPr>
        <p:spPr>
          <a:xfrm>
            <a:off x="7048500" y="5476776"/>
            <a:ext cx="4330700" cy="0"/>
          </a:xfrm>
          <a:prstGeom prst="line">
            <a:avLst/>
          </a:prstGeom>
          <a:noFill/>
          <a:ln w="6350">
            <a:solidFill>
              <a:srgbClr val="D5DDDA"/>
            </a:solidFill>
            <a:prstDash val="solid"/>
          </a:ln>
        </p:spPr>
      </p:sp>
      <p:sp>
        <p:nvSpPr>
          <p:cNvPr id="71" name="Text 69"/>
          <p:cNvSpPr/>
          <p:nvPr/>
        </p:nvSpPr>
        <p:spPr>
          <a:xfrm>
            <a:off x="7162800" y="48703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72" name="Text 70"/>
          <p:cNvSpPr/>
          <p:nvPr/>
        </p:nvSpPr>
        <p:spPr>
          <a:xfrm>
            <a:off x="7366000" y="48703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Each step and the whole flow can be tested</a:t>
            </a:r>
            <a:endParaRPr lang="en-US" sz="1350" dirty="0"/>
          </a:p>
        </p:txBody>
      </p:sp>
      <p:sp>
        <p:nvSpPr>
          <p:cNvPr id="73" name="Text 71"/>
          <p:cNvSpPr/>
          <p:nvPr/>
        </p:nvSpPr>
        <p:spPr>
          <a:xfrm>
            <a:off x="7162800" y="51529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74" name="Text 72"/>
          <p:cNvSpPr/>
          <p:nvPr/>
        </p:nvSpPr>
        <p:spPr>
          <a:xfrm>
            <a:off x="7366000" y="51529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Tests run offline, with a fake model</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CORE CONCEPTS · A FAIR COMPARISON · 2 OF 2</a:t>
            </a:r>
            <a:endParaRPr lang="en-US" sz="1200" dirty="0"/>
          </a:p>
        </p:txBody>
      </p:sp>
      <p:sp>
        <p:nvSpPr>
          <p:cNvPr id="3" name="Text 1"/>
          <p:cNvSpPr/>
          <p:nvPr>
            <p:ph type="title"/>
          </p:nvPr>
        </p:nvSpPr>
        <p:spPr>
          <a:xfrm>
            <a:off x="812800" y="746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0181D"/>
                </a:solidFill>
                <a:latin typeface="Bricolage Grotesque" pitchFamily="34" charset="0"/>
                <a:ea typeface="Bricolage Grotesque" pitchFamily="34" charset="-122"/>
                <a:cs typeface="Bricolage Grotesque" pitchFamily="34" charset="-120"/>
              </a:rPr>
              <a:t>When it grows, and when it matters</a:t>
            </a:r>
            <a:endParaRPr lang="en-US" sz="3000" dirty="0"/>
          </a:p>
        </p:txBody>
      </p:sp>
      <p:sp>
        <p:nvSpPr>
          <p:cNvPr id="4" name="Text 2"/>
          <p:cNvSpPr/>
          <p:nvPr/>
        </p:nvSpPr>
        <p:spPr>
          <a:xfrm>
            <a:off x="812800" y="1318220"/>
            <a:ext cx="1905000" cy="580330"/>
          </a:xfrm>
          <a:prstGeom prst="rect">
            <a:avLst/>
          </a:prstGeom>
          <a:solidFill>
            <a:srgbClr val="E3EAE7"/>
          </a:solidFill>
          <a:ln/>
        </p:spPr>
        <p:txBody>
          <a:bodyPr wrap="square" lIns="114300" tIns="76200" rIns="63500" bIns="50800" rtlCol="0" anchor="t">
            <a:normAutofit/>
          </a:bodyPr>
          <a:lstStyle/>
          <a:p>
            <a:pPr algn="l" indent="0" marL="0">
              <a:lnSpc>
                <a:spcPts val="1690"/>
              </a:lnSpc>
              <a:buNone/>
            </a:pPr>
            <a:r>
              <a:rPr lang="en-US" sz="1300" b="1" dirty="0">
                <a:solidFill>
                  <a:srgbClr val="10181D"/>
                </a:solidFill>
                <a:latin typeface="IBM Plex Sans" pitchFamily="34" charset="0"/>
                <a:ea typeface="IBM Plex Sans" pitchFamily="34" charset="-122"/>
                <a:cs typeface="IBM Plex Sans" pitchFamily="34" charset="-120"/>
              </a:rPr>
              <a:t>Dimension</a:t>
            </a:r>
            <a:endParaRPr lang="en-US" sz="1300" dirty="0"/>
          </a:p>
        </p:txBody>
      </p:sp>
      <p:sp>
        <p:nvSpPr>
          <p:cNvPr id="5" name="Shape 3"/>
          <p:cNvSpPr/>
          <p:nvPr/>
        </p:nvSpPr>
        <p:spPr>
          <a:xfrm>
            <a:off x="2717800" y="1318220"/>
            <a:ext cx="4330700" cy="580330"/>
          </a:xfrm>
          <a:prstGeom prst="rect">
            <a:avLst/>
          </a:prstGeom>
          <a:solidFill>
            <a:srgbClr val="E3EAE7"/>
          </a:solidFill>
          <a:ln/>
        </p:spPr>
      </p:sp>
      <p:sp>
        <p:nvSpPr>
          <p:cNvPr id="6" name="Text 4"/>
          <p:cNvSpPr/>
          <p:nvPr/>
        </p:nvSpPr>
        <p:spPr>
          <a:xfrm>
            <a:off x="2832100" y="1394420"/>
            <a:ext cx="4225163"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0181D"/>
                </a:solidFill>
                <a:latin typeface="IBM Plex Sans" pitchFamily="34" charset="0"/>
                <a:ea typeface="IBM Plex Sans" pitchFamily="34" charset="-122"/>
                <a:cs typeface="IBM Plex Sans" pitchFamily="34" charset="-120"/>
              </a:rPr>
              <a:t>Single agent file</a:t>
            </a:r>
            <a:endParaRPr lang="en-US" sz="1300" dirty="0"/>
          </a:p>
        </p:txBody>
      </p:sp>
      <p:sp>
        <p:nvSpPr>
          <p:cNvPr id="7" name="Text 5"/>
          <p:cNvSpPr/>
          <p:nvPr/>
        </p:nvSpPr>
        <p:spPr>
          <a:xfrm>
            <a:off x="2832100" y="1609030"/>
            <a:ext cx="42251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1D"/>
                </a:solidFill>
                <a:latin typeface="IBM Plex Sans" pitchFamily="34" charset="0"/>
                <a:ea typeface="IBM Plex Sans" pitchFamily="34" charset="-122"/>
                <a:cs typeface="IBM Plex Sans" pitchFamily="34" charset="-120"/>
              </a:rPr>
              <a:t>the prompt defines the steps and flow</a:t>
            </a:r>
            <a:endParaRPr lang="en-US" sz="1200" dirty="0"/>
          </a:p>
        </p:txBody>
      </p:sp>
      <p:sp>
        <p:nvSpPr>
          <p:cNvPr id="8" name="Shape 6"/>
          <p:cNvSpPr/>
          <p:nvPr/>
        </p:nvSpPr>
        <p:spPr>
          <a:xfrm>
            <a:off x="7048500" y="1318220"/>
            <a:ext cx="4330700" cy="580330"/>
          </a:xfrm>
          <a:prstGeom prst="rect">
            <a:avLst/>
          </a:prstGeom>
          <a:solidFill>
            <a:srgbClr val="E3EAE7"/>
          </a:solidFill>
          <a:ln/>
        </p:spPr>
      </p:sp>
      <p:sp>
        <p:nvSpPr>
          <p:cNvPr id="9" name="Text 7"/>
          <p:cNvSpPr/>
          <p:nvPr/>
        </p:nvSpPr>
        <p:spPr>
          <a:xfrm>
            <a:off x="7162800" y="1394420"/>
            <a:ext cx="4225163"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0181D"/>
                </a:solidFill>
                <a:latin typeface="IBM Plex Sans" pitchFamily="34" charset="0"/>
                <a:ea typeface="IBM Plex Sans" pitchFamily="34" charset="-122"/>
                <a:cs typeface="IBM Plex Sans" pitchFamily="34" charset="-120"/>
              </a:rPr>
              <a:t>ADK workflow</a:t>
            </a:r>
            <a:endParaRPr lang="en-US" sz="1300" dirty="0"/>
          </a:p>
        </p:txBody>
      </p:sp>
      <p:sp>
        <p:nvSpPr>
          <p:cNvPr id="10" name="Text 8"/>
          <p:cNvSpPr/>
          <p:nvPr/>
        </p:nvSpPr>
        <p:spPr>
          <a:xfrm>
            <a:off x="7162800" y="1609030"/>
            <a:ext cx="42251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1D"/>
                </a:solidFill>
                <a:latin typeface="IBM Plex Sans" pitchFamily="34" charset="0"/>
                <a:ea typeface="IBM Plex Sans" pitchFamily="34" charset="-122"/>
                <a:cs typeface="IBM Plex Sans" pitchFamily="34" charset="-120"/>
              </a:rPr>
              <a:t>code defines the steps and flow</a:t>
            </a:r>
            <a:endParaRPr lang="en-US" sz="1200" dirty="0"/>
          </a:p>
        </p:txBody>
      </p:sp>
      <p:sp>
        <p:nvSpPr>
          <p:cNvPr id="11" name="Shape 9"/>
          <p:cNvSpPr/>
          <p:nvPr/>
        </p:nvSpPr>
        <p:spPr>
          <a:xfrm>
            <a:off x="812800" y="2568476"/>
            <a:ext cx="1905000" cy="0"/>
          </a:xfrm>
          <a:prstGeom prst="line">
            <a:avLst/>
          </a:prstGeom>
          <a:noFill/>
          <a:ln w="6350">
            <a:solidFill>
              <a:srgbClr val="D5DDDA"/>
            </a:solidFill>
            <a:prstDash val="solid"/>
          </a:ln>
        </p:spPr>
      </p:sp>
      <p:sp>
        <p:nvSpPr>
          <p:cNvPr id="12" name="Text 10"/>
          <p:cNvSpPr/>
          <p:nvPr/>
        </p:nvSpPr>
        <p:spPr>
          <a:xfrm>
            <a:off x="927100" y="2103338"/>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Adaptability</a:t>
            </a:r>
            <a:endParaRPr lang="en-US" sz="1350" dirty="0"/>
          </a:p>
        </p:txBody>
      </p:sp>
      <p:sp>
        <p:nvSpPr>
          <p:cNvPr id="13" name="Shape 11"/>
          <p:cNvSpPr/>
          <p:nvPr/>
        </p:nvSpPr>
        <p:spPr>
          <a:xfrm>
            <a:off x="2717800" y="2568476"/>
            <a:ext cx="4330700" cy="0"/>
          </a:xfrm>
          <a:prstGeom prst="line">
            <a:avLst/>
          </a:prstGeom>
          <a:noFill/>
          <a:ln w="6350">
            <a:solidFill>
              <a:srgbClr val="D5DDDA"/>
            </a:solidFill>
            <a:prstDash val="solid"/>
          </a:ln>
        </p:spPr>
      </p:sp>
      <p:sp>
        <p:nvSpPr>
          <p:cNvPr id="14" name="Text 12"/>
          <p:cNvSpPr/>
          <p:nvPr/>
        </p:nvSpPr>
        <p:spPr>
          <a:xfrm>
            <a:off x="2832100" y="2103338"/>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15" name="Text 13"/>
          <p:cNvSpPr/>
          <p:nvPr/>
        </p:nvSpPr>
        <p:spPr>
          <a:xfrm>
            <a:off x="3035300" y="2103338"/>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Can change its approach when needed</a:t>
            </a:r>
            <a:endParaRPr lang="en-US" sz="1350" dirty="0"/>
          </a:p>
        </p:txBody>
      </p:sp>
      <p:sp>
        <p:nvSpPr>
          <p:cNvPr id="16" name="Shape 14"/>
          <p:cNvSpPr/>
          <p:nvPr/>
        </p:nvSpPr>
        <p:spPr>
          <a:xfrm>
            <a:off x="7048500" y="2568476"/>
            <a:ext cx="4330700" cy="0"/>
          </a:xfrm>
          <a:prstGeom prst="line">
            <a:avLst/>
          </a:prstGeom>
          <a:noFill/>
          <a:ln w="6350">
            <a:solidFill>
              <a:srgbClr val="D5DDDA"/>
            </a:solidFill>
            <a:prstDash val="solid"/>
          </a:ln>
        </p:spPr>
      </p:sp>
      <p:sp>
        <p:nvSpPr>
          <p:cNvPr id="17" name="Text 15"/>
          <p:cNvSpPr/>
          <p:nvPr/>
        </p:nvSpPr>
        <p:spPr>
          <a:xfrm>
            <a:off x="7162800" y="19620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18" name="Text 16"/>
          <p:cNvSpPr/>
          <p:nvPr/>
        </p:nvSpPr>
        <p:spPr>
          <a:xfrm>
            <a:off x="7366000" y="19620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Only adapts if explicitly coded</a:t>
            </a:r>
            <a:endParaRPr lang="en-US" sz="1350" dirty="0"/>
          </a:p>
        </p:txBody>
      </p:sp>
      <p:sp>
        <p:nvSpPr>
          <p:cNvPr id="19" name="Text 17"/>
          <p:cNvSpPr/>
          <p:nvPr/>
        </p:nvSpPr>
        <p:spPr>
          <a:xfrm>
            <a:off x="7162800" y="22446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20" name="Text 18"/>
          <p:cNvSpPr/>
          <p:nvPr/>
        </p:nvSpPr>
        <p:spPr>
          <a:xfrm>
            <a:off x="7366000" y="22446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The model can be swapped with one setting</a:t>
            </a:r>
            <a:endParaRPr lang="en-US" sz="1350" dirty="0"/>
          </a:p>
        </p:txBody>
      </p:sp>
      <p:sp>
        <p:nvSpPr>
          <p:cNvPr id="21" name="Shape 19"/>
          <p:cNvSpPr/>
          <p:nvPr/>
        </p:nvSpPr>
        <p:spPr>
          <a:xfrm>
            <a:off x="812800" y="3241576"/>
            <a:ext cx="1905000" cy="0"/>
          </a:xfrm>
          <a:prstGeom prst="line">
            <a:avLst/>
          </a:prstGeom>
          <a:noFill/>
          <a:ln w="6350">
            <a:solidFill>
              <a:srgbClr val="D5DDDA"/>
            </a:solidFill>
            <a:prstDash val="solid"/>
          </a:ln>
        </p:spPr>
      </p:sp>
      <p:sp>
        <p:nvSpPr>
          <p:cNvPr id="22" name="Text 20"/>
          <p:cNvSpPr/>
          <p:nvPr/>
        </p:nvSpPr>
        <p:spPr>
          <a:xfrm>
            <a:off x="927100" y="2776438"/>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Maintenance</a:t>
            </a:r>
            <a:endParaRPr lang="en-US" sz="1350" dirty="0"/>
          </a:p>
        </p:txBody>
      </p:sp>
      <p:sp>
        <p:nvSpPr>
          <p:cNvPr id="23" name="Shape 21"/>
          <p:cNvSpPr/>
          <p:nvPr/>
        </p:nvSpPr>
        <p:spPr>
          <a:xfrm>
            <a:off x="2717800" y="3241576"/>
            <a:ext cx="4330700" cy="0"/>
          </a:xfrm>
          <a:prstGeom prst="line">
            <a:avLst/>
          </a:prstGeom>
          <a:noFill/>
          <a:ln w="6350">
            <a:solidFill>
              <a:srgbClr val="D5DDDA"/>
            </a:solidFill>
            <a:prstDash val="solid"/>
          </a:ln>
        </p:spPr>
      </p:sp>
      <p:sp>
        <p:nvSpPr>
          <p:cNvPr id="24" name="Text 22"/>
          <p:cNvSpPr/>
          <p:nvPr/>
        </p:nvSpPr>
        <p:spPr>
          <a:xfrm>
            <a:off x="2832100" y="26351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25" name="Text 23"/>
          <p:cNvSpPr/>
          <p:nvPr/>
        </p:nvSpPr>
        <p:spPr>
          <a:xfrm>
            <a:off x="3035300" y="26351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Easy at first</a:t>
            </a:r>
            <a:endParaRPr lang="en-US" sz="1350" dirty="0"/>
          </a:p>
        </p:txBody>
      </p:sp>
      <p:sp>
        <p:nvSpPr>
          <p:cNvPr id="26" name="Text 24"/>
          <p:cNvSpPr/>
          <p:nvPr/>
        </p:nvSpPr>
        <p:spPr>
          <a:xfrm>
            <a:off x="2832100" y="29177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27" name="Text 25"/>
          <p:cNvSpPr/>
          <p:nvPr/>
        </p:nvSpPr>
        <p:spPr>
          <a:xfrm>
            <a:off x="3035300" y="29177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Harder as the prompt grows large</a:t>
            </a:r>
            <a:endParaRPr lang="en-US" sz="1350" dirty="0"/>
          </a:p>
        </p:txBody>
      </p:sp>
      <p:sp>
        <p:nvSpPr>
          <p:cNvPr id="28" name="Shape 26"/>
          <p:cNvSpPr/>
          <p:nvPr/>
        </p:nvSpPr>
        <p:spPr>
          <a:xfrm>
            <a:off x="7048500" y="3241576"/>
            <a:ext cx="4330700" cy="0"/>
          </a:xfrm>
          <a:prstGeom prst="line">
            <a:avLst/>
          </a:prstGeom>
          <a:noFill/>
          <a:ln w="6350">
            <a:solidFill>
              <a:srgbClr val="D5DDDA"/>
            </a:solidFill>
            <a:prstDash val="solid"/>
          </a:ln>
        </p:spPr>
      </p:sp>
      <p:sp>
        <p:nvSpPr>
          <p:cNvPr id="29" name="Text 27"/>
          <p:cNvSpPr/>
          <p:nvPr/>
        </p:nvSpPr>
        <p:spPr>
          <a:xfrm>
            <a:off x="7162800" y="2776438"/>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30" name="Text 28"/>
          <p:cNvSpPr/>
          <p:nvPr/>
        </p:nvSpPr>
        <p:spPr>
          <a:xfrm>
            <a:off x="7366000" y="2776438"/>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Easier to maintain as the system grows</a:t>
            </a:r>
            <a:endParaRPr lang="en-US" sz="1350" dirty="0"/>
          </a:p>
        </p:txBody>
      </p:sp>
      <p:sp>
        <p:nvSpPr>
          <p:cNvPr id="31" name="Shape 29"/>
          <p:cNvSpPr/>
          <p:nvPr/>
        </p:nvSpPr>
        <p:spPr>
          <a:xfrm>
            <a:off x="812800" y="3889276"/>
            <a:ext cx="1905000" cy="0"/>
          </a:xfrm>
          <a:prstGeom prst="line">
            <a:avLst/>
          </a:prstGeom>
          <a:noFill/>
          <a:ln w="6350">
            <a:solidFill>
              <a:srgbClr val="D5DDDA"/>
            </a:solidFill>
            <a:prstDash val="solid"/>
          </a:ln>
        </p:spPr>
      </p:sp>
      <p:sp>
        <p:nvSpPr>
          <p:cNvPr id="32" name="Text 30"/>
          <p:cNvSpPr/>
          <p:nvPr/>
        </p:nvSpPr>
        <p:spPr>
          <a:xfrm>
            <a:off x="927100" y="3308251"/>
            <a:ext cx="1727200" cy="539750"/>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Governance &amp; compliance</a:t>
            </a:r>
            <a:endParaRPr lang="en-US" sz="1350" dirty="0"/>
          </a:p>
        </p:txBody>
      </p:sp>
      <p:sp>
        <p:nvSpPr>
          <p:cNvPr id="33" name="Shape 31"/>
          <p:cNvSpPr/>
          <p:nvPr/>
        </p:nvSpPr>
        <p:spPr>
          <a:xfrm>
            <a:off x="2717800" y="3889276"/>
            <a:ext cx="4330700" cy="0"/>
          </a:xfrm>
          <a:prstGeom prst="line">
            <a:avLst/>
          </a:prstGeom>
          <a:noFill/>
          <a:ln w="6350">
            <a:solidFill>
              <a:srgbClr val="D5DDDA"/>
            </a:solidFill>
            <a:prstDash val="solid"/>
          </a:ln>
        </p:spPr>
      </p:sp>
      <p:sp>
        <p:nvSpPr>
          <p:cNvPr id="34" name="Text 32"/>
          <p:cNvSpPr/>
          <p:nvPr/>
        </p:nvSpPr>
        <p:spPr>
          <a:xfrm>
            <a:off x="2832100" y="3436838"/>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35" name="Text 33"/>
          <p:cNvSpPr/>
          <p:nvPr/>
        </p:nvSpPr>
        <p:spPr>
          <a:xfrm>
            <a:off x="3035300" y="3436838"/>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Hard to enforce rules and guarantees</a:t>
            </a:r>
            <a:endParaRPr lang="en-US" sz="1350" dirty="0"/>
          </a:p>
        </p:txBody>
      </p:sp>
      <p:sp>
        <p:nvSpPr>
          <p:cNvPr id="36" name="Shape 34"/>
          <p:cNvSpPr/>
          <p:nvPr/>
        </p:nvSpPr>
        <p:spPr>
          <a:xfrm>
            <a:off x="7048500" y="3889276"/>
            <a:ext cx="4330700" cy="0"/>
          </a:xfrm>
          <a:prstGeom prst="line">
            <a:avLst/>
          </a:prstGeom>
          <a:noFill/>
          <a:ln w="6350">
            <a:solidFill>
              <a:srgbClr val="D5DDDA"/>
            </a:solidFill>
            <a:prstDash val="solid"/>
          </a:ln>
        </p:spPr>
      </p:sp>
      <p:sp>
        <p:nvSpPr>
          <p:cNvPr id="37" name="Text 35"/>
          <p:cNvSpPr/>
          <p:nvPr/>
        </p:nvSpPr>
        <p:spPr>
          <a:xfrm>
            <a:off x="7162800" y="3436838"/>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38" name="Text 36"/>
          <p:cNvSpPr/>
          <p:nvPr/>
        </p:nvSpPr>
        <p:spPr>
          <a:xfrm>
            <a:off x="7366000" y="3436838"/>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Audit, security and approval rules enforced</a:t>
            </a:r>
            <a:endParaRPr lang="en-US" sz="1350" dirty="0"/>
          </a:p>
        </p:txBody>
      </p:sp>
      <p:sp>
        <p:nvSpPr>
          <p:cNvPr id="39" name="Shape 37"/>
          <p:cNvSpPr/>
          <p:nvPr/>
        </p:nvSpPr>
        <p:spPr>
          <a:xfrm>
            <a:off x="812800" y="4279801"/>
            <a:ext cx="1905000" cy="0"/>
          </a:xfrm>
          <a:prstGeom prst="line">
            <a:avLst/>
          </a:prstGeom>
          <a:noFill/>
          <a:ln w="6350">
            <a:solidFill>
              <a:srgbClr val="D5DDDA"/>
            </a:solidFill>
            <a:prstDash val="solid"/>
          </a:ln>
        </p:spPr>
      </p:sp>
      <p:sp>
        <p:nvSpPr>
          <p:cNvPr id="40" name="Text 38"/>
          <p:cNvSpPr/>
          <p:nvPr/>
        </p:nvSpPr>
        <p:spPr>
          <a:xfrm>
            <a:off x="927100" y="3955951"/>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Failure recovery</a:t>
            </a:r>
            <a:endParaRPr lang="en-US" sz="1350" dirty="0"/>
          </a:p>
        </p:txBody>
      </p:sp>
      <p:sp>
        <p:nvSpPr>
          <p:cNvPr id="41" name="Shape 39"/>
          <p:cNvSpPr/>
          <p:nvPr/>
        </p:nvSpPr>
        <p:spPr>
          <a:xfrm>
            <a:off x="2717800" y="4279801"/>
            <a:ext cx="4330700" cy="0"/>
          </a:xfrm>
          <a:prstGeom prst="line">
            <a:avLst/>
          </a:prstGeom>
          <a:noFill/>
          <a:ln w="6350">
            <a:solidFill>
              <a:srgbClr val="D5DDDA"/>
            </a:solidFill>
            <a:prstDash val="solid"/>
          </a:ln>
        </p:spPr>
      </p:sp>
      <p:sp>
        <p:nvSpPr>
          <p:cNvPr id="42" name="Text 40"/>
          <p:cNvSpPr/>
          <p:nvPr/>
        </p:nvSpPr>
        <p:spPr>
          <a:xfrm>
            <a:off x="2832100" y="39559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43" name="Text 41"/>
          <p:cNvSpPr/>
          <p:nvPr/>
        </p:nvSpPr>
        <p:spPr>
          <a:xfrm>
            <a:off x="3035300" y="39559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May start over from scratch after a failure</a:t>
            </a:r>
            <a:endParaRPr lang="en-US" sz="1350" dirty="0"/>
          </a:p>
        </p:txBody>
      </p:sp>
      <p:sp>
        <p:nvSpPr>
          <p:cNvPr id="44" name="Shape 42"/>
          <p:cNvSpPr/>
          <p:nvPr/>
        </p:nvSpPr>
        <p:spPr>
          <a:xfrm>
            <a:off x="7048500" y="4279801"/>
            <a:ext cx="4330700" cy="0"/>
          </a:xfrm>
          <a:prstGeom prst="line">
            <a:avLst/>
          </a:prstGeom>
          <a:noFill/>
          <a:ln w="6350">
            <a:solidFill>
              <a:srgbClr val="D5DDDA"/>
            </a:solidFill>
            <a:prstDash val="solid"/>
          </a:ln>
        </p:spPr>
      </p:sp>
      <p:sp>
        <p:nvSpPr>
          <p:cNvPr id="45" name="Text 43"/>
          <p:cNvSpPr/>
          <p:nvPr/>
        </p:nvSpPr>
        <p:spPr>
          <a:xfrm>
            <a:off x="7162800" y="39559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46" name="Text 44"/>
          <p:cNvSpPr/>
          <p:nvPr/>
        </p:nvSpPr>
        <p:spPr>
          <a:xfrm>
            <a:off x="7366000" y="39559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Can retry, or resume from where it stopped</a:t>
            </a:r>
            <a:endParaRPr lang="en-US" sz="1350" dirty="0"/>
          </a:p>
        </p:txBody>
      </p:sp>
      <p:sp>
        <p:nvSpPr>
          <p:cNvPr id="47" name="Shape 45"/>
          <p:cNvSpPr/>
          <p:nvPr/>
        </p:nvSpPr>
        <p:spPr>
          <a:xfrm>
            <a:off x="812800" y="4952901"/>
            <a:ext cx="1905000" cy="0"/>
          </a:xfrm>
          <a:prstGeom prst="line">
            <a:avLst/>
          </a:prstGeom>
          <a:noFill/>
          <a:ln w="6350">
            <a:solidFill>
              <a:srgbClr val="D5DDDA"/>
            </a:solidFill>
            <a:prstDash val="solid"/>
          </a:ln>
        </p:spPr>
      </p:sp>
      <p:sp>
        <p:nvSpPr>
          <p:cNvPr id="48" name="Text 46"/>
          <p:cNvSpPr/>
          <p:nvPr/>
        </p:nvSpPr>
        <p:spPr>
          <a:xfrm>
            <a:off x="927100" y="4487763"/>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Scalability</a:t>
            </a:r>
            <a:endParaRPr lang="en-US" sz="1350" dirty="0"/>
          </a:p>
        </p:txBody>
      </p:sp>
      <p:sp>
        <p:nvSpPr>
          <p:cNvPr id="49" name="Shape 47"/>
          <p:cNvSpPr/>
          <p:nvPr/>
        </p:nvSpPr>
        <p:spPr>
          <a:xfrm>
            <a:off x="2717800" y="4952901"/>
            <a:ext cx="4330700" cy="0"/>
          </a:xfrm>
          <a:prstGeom prst="line">
            <a:avLst/>
          </a:prstGeom>
          <a:noFill/>
          <a:ln w="6350">
            <a:solidFill>
              <a:srgbClr val="D5DDDA"/>
            </a:solidFill>
            <a:prstDash val="solid"/>
          </a:ln>
        </p:spPr>
      </p:sp>
      <p:sp>
        <p:nvSpPr>
          <p:cNvPr id="50" name="Text 48"/>
          <p:cNvSpPr/>
          <p:nvPr/>
        </p:nvSpPr>
        <p:spPr>
          <a:xfrm>
            <a:off x="2832100" y="4487763"/>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51" name="Text 49"/>
          <p:cNvSpPr/>
          <p:nvPr/>
        </p:nvSpPr>
        <p:spPr>
          <a:xfrm>
            <a:off x="3035300" y="4487763"/>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Large workflows become hard to manage</a:t>
            </a:r>
            <a:endParaRPr lang="en-US" sz="1350" dirty="0"/>
          </a:p>
        </p:txBody>
      </p:sp>
      <p:sp>
        <p:nvSpPr>
          <p:cNvPr id="52" name="Shape 50"/>
          <p:cNvSpPr/>
          <p:nvPr/>
        </p:nvSpPr>
        <p:spPr>
          <a:xfrm>
            <a:off x="7048500" y="4952901"/>
            <a:ext cx="4330700" cy="0"/>
          </a:xfrm>
          <a:prstGeom prst="line">
            <a:avLst/>
          </a:prstGeom>
          <a:noFill/>
          <a:ln w="6350">
            <a:solidFill>
              <a:srgbClr val="D5DDDA"/>
            </a:solidFill>
            <a:prstDash val="solid"/>
          </a:ln>
        </p:spPr>
      </p:sp>
      <p:sp>
        <p:nvSpPr>
          <p:cNvPr id="53" name="Text 51"/>
          <p:cNvSpPr/>
          <p:nvPr/>
        </p:nvSpPr>
        <p:spPr>
          <a:xfrm>
            <a:off x="7162800" y="434647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54" name="Text 52"/>
          <p:cNvSpPr/>
          <p:nvPr/>
        </p:nvSpPr>
        <p:spPr>
          <a:xfrm>
            <a:off x="7366000" y="434647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Handles large, complex workflows better</a:t>
            </a:r>
            <a:endParaRPr lang="en-US" sz="1350" dirty="0"/>
          </a:p>
        </p:txBody>
      </p:sp>
      <p:sp>
        <p:nvSpPr>
          <p:cNvPr id="55" name="Text 53"/>
          <p:cNvSpPr/>
          <p:nvPr/>
        </p:nvSpPr>
        <p:spPr>
          <a:xfrm>
            <a:off x="7162800" y="46290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56" name="Text 54"/>
          <p:cNvSpPr/>
          <p:nvPr/>
        </p:nvSpPr>
        <p:spPr>
          <a:xfrm>
            <a:off x="7366000" y="46290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Independent steps run in parallel</a:t>
            </a:r>
            <a:endParaRPr lang="en-US" sz="1350" dirty="0"/>
          </a:p>
        </p:txBody>
      </p:sp>
      <p:sp>
        <p:nvSpPr>
          <p:cNvPr id="57" name="Shape 55"/>
          <p:cNvSpPr/>
          <p:nvPr/>
        </p:nvSpPr>
        <p:spPr>
          <a:xfrm>
            <a:off x="812800" y="5600601"/>
            <a:ext cx="1905000" cy="0"/>
          </a:xfrm>
          <a:prstGeom prst="line">
            <a:avLst/>
          </a:prstGeom>
          <a:noFill/>
          <a:ln w="6350">
            <a:solidFill>
              <a:srgbClr val="D5DDDA"/>
            </a:solidFill>
            <a:prstDash val="solid"/>
          </a:ln>
        </p:spPr>
      </p:sp>
      <p:sp>
        <p:nvSpPr>
          <p:cNvPr id="58" name="Text 56"/>
          <p:cNvSpPr/>
          <p:nvPr/>
        </p:nvSpPr>
        <p:spPr>
          <a:xfrm>
            <a:off x="927100" y="5019576"/>
            <a:ext cx="1727200" cy="539750"/>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Business-critical processes</a:t>
            </a:r>
            <a:endParaRPr lang="en-US" sz="1350" dirty="0"/>
          </a:p>
        </p:txBody>
      </p:sp>
      <p:sp>
        <p:nvSpPr>
          <p:cNvPr id="59" name="Shape 57"/>
          <p:cNvSpPr/>
          <p:nvPr/>
        </p:nvSpPr>
        <p:spPr>
          <a:xfrm>
            <a:off x="2717800" y="5600601"/>
            <a:ext cx="4330700" cy="0"/>
          </a:xfrm>
          <a:prstGeom prst="line">
            <a:avLst/>
          </a:prstGeom>
          <a:noFill/>
          <a:ln w="6350">
            <a:solidFill>
              <a:srgbClr val="D5DDDA"/>
            </a:solidFill>
            <a:prstDash val="solid"/>
          </a:ln>
        </p:spPr>
      </p:sp>
      <p:sp>
        <p:nvSpPr>
          <p:cNvPr id="60" name="Text 58"/>
          <p:cNvSpPr/>
          <p:nvPr/>
        </p:nvSpPr>
        <p:spPr>
          <a:xfrm>
            <a:off x="2832100" y="5148163"/>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61" name="Text 59"/>
          <p:cNvSpPr/>
          <p:nvPr/>
        </p:nvSpPr>
        <p:spPr>
          <a:xfrm>
            <a:off x="3035300" y="5148163"/>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Risky where a process must be strict</a:t>
            </a:r>
            <a:endParaRPr lang="en-US" sz="1350" dirty="0"/>
          </a:p>
        </p:txBody>
      </p:sp>
      <p:sp>
        <p:nvSpPr>
          <p:cNvPr id="62" name="Shape 60"/>
          <p:cNvSpPr/>
          <p:nvPr/>
        </p:nvSpPr>
        <p:spPr>
          <a:xfrm>
            <a:off x="7048500" y="5600601"/>
            <a:ext cx="4330700" cy="0"/>
          </a:xfrm>
          <a:prstGeom prst="line">
            <a:avLst/>
          </a:prstGeom>
          <a:noFill/>
          <a:ln w="6350">
            <a:solidFill>
              <a:srgbClr val="D5DDDA"/>
            </a:solidFill>
            <a:prstDash val="solid"/>
          </a:ln>
        </p:spPr>
      </p:sp>
      <p:sp>
        <p:nvSpPr>
          <p:cNvPr id="63" name="Text 61"/>
          <p:cNvSpPr/>
          <p:nvPr/>
        </p:nvSpPr>
        <p:spPr>
          <a:xfrm>
            <a:off x="7162800" y="5148163"/>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64" name="Text 62"/>
          <p:cNvSpPr/>
          <p:nvPr/>
        </p:nvSpPr>
        <p:spPr>
          <a:xfrm>
            <a:off x="7366000" y="5148163"/>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The safer choice for strict processes</a:t>
            </a:r>
            <a:endParaRPr lang="en-US" sz="1350" dirty="0"/>
          </a:p>
        </p:txBody>
      </p:sp>
      <p:sp>
        <p:nvSpPr>
          <p:cNvPr id="65" name="Shape 63"/>
          <p:cNvSpPr/>
          <p:nvPr/>
        </p:nvSpPr>
        <p:spPr>
          <a:xfrm>
            <a:off x="812800" y="6248301"/>
            <a:ext cx="1905000" cy="0"/>
          </a:xfrm>
          <a:prstGeom prst="line">
            <a:avLst/>
          </a:prstGeom>
          <a:noFill/>
          <a:ln w="6350">
            <a:solidFill>
              <a:srgbClr val="D5DDDA"/>
            </a:solidFill>
            <a:prstDash val="solid"/>
          </a:ln>
        </p:spPr>
      </p:sp>
      <p:sp>
        <p:nvSpPr>
          <p:cNvPr id="66" name="Text 64"/>
          <p:cNvSpPr/>
          <p:nvPr/>
        </p:nvSpPr>
        <p:spPr>
          <a:xfrm>
            <a:off x="927100" y="5667276"/>
            <a:ext cx="1727200" cy="539750"/>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IBM Plex Sans" pitchFamily="34" charset="0"/>
                <a:ea typeface="IBM Plex Sans" pitchFamily="34" charset="-122"/>
                <a:cs typeface="IBM Plex Sans" pitchFamily="34" charset="-120"/>
              </a:rPr>
              <a:t>Research / creative tasks</a:t>
            </a:r>
            <a:endParaRPr lang="en-US" sz="1350" dirty="0"/>
          </a:p>
        </p:txBody>
      </p:sp>
      <p:sp>
        <p:nvSpPr>
          <p:cNvPr id="67" name="Shape 65"/>
          <p:cNvSpPr/>
          <p:nvPr/>
        </p:nvSpPr>
        <p:spPr>
          <a:xfrm>
            <a:off x="2717800" y="6248301"/>
            <a:ext cx="4330700" cy="0"/>
          </a:xfrm>
          <a:prstGeom prst="line">
            <a:avLst/>
          </a:prstGeom>
          <a:noFill/>
          <a:ln w="6350">
            <a:solidFill>
              <a:srgbClr val="D5DDDA"/>
            </a:solidFill>
            <a:prstDash val="solid"/>
          </a:ln>
        </p:spPr>
      </p:sp>
      <p:sp>
        <p:nvSpPr>
          <p:cNvPr id="68" name="Text 66"/>
          <p:cNvSpPr/>
          <p:nvPr/>
        </p:nvSpPr>
        <p:spPr>
          <a:xfrm>
            <a:off x="2832100" y="5795863"/>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IBM Plex Sans" pitchFamily="34" charset="0"/>
                <a:ea typeface="IBM Plex Sans" pitchFamily="34" charset="-122"/>
                <a:cs typeface="IBM Plex Sans" pitchFamily="34" charset="-120"/>
              </a:rPr>
              <a:t>✓</a:t>
            </a:r>
            <a:endParaRPr lang="en-US" sz="1350" dirty="0"/>
          </a:p>
        </p:txBody>
      </p:sp>
      <p:sp>
        <p:nvSpPr>
          <p:cNvPr id="69" name="Text 67"/>
          <p:cNvSpPr/>
          <p:nvPr/>
        </p:nvSpPr>
        <p:spPr>
          <a:xfrm>
            <a:off x="3035300" y="5795863"/>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Usually a good fit</a:t>
            </a:r>
            <a:endParaRPr lang="en-US" sz="1350" dirty="0"/>
          </a:p>
        </p:txBody>
      </p:sp>
      <p:sp>
        <p:nvSpPr>
          <p:cNvPr id="70" name="Shape 68"/>
          <p:cNvSpPr/>
          <p:nvPr/>
        </p:nvSpPr>
        <p:spPr>
          <a:xfrm>
            <a:off x="7048500" y="6248301"/>
            <a:ext cx="4330700" cy="0"/>
          </a:xfrm>
          <a:prstGeom prst="line">
            <a:avLst/>
          </a:prstGeom>
          <a:noFill/>
          <a:ln w="6350">
            <a:solidFill>
              <a:srgbClr val="D5DDDA"/>
            </a:solidFill>
            <a:prstDash val="solid"/>
          </a:ln>
        </p:spPr>
      </p:sp>
      <p:sp>
        <p:nvSpPr>
          <p:cNvPr id="71" name="Text 69"/>
          <p:cNvSpPr/>
          <p:nvPr/>
        </p:nvSpPr>
        <p:spPr>
          <a:xfrm>
            <a:off x="7162800" y="5795863"/>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IBM Plex Sans" pitchFamily="34" charset="0"/>
                <a:ea typeface="IBM Plex Sans" pitchFamily="34" charset="-122"/>
                <a:cs typeface="IBM Plex Sans" pitchFamily="34" charset="-120"/>
              </a:rPr>
              <a:t>✗</a:t>
            </a:r>
            <a:endParaRPr lang="en-US" sz="1350" dirty="0"/>
          </a:p>
        </p:txBody>
      </p:sp>
      <p:sp>
        <p:nvSpPr>
          <p:cNvPr id="72" name="Text 70"/>
          <p:cNvSpPr/>
          <p:nvPr/>
        </p:nvSpPr>
        <p:spPr>
          <a:xfrm>
            <a:off x="7366000" y="5795863"/>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IBM Plex Sans" pitchFamily="34" charset="0"/>
                <a:ea typeface="IBM Plex Sans" pitchFamily="34" charset="-122"/>
                <a:cs typeface="IBM Plex Sans" pitchFamily="34" charset="-120"/>
              </a:rPr>
              <a:t>Can feel over-engineered</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CORE CONCEPTS · THE REAL DIFFERENCE</a:t>
            </a:r>
            <a:endParaRPr lang="en-US" sz="1200" dirty="0"/>
          </a:p>
        </p:txBody>
      </p:sp>
      <p:sp>
        <p:nvSpPr>
          <p:cNvPr id="3" name="Text 1"/>
          <p:cNvSpPr/>
          <p:nvPr>
            <p:ph type="title"/>
          </p:nvPr>
        </p:nvSpPr>
        <p:spPr>
          <a:xfrm>
            <a:off x="812800" y="899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181D"/>
                </a:solidFill>
                <a:latin typeface="Bricolage Grotesque" pitchFamily="34" charset="0"/>
                <a:ea typeface="Bricolage Grotesque" pitchFamily="34" charset="-122"/>
                <a:cs typeface="Bricolage Grotesque" pitchFamily="34" charset="-120"/>
              </a:rPr>
              <a:t>Where ADK makes the difference</a:t>
            </a:r>
            <a:endParaRPr lang="en-US" sz="3200" dirty="0"/>
          </a:p>
        </p:txBody>
      </p:sp>
      <p:sp>
        <p:nvSpPr>
          <p:cNvPr id="4" name="Text 2"/>
          <p:cNvSpPr/>
          <p:nvPr/>
        </p:nvSpPr>
        <p:spPr>
          <a:xfrm>
            <a:off x="812800" y="1549350"/>
            <a:ext cx="2540000" cy="408930"/>
          </a:xfrm>
          <a:prstGeom prst="rect">
            <a:avLst/>
          </a:prstGeom>
          <a:solidFill>
            <a:srgbClr val="E3EAE7"/>
          </a:solidFill>
          <a:ln/>
        </p:spPr>
        <p:txBody>
          <a:bodyPr wrap="square" lIns="127000" tIns="88900" rIns="58420" bIns="63500" rtlCol="0" anchor="t">
            <a:normAutofit/>
          </a:bodyPr>
          <a:lstStyle/>
          <a:p>
            <a:pPr algn="l" indent="0" marL="0">
              <a:lnSpc>
                <a:spcPts val="1820"/>
              </a:lnSpc>
              <a:buNone/>
            </a:pPr>
            <a:r>
              <a:rPr lang="en-US" sz="1400" b="1" dirty="0">
                <a:solidFill>
                  <a:srgbClr val="10181D"/>
                </a:solidFill>
                <a:latin typeface="IBM Plex Sans" pitchFamily="34" charset="0"/>
                <a:ea typeface="IBM Plex Sans" pitchFamily="34" charset="-122"/>
                <a:cs typeface="IBM Plex Sans" pitchFamily="34" charset="-120"/>
              </a:rPr>
              <a:t>Situation</a:t>
            </a:r>
            <a:endParaRPr lang="en-US" sz="1400" dirty="0"/>
          </a:p>
        </p:txBody>
      </p:sp>
      <p:sp>
        <p:nvSpPr>
          <p:cNvPr id="5" name="Text 3"/>
          <p:cNvSpPr/>
          <p:nvPr/>
        </p:nvSpPr>
        <p:spPr>
          <a:xfrm>
            <a:off x="3352800" y="1549350"/>
            <a:ext cx="4013200" cy="408930"/>
          </a:xfrm>
          <a:prstGeom prst="rect">
            <a:avLst/>
          </a:prstGeom>
          <a:solidFill>
            <a:srgbClr val="E3EAE7"/>
          </a:solidFill>
          <a:ln/>
        </p:spPr>
        <p:txBody>
          <a:bodyPr wrap="square" lIns="127000" tIns="88900" rIns="14224" bIns="63500" rtlCol="0" anchor="t">
            <a:normAutofit/>
          </a:bodyPr>
          <a:lstStyle/>
          <a:p>
            <a:pPr algn="l" indent="0" marL="0">
              <a:lnSpc>
                <a:spcPts val="1820"/>
              </a:lnSpc>
              <a:buNone/>
            </a:pPr>
            <a:r>
              <a:rPr lang="en-US" sz="1400" b="1" dirty="0">
                <a:solidFill>
                  <a:srgbClr val="10181D"/>
                </a:solidFill>
                <a:latin typeface="IBM Plex Sans" pitchFamily="34" charset="0"/>
                <a:ea typeface="IBM Plex Sans" pitchFamily="34" charset="-122"/>
                <a:cs typeface="IBM Plex Sans" pitchFamily="34" charset="-120"/>
              </a:rPr>
              <a:t>Single agent file</a:t>
            </a:r>
            <a:endParaRPr lang="en-US" sz="1400" dirty="0"/>
          </a:p>
        </p:txBody>
      </p:sp>
      <p:sp>
        <p:nvSpPr>
          <p:cNvPr id="6" name="Text 4"/>
          <p:cNvSpPr/>
          <p:nvPr/>
        </p:nvSpPr>
        <p:spPr>
          <a:xfrm>
            <a:off x="7366000" y="1549350"/>
            <a:ext cx="4013200" cy="408930"/>
          </a:xfrm>
          <a:prstGeom prst="rect">
            <a:avLst/>
          </a:prstGeom>
          <a:solidFill>
            <a:srgbClr val="E3EAE7"/>
          </a:solidFill>
          <a:ln/>
        </p:spPr>
        <p:txBody>
          <a:bodyPr wrap="square" lIns="127000" tIns="88900" rIns="14224" bIns="63500" rtlCol="0" anchor="t">
            <a:normAutofit/>
          </a:bodyPr>
          <a:lstStyle/>
          <a:p>
            <a:pPr algn="l" indent="0" marL="0">
              <a:lnSpc>
                <a:spcPts val="1820"/>
              </a:lnSpc>
              <a:buNone/>
            </a:pPr>
            <a:r>
              <a:rPr lang="en-US" sz="1400" b="1" dirty="0">
                <a:solidFill>
                  <a:srgbClr val="10181D"/>
                </a:solidFill>
                <a:latin typeface="IBM Plex Sans" pitchFamily="34" charset="0"/>
                <a:ea typeface="IBM Plex Sans" pitchFamily="34" charset="-122"/>
                <a:cs typeface="IBM Plex Sans" pitchFamily="34" charset="-120"/>
              </a:rPr>
              <a:t>ADK workflow</a:t>
            </a:r>
            <a:endParaRPr lang="en-US" sz="1400" dirty="0"/>
          </a:p>
        </p:txBody>
      </p:sp>
      <p:sp>
        <p:nvSpPr>
          <p:cNvPr id="7" name="Shape 5"/>
          <p:cNvSpPr/>
          <p:nvPr/>
        </p:nvSpPr>
        <p:spPr>
          <a:xfrm>
            <a:off x="812800" y="2498626"/>
            <a:ext cx="2540000" cy="0"/>
          </a:xfrm>
          <a:prstGeom prst="line">
            <a:avLst/>
          </a:prstGeom>
          <a:noFill/>
          <a:ln w="6350">
            <a:solidFill>
              <a:srgbClr val="D5DDDA"/>
            </a:solidFill>
            <a:prstDash val="solid"/>
          </a:ln>
        </p:spPr>
      </p:sp>
      <p:sp>
        <p:nvSpPr>
          <p:cNvPr id="8" name="Text 6"/>
          <p:cNvSpPr/>
          <p:nvPr/>
        </p:nvSpPr>
        <p:spPr>
          <a:xfrm>
            <a:off x="939800" y="2097980"/>
            <a:ext cx="235458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0181D"/>
                </a:solidFill>
                <a:latin typeface="IBM Plex Sans" pitchFamily="34" charset="0"/>
                <a:ea typeface="IBM Plex Sans" pitchFamily="34" charset="-122"/>
                <a:cs typeface="IBM Plex Sans" pitchFamily="34" charset="-120"/>
              </a:rPr>
              <a:t>A secret in the code</a:t>
            </a:r>
            <a:endParaRPr lang="en-US" sz="1400" dirty="0"/>
          </a:p>
        </p:txBody>
      </p:sp>
      <p:sp>
        <p:nvSpPr>
          <p:cNvPr id="9" name="Shape 7"/>
          <p:cNvSpPr/>
          <p:nvPr/>
        </p:nvSpPr>
        <p:spPr>
          <a:xfrm>
            <a:off x="3352800" y="2498626"/>
            <a:ext cx="4013200" cy="0"/>
          </a:xfrm>
          <a:prstGeom prst="line">
            <a:avLst/>
          </a:prstGeom>
          <a:noFill/>
          <a:ln w="6350">
            <a:solidFill>
              <a:srgbClr val="D5DDDA"/>
            </a:solidFill>
            <a:prstDash val="solid"/>
          </a:ln>
        </p:spPr>
      </p:sp>
      <p:sp>
        <p:nvSpPr>
          <p:cNvPr id="10" name="Text 8"/>
          <p:cNvSpPr/>
          <p:nvPr/>
        </p:nvSpPr>
        <p:spPr>
          <a:xfrm>
            <a:off x="3479800" y="2097980"/>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B3261E"/>
                </a:solidFill>
                <a:latin typeface="IBM Plex Sans" pitchFamily="34" charset="0"/>
                <a:ea typeface="IBM Plex Sans" pitchFamily="34" charset="-122"/>
                <a:cs typeface="IBM Plex Sans" pitchFamily="34" charset="-120"/>
              </a:rPr>
              <a:t>✗</a:t>
            </a:r>
            <a:endParaRPr lang="en-US" sz="1400" dirty="0"/>
          </a:p>
        </p:txBody>
      </p:sp>
      <p:sp>
        <p:nvSpPr>
          <p:cNvPr id="11" name="Text 9"/>
          <p:cNvSpPr/>
          <p:nvPr/>
        </p:nvSpPr>
        <p:spPr>
          <a:xfrm>
            <a:off x="3695700" y="2097980"/>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IBM Plex Sans" pitchFamily="34" charset="0"/>
                <a:ea typeface="IBM Plex Sans" pitchFamily="34" charset="-122"/>
                <a:cs typeface="IBM Plex Sans" pitchFamily="34" charset="-120"/>
              </a:rPr>
              <a:t>Sent to the model, printed in the answer</a:t>
            </a:r>
            <a:endParaRPr lang="en-US" sz="1400" dirty="0"/>
          </a:p>
        </p:txBody>
      </p:sp>
      <p:sp>
        <p:nvSpPr>
          <p:cNvPr id="12" name="Shape 10"/>
          <p:cNvSpPr/>
          <p:nvPr/>
        </p:nvSpPr>
        <p:spPr>
          <a:xfrm>
            <a:off x="7366000" y="2498626"/>
            <a:ext cx="4013200" cy="0"/>
          </a:xfrm>
          <a:prstGeom prst="line">
            <a:avLst/>
          </a:prstGeom>
          <a:noFill/>
          <a:ln w="6350">
            <a:solidFill>
              <a:srgbClr val="D5DDDA"/>
            </a:solidFill>
            <a:prstDash val="solid"/>
          </a:ln>
        </p:spPr>
      </p:sp>
      <p:sp>
        <p:nvSpPr>
          <p:cNvPr id="13" name="Text 11"/>
          <p:cNvSpPr/>
          <p:nvPr/>
        </p:nvSpPr>
        <p:spPr>
          <a:xfrm>
            <a:off x="7493000" y="2097980"/>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D6B58"/>
                </a:solidFill>
                <a:latin typeface="IBM Plex Sans" pitchFamily="34" charset="0"/>
                <a:ea typeface="IBM Plex Sans" pitchFamily="34" charset="-122"/>
                <a:cs typeface="IBM Plex Sans" pitchFamily="34" charset="-120"/>
              </a:rPr>
              <a:t>✓</a:t>
            </a:r>
            <a:endParaRPr lang="en-US" sz="1400" dirty="0"/>
          </a:p>
        </p:txBody>
      </p:sp>
      <p:sp>
        <p:nvSpPr>
          <p:cNvPr id="14" name="Text 12"/>
          <p:cNvSpPr/>
          <p:nvPr/>
        </p:nvSpPr>
        <p:spPr>
          <a:xfrm>
            <a:off x="7708900" y="2097980"/>
            <a:ext cx="367030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IBM Plex Sans" pitchFamily="34" charset="0"/>
                <a:ea typeface="IBM Plex Sans" pitchFamily="34" charset="-122"/>
                <a:cs typeface="IBM Plex Sans" pitchFamily="34" charset="-120"/>
              </a:rPr>
              <a:t>Hidden from the model, flagged as a blocker</a:t>
            </a:r>
            <a:endParaRPr lang="en-US" sz="1400" dirty="0"/>
          </a:p>
        </p:txBody>
      </p:sp>
      <p:sp>
        <p:nvSpPr>
          <p:cNvPr id="15" name="Shape 13"/>
          <p:cNvSpPr/>
          <p:nvPr/>
        </p:nvSpPr>
        <p:spPr>
          <a:xfrm>
            <a:off x="812800" y="3042146"/>
            <a:ext cx="2540000" cy="0"/>
          </a:xfrm>
          <a:prstGeom prst="line">
            <a:avLst/>
          </a:prstGeom>
          <a:noFill/>
          <a:ln w="6350">
            <a:solidFill>
              <a:srgbClr val="D5DDDA"/>
            </a:solidFill>
            <a:prstDash val="solid"/>
          </a:ln>
        </p:spPr>
      </p:sp>
      <p:sp>
        <p:nvSpPr>
          <p:cNvPr id="16" name="Text 14"/>
          <p:cNvSpPr/>
          <p:nvPr/>
        </p:nvSpPr>
        <p:spPr>
          <a:xfrm>
            <a:off x="939800" y="2641501"/>
            <a:ext cx="235458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0181D"/>
                </a:solidFill>
                <a:latin typeface="IBM Plex Sans" pitchFamily="34" charset="0"/>
                <a:ea typeface="IBM Plex Sans" pitchFamily="34" charset="-122"/>
                <a:cs typeface="IBM Plex Sans" pitchFamily="34" charset="-120"/>
              </a:rPr>
              <a:t>A file too long to read in full</a:t>
            </a:r>
            <a:endParaRPr lang="en-US" sz="1400" dirty="0"/>
          </a:p>
        </p:txBody>
      </p:sp>
      <p:sp>
        <p:nvSpPr>
          <p:cNvPr id="17" name="Shape 15"/>
          <p:cNvSpPr/>
          <p:nvPr/>
        </p:nvSpPr>
        <p:spPr>
          <a:xfrm>
            <a:off x="3352800" y="3042146"/>
            <a:ext cx="4013200" cy="0"/>
          </a:xfrm>
          <a:prstGeom prst="line">
            <a:avLst/>
          </a:prstGeom>
          <a:noFill/>
          <a:ln w="6350">
            <a:solidFill>
              <a:srgbClr val="D5DDDA"/>
            </a:solidFill>
            <a:prstDash val="solid"/>
          </a:ln>
        </p:spPr>
      </p:sp>
      <p:sp>
        <p:nvSpPr>
          <p:cNvPr id="18" name="Text 16"/>
          <p:cNvSpPr/>
          <p:nvPr/>
        </p:nvSpPr>
        <p:spPr>
          <a:xfrm>
            <a:off x="3479800" y="2641501"/>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B3261E"/>
                </a:solidFill>
                <a:latin typeface="IBM Plex Sans" pitchFamily="34" charset="0"/>
                <a:ea typeface="IBM Plex Sans" pitchFamily="34" charset="-122"/>
                <a:cs typeface="IBM Plex Sans" pitchFamily="34" charset="-120"/>
              </a:rPr>
              <a:t>✗</a:t>
            </a:r>
            <a:endParaRPr lang="en-US" sz="1400" dirty="0"/>
          </a:p>
        </p:txBody>
      </p:sp>
      <p:sp>
        <p:nvSpPr>
          <p:cNvPr id="19" name="Text 17"/>
          <p:cNvSpPr/>
          <p:nvPr/>
        </p:nvSpPr>
        <p:spPr>
          <a:xfrm>
            <a:off x="3695700" y="2641501"/>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IBM Plex Sans" pitchFamily="34" charset="0"/>
                <a:ea typeface="IBM Plex Sans" pitchFamily="34" charset="-122"/>
                <a:cs typeface="IBM Plex Sans" pitchFamily="34" charset="-120"/>
              </a:rPr>
              <a:t>Approved anyway, with no warning</a:t>
            </a:r>
            <a:endParaRPr lang="en-US" sz="1400" dirty="0"/>
          </a:p>
        </p:txBody>
      </p:sp>
      <p:sp>
        <p:nvSpPr>
          <p:cNvPr id="20" name="Shape 18"/>
          <p:cNvSpPr/>
          <p:nvPr/>
        </p:nvSpPr>
        <p:spPr>
          <a:xfrm>
            <a:off x="7366000" y="3042146"/>
            <a:ext cx="4013200" cy="0"/>
          </a:xfrm>
          <a:prstGeom prst="line">
            <a:avLst/>
          </a:prstGeom>
          <a:noFill/>
          <a:ln w="6350">
            <a:solidFill>
              <a:srgbClr val="D5DDDA"/>
            </a:solidFill>
            <a:prstDash val="solid"/>
          </a:ln>
        </p:spPr>
      </p:sp>
      <p:sp>
        <p:nvSpPr>
          <p:cNvPr id="21" name="Text 19"/>
          <p:cNvSpPr/>
          <p:nvPr/>
        </p:nvSpPr>
        <p:spPr>
          <a:xfrm>
            <a:off x="7493000" y="2641501"/>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D6B58"/>
                </a:solidFill>
                <a:latin typeface="IBM Plex Sans" pitchFamily="34" charset="0"/>
                <a:ea typeface="IBM Plex Sans" pitchFamily="34" charset="-122"/>
                <a:cs typeface="IBM Plex Sans" pitchFamily="34" charset="-120"/>
              </a:rPr>
              <a:t>✓</a:t>
            </a:r>
            <a:endParaRPr lang="en-US" sz="1400" dirty="0"/>
          </a:p>
        </p:txBody>
      </p:sp>
      <p:sp>
        <p:nvSpPr>
          <p:cNvPr id="22" name="Text 20"/>
          <p:cNvSpPr/>
          <p:nvPr/>
        </p:nvSpPr>
        <p:spPr>
          <a:xfrm>
            <a:off x="7708900" y="2641501"/>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IBM Plex Sans" pitchFamily="34" charset="0"/>
                <a:ea typeface="IBM Plex Sans" pitchFamily="34" charset="-122"/>
                <a:cs typeface="IBM Plex Sans" pitchFamily="34" charset="-120"/>
              </a:rPr>
              <a:t>Names the file and refuses to approve</a:t>
            </a:r>
            <a:endParaRPr lang="en-US" sz="1400" dirty="0"/>
          </a:p>
        </p:txBody>
      </p:sp>
      <p:sp>
        <p:nvSpPr>
          <p:cNvPr id="23" name="Shape 21"/>
          <p:cNvSpPr/>
          <p:nvPr/>
        </p:nvSpPr>
        <p:spPr>
          <a:xfrm>
            <a:off x="812800" y="3585666"/>
            <a:ext cx="2540000" cy="0"/>
          </a:xfrm>
          <a:prstGeom prst="line">
            <a:avLst/>
          </a:prstGeom>
          <a:noFill/>
          <a:ln w="6350">
            <a:solidFill>
              <a:srgbClr val="D5DDDA"/>
            </a:solidFill>
            <a:prstDash val="solid"/>
          </a:ln>
        </p:spPr>
      </p:sp>
      <p:sp>
        <p:nvSpPr>
          <p:cNvPr id="24" name="Text 22"/>
          <p:cNvSpPr/>
          <p:nvPr/>
        </p:nvSpPr>
        <p:spPr>
          <a:xfrm>
            <a:off x="939800" y="3185021"/>
            <a:ext cx="235458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0181D"/>
                </a:solidFill>
                <a:latin typeface="IBM Plex Sans" pitchFamily="34" charset="0"/>
                <a:ea typeface="IBM Plex Sans" pitchFamily="34" charset="-122"/>
                <a:cs typeface="IBM Plex Sans" pitchFamily="34" charset="-120"/>
              </a:rPr>
              <a:t>A build needs pass or fail</a:t>
            </a:r>
            <a:endParaRPr lang="en-US" sz="1400" dirty="0"/>
          </a:p>
        </p:txBody>
      </p:sp>
      <p:sp>
        <p:nvSpPr>
          <p:cNvPr id="25" name="Shape 23"/>
          <p:cNvSpPr/>
          <p:nvPr/>
        </p:nvSpPr>
        <p:spPr>
          <a:xfrm>
            <a:off x="3352800" y="3585666"/>
            <a:ext cx="4013200" cy="0"/>
          </a:xfrm>
          <a:prstGeom prst="line">
            <a:avLst/>
          </a:prstGeom>
          <a:noFill/>
          <a:ln w="6350">
            <a:solidFill>
              <a:srgbClr val="D5DDDA"/>
            </a:solidFill>
            <a:prstDash val="solid"/>
          </a:ln>
        </p:spPr>
      </p:sp>
      <p:sp>
        <p:nvSpPr>
          <p:cNvPr id="26" name="Text 24"/>
          <p:cNvSpPr/>
          <p:nvPr/>
        </p:nvSpPr>
        <p:spPr>
          <a:xfrm>
            <a:off x="3479800" y="3185021"/>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B3261E"/>
                </a:solidFill>
                <a:latin typeface="IBM Plex Sans" pitchFamily="34" charset="0"/>
                <a:ea typeface="IBM Plex Sans" pitchFamily="34" charset="-122"/>
                <a:cs typeface="IBM Plex Sans" pitchFamily="34" charset="-120"/>
              </a:rPr>
              <a:t>✗</a:t>
            </a:r>
            <a:endParaRPr lang="en-US" sz="1400" dirty="0"/>
          </a:p>
        </p:txBody>
      </p:sp>
      <p:sp>
        <p:nvSpPr>
          <p:cNvPr id="27" name="Text 25"/>
          <p:cNvSpPr/>
          <p:nvPr/>
        </p:nvSpPr>
        <p:spPr>
          <a:xfrm>
            <a:off x="3695700" y="3185021"/>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IBM Plex Sans" pitchFamily="34" charset="0"/>
                <a:ea typeface="IBM Plex Sans" pitchFamily="34" charset="-122"/>
                <a:cs typeface="IBM Plex Sans" pitchFamily="34" charset="-120"/>
              </a:rPr>
              <a:t>A sentence to read and trust</a:t>
            </a:r>
            <a:endParaRPr lang="en-US" sz="1400" dirty="0"/>
          </a:p>
        </p:txBody>
      </p:sp>
      <p:sp>
        <p:nvSpPr>
          <p:cNvPr id="28" name="Shape 26"/>
          <p:cNvSpPr/>
          <p:nvPr/>
        </p:nvSpPr>
        <p:spPr>
          <a:xfrm>
            <a:off x="7366000" y="3585666"/>
            <a:ext cx="4013200" cy="0"/>
          </a:xfrm>
          <a:prstGeom prst="line">
            <a:avLst/>
          </a:prstGeom>
          <a:noFill/>
          <a:ln w="6350">
            <a:solidFill>
              <a:srgbClr val="D5DDDA"/>
            </a:solidFill>
            <a:prstDash val="solid"/>
          </a:ln>
        </p:spPr>
      </p:sp>
      <p:sp>
        <p:nvSpPr>
          <p:cNvPr id="29" name="Text 27"/>
          <p:cNvSpPr/>
          <p:nvPr/>
        </p:nvSpPr>
        <p:spPr>
          <a:xfrm>
            <a:off x="7493000" y="3185021"/>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D6B58"/>
                </a:solidFill>
                <a:latin typeface="IBM Plex Sans" pitchFamily="34" charset="0"/>
                <a:ea typeface="IBM Plex Sans" pitchFamily="34" charset="-122"/>
                <a:cs typeface="IBM Plex Sans" pitchFamily="34" charset="-120"/>
              </a:rPr>
              <a:t>✓</a:t>
            </a:r>
            <a:endParaRPr lang="en-US" sz="1400" dirty="0"/>
          </a:p>
        </p:txBody>
      </p:sp>
      <p:sp>
        <p:nvSpPr>
          <p:cNvPr id="30" name="Text 28"/>
          <p:cNvSpPr/>
          <p:nvPr/>
        </p:nvSpPr>
        <p:spPr>
          <a:xfrm>
            <a:off x="7708900" y="3185021"/>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IBM Plex Sans" pitchFamily="34" charset="0"/>
                <a:ea typeface="IBM Plex Sans" pitchFamily="34" charset="-122"/>
                <a:cs typeface="IBM Plex Sans" pitchFamily="34" charset="-120"/>
              </a:rPr>
              <a:t>An exit code the pipeline can act on</a:t>
            </a:r>
            <a:endParaRPr lang="en-US" sz="1400" dirty="0"/>
          </a:p>
        </p:txBody>
      </p:sp>
      <p:sp>
        <p:nvSpPr>
          <p:cNvPr id="31" name="Shape 29"/>
          <p:cNvSpPr/>
          <p:nvPr/>
        </p:nvSpPr>
        <p:spPr>
          <a:xfrm>
            <a:off x="812800" y="4129187"/>
            <a:ext cx="2540000" cy="0"/>
          </a:xfrm>
          <a:prstGeom prst="line">
            <a:avLst/>
          </a:prstGeom>
          <a:noFill/>
          <a:ln w="6350">
            <a:solidFill>
              <a:srgbClr val="D5DDDA"/>
            </a:solidFill>
            <a:prstDash val="solid"/>
          </a:ln>
        </p:spPr>
      </p:sp>
      <p:sp>
        <p:nvSpPr>
          <p:cNvPr id="32" name="Text 30"/>
          <p:cNvSpPr/>
          <p:nvPr/>
        </p:nvSpPr>
        <p:spPr>
          <a:xfrm>
            <a:off x="939800" y="3728541"/>
            <a:ext cx="235458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0181D"/>
                </a:solidFill>
                <a:latin typeface="IBM Plex Sans" pitchFamily="34" charset="0"/>
                <a:ea typeface="IBM Plex Sans" pitchFamily="34" charset="-122"/>
                <a:cs typeface="IBM Plex Sans" pitchFamily="34" charset="-120"/>
              </a:rPr>
              <a:t>A spending limit</a:t>
            </a:r>
            <a:endParaRPr lang="en-US" sz="1400" dirty="0"/>
          </a:p>
        </p:txBody>
      </p:sp>
      <p:sp>
        <p:nvSpPr>
          <p:cNvPr id="33" name="Shape 31"/>
          <p:cNvSpPr/>
          <p:nvPr/>
        </p:nvSpPr>
        <p:spPr>
          <a:xfrm>
            <a:off x="3352800" y="4129187"/>
            <a:ext cx="4013200" cy="0"/>
          </a:xfrm>
          <a:prstGeom prst="line">
            <a:avLst/>
          </a:prstGeom>
          <a:noFill/>
          <a:ln w="6350">
            <a:solidFill>
              <a:srgbClr val="D5DDDA"/>
            </a:solidFill>
            <a:prstDash val="solid"/>
          </a:ln>
        </p:spPr>
      </p:sp>
      <p:sp>
        <p:nvSpPr>
          <p:cNvPr id="34" name="Text 32"/>
          <p:cNvSpPr/>
          <p:nvPr/>
        </p:nvSpPr>
        <p:spPr>
          <a:xfrm>
            <a:off x="3479800" y="3728541"/>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B3261E"/>
                </a:solidFill>
                <a:latin typeface="IBM Plex Sans" pitchFamily="34" charset="0"/>
                <a:ea typeface="IBM Plex Sans" pitchFamily="34" charset="-122"/>
                <a:cs typeface="IBM Plex Sans" pitchFamily="34" charset="-120"/>
              </a:rPr>
              <a:t>✗</a:t>
            </a:r>
            <a:endParaRPr lang="en-US" sz="1400" dirty="0"/>
          </a:p>
        </p:txBody>
      </p:sp>
      <p:sp>
        <p:nvSpPr>
          <p:cNvPr id="35" name="Text 33"/>
          <p:cNvSpPr/>
          <p:nvPr/>
        </p:nvSpPr>
        <p:spPr>
          <a:xfrm>
            <a:off x="3695700" y="3728541"/>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IBM Plex Sans" pitchFamily="34" charset="0"/>
                <a:ea typeface="IBM Plex Sans" pitchFamily="34" charset="-122"/>
                <a:cs typeface="IBM Plex Sans" pitchFamily="34" charset="-120"/>
              </a:rPr>
              <a:t>Nothing stops it from spending</a:t>
            </a:r>
            <a:endParaRPr lang="en-US" sz="1400" dirty="0"/>
          </a:p>
        </p:txBody>
      </p:sp>
      <p:sp>
        <p:nvSpPr>
          <p:cNvPr id="36" name="Shape 34"/>
          <p:cNvSpPr/>
          <p:nvPr/>
        </p:nvSpPr>
        <p:spPr>
          <a:xfrm>
            <a:off x="7366000" y="4129187"/>
            <a:ext cx="4013200" cy="0"/>
          </a:xfrm>
          <a:prstGeom prst="line">
            <a:avLst/>
          </a:prstGeom>
          <a:noFill/>
          <a:ln w="6350">
            <a:solidFill>
              <a:srgbClr val="D5DDDA"/>
            </a:solidFill>
            <a:prstDash val="solid"/>
          </a:ln>
        </p:spPr>
      </p:sp>
      <p:sp>
        <p:nvSpPr>
          <p:cNvPr id="37" name="Text 35"/>
          <p:cNvSpPr/>
          <p:nvPr/>
        </p:nvSpPr>
        <p:spPr>
          <a:xfrm>
            <a:off x="7493000" y="3728541"/>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D6B58"/>
                </a:solidFill>
                <a:latin typeface="IBM Plex Sans" pitchFamily="34" charset="0"/>
                <a:ea typeface="IBM Plex Sans" pitchFamily="34" charset="-122"/>
                <a:cs typeface="IBM Plex Sans" pitchFamily="34" charset="-120"/>
              </a:rPr>
              <a:t>✓</a:t>
            </a:r>
            <a:endParaRPr lang="en-US" sz="1400" dirty="0"/>
          </a:p>
        </p:txBody>
      </p:sp>
      <p:sp>
        <p:nvSpPr>
          <p:cNvPr id="38" name="Text 36"/>
          <p:cNvSpPr/>
          <p:nvPr/>
        </p:nvSpPr>
        <p:spPr>
          <a:xfrm>
            <a:off x="7708900" y="3728541"/>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IBM Plex Sans" pitchFamily="34" charset="0"/>
                <a:ea typeface="IBM Plex Sans" pitchFamily="34" charset="-122"/>
                <a:cs typeface="IBM Plex Sans" pitchFamily="34" charset="-120"/>
              </a:rPr>
              <a:t>Stops at the limit and says so</a:t>
            </a:r>
            <a:endParaRPr lang="en-US" sz="1400" dirty="0"/>
          </a:p>
        </p:txBody>
      </p:sp>
      <p:sp>
        <p:nvSpPr>
          <p:cNvPr id="39" name="Shape 37"/>
          <p:cNvSpPr/>
          <p:nvPr/>
        </p:nvSpPr>
        <p:spPr>
          <a:xfrm>
            <a:off x="812800" y="4672707"/>
            <a:ext cx="2540000" cy="0"/>
          </a:xfrm>
          <a:prstGeom prst="line">
            <a:avLst/>
          </a:prstGeom>
          <a:noFill/>
          <a:ln w="6350">
            <a:solidFill>
              <a:srgbClr val="D5DDDA"/>
            </a:solidFill>
            <a:prstDash val="solid"/>
          </a:ln>
        </p:spPr>
      </p:sp>
      <p:sp>
        <p:nvSpPr>
          <p:cNvPr id="40" name="Text 38"/>
          <p:cNvSpPr/>
          <p:nvPr/>
        </p:nvSpPr>
        <p:spPr>
          <a:xfrm>
            <a:off x="939800" y="4272062"/>
            <a:ext cx="235458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0181D"/>
                </a:solidFill>
                <a:latin typeface="IBM Plex Sans" pitchFamily="34" charset="0"/>
                <a:ea typeface="IBM Plex Sans" pitchFamily="34" charset="-122"/>
                <a:cs typeface="IBM Plex Sans" pitchFamily="34" charset="-120"/>
              </a:rPr>
              <a:t>Testing the flow</a:t>
            </a:r>
            <a:endParaRPr lang="en-US" sz="1400" dirty="0"/>
          </a:p>
        </p:txBody>
      </p:sp>
      <p:sp>
        <p:nvSpPr>
          <p:cNvPr id="41" name="Shape 39"/>
          <p:cNvSpPr/>
          <p:nvPr/>
        </p:nvSpPr>
        <p:spPr>
          <a:xfrm>
            <a:off x="3352800" y="4672707"/>
            <a:ext cx="4013200" cy="0"/>
          </a:xfrm>
          <a:prstGeom prst="line">
            <a:avLst/>
          </a:prstGeom>
          <a:noFill/>
          <a:ln w="6350">
            <a:solidFill>
              <a:srgbClr val="D5DDDA"/>
            </a:solidFill>
            <a:prstDash val="solid"/>
          </a:ln>
        </p:spPr>
      </p:sp>
      <p:sp>
        <p:nvSpPr>
          <p:cNvPr id="42" name="Text 40"/>
          <p:cNvSpPr/>
          <p:nvPr/>
        </p:nvSpPr>
        <p:spPr>
          <a:xfrm>
            <a:off x="3479800" y="4272062"/>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B3261E"/>
                </a:solidFill>
                <a:latin typeface="IBM Plex Sans" pitchFamily="34" charset="0"/>
                <a:ea typeface="IBM Plex Sans" pitchFamily="34" charset="-122"/>
                <a:cs typeface="IBM Plex Sans" pitchFamily="34" charset="-120"/>
              </a:rPr>
              <a:t>✗</a:t>
            </a:r>
            <a:endParaRPr lang="en-US" sz="1400" dirty="0"/>
          </a:p>
        </p:txBody>
      </p:sp>
      <p:sp>
        <p:nvSpPr>
          <p:cNvPr id="43" name="Text 41"/>
          <p:cNvSpPr/>
          <p:nvPr/>
        </p:nvSpPr>
        <p:spPr>
          <a:xfrm>
            <a:off x="3695700" y="4272062"/>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IBM Plex Sans" pitchFamily="34" charset="0"/>
                <a:ea typeface="IBM Plex Sans" pitchFamily="34" charset="-122"/>
                <a:cs typeface="IBM Plex Sans" pitchFamily="34" charset="-120"/>
              </a:rPr>
              <a:t>Needs the live model</a:t>
            </a:r>
            <a:endParaRPr lang="en-US" sz="1400" dirty="0"/>
          </a:p>
        </p:txBody>
      </p:sp>
      <p:sp>
        <p:nvSpPr>
          <p:cNvPr id="44" name="Shape 42"/>
          <p:cNvSpPr/>
          <p:nvPr/>
        </p:nvSpPr>
        <p:spPr>
          <a:xfrm>
            <a:off x="7366000" y="4672707"/>
            <a:ext cx="4013200" cy="0"/>
          </a:xfrm>
          <a:prstGeom prst="line">
            <a:avLst/>
          </a:prstGeom>
          <a:noFill/>
          <a:ln w="6350">
            <a:solidFill>
              <a:srgbClr val="D5DDDA"/>
            </a:solidFill>
            <a:prstDash val="solid"/>
          </a:ln>
        </p:spPr>
      </p:sp>
      <p:sp>
        <p:nvSpPr>
          <p:cNvPr id="45" name="Text 43"/>
          <p:cNvSpPr/>
          <p:nvPr/>
        </p:nvSpPr>
        <p:spPr>
          <a:xfrm>
            <a:off x="7493000" y="4272062"/>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D6B58"/>
                </a:solidFill>
                <a:latin typeface="IBM Plex Sans" pitchFamily="34" charset="0"/>
                <a:ea typeface="IBM Plex Sans" pitchFamily="34" charset="-122"/>
                <a:cs typeface="IBM Plex Sans" pitchFamily="34" charset="-120"/>
              </a:rPr>
              <a:t>✓</a:t>
            </a:r>
            <a:endParaRPr lang="en-US" sz="1400" dirty="0"/>
          </a:p>
        </p:txBody>
      </p:sp>
      <p:sp>
        <p:nvSpPr>
          <p:cNvPr id="46" name="Text 44"/>
          <p:cNvSpPr/>
          <p:nvPr/>
        </p:nvSpPr>
        <p:spPr>
          <a:xfrm>
            <a:off x="7708900" y="4272062"/>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IBM Plex Sans" pitchFamily="34" charset="0"/>
                <a:ea typeface="IBM Plex Sans" pitchFamily="34" charset="-122"/>
                <a:cs typeface="IBM Plex Sans" pitchFamily="34" charset="-120"/>
              </a:rPr>
              <a:t>Runs offline, with a fake model</a:t>
            </a:r>
            <a:endParaRPr lang="en-US" sz="1400" dirty="0"/>
          </a:p>
        </p:txBody>
      </p:sp>
      <p:sp>
        <p:nvSpPr>
          <p:cNvPr id="47" name="Text 45"/>
          <p:cNvSpPr/>
          <p:nvPr/>
        </p:nvSpPr>
        <p:spPr>
          <a:xfrm>
            <a:off x="812800" y="487908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IBM Plex Sans" pitchFamily="34" charset="0"/>
                <a:ea typeface="IBM Plex Sans" pitchFamily="34" charset="-122"/>
                <a:cs typeface="IBM Plex Sans" pitchFamily="34" charset="-120"/>
              </a:rPr>
              <a:t>Same model, same tools. The difference is what the code guarantees.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CORE CONCEPTS · WHAT ADK GIVES YOU</a:t>
            </a:r>
            <a:endParaRPr lang="en-US" sz="1200" dirty="0"/>
          </a:p>
        </p:txBody>
      </p:sp>
      <p:sp>
        <p:nvSpPr>
          <p:cNvPr id="3" name="Text 1"/>
          <p:cNvSpPr/>
          <p:nvPr>
            <p:ph type="title"/>
          </p:nvPr>
        </p:nvSpPr>
        <p:spPr>
          <a:xfrm>
            <a:off x="812800" y="1026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Code runs the process, the model judges</a:t>
            </a:r>
            <a:endParaRPr lang="en-US" sz="3600" dirty="0"/>
          </a:p>
        </p:txBody>
      </p:sp>
      <p:sp>
        <p:nvSpPr>
          <p:cNvPr id="4" name="Shape 2"/>
          <p:cNvSpPr/>
          <p:nvPr/>
        </p:nvSpPr>
        <p:spPr>
          <a:xfrm>
            <a:off x="812800" y="1783011"/>
            <a:ext cx="5181600" cy="1288355"/>
          </a:xfrm>
          <a:prstGeom prst="roundRect">
            <a:avLst>
              <a:gd name="adj" fmla="val 7886"/>
            </a:avLst>
          </a:prstGeom>
          <a:solidFill>
            <a:srgbClr val="FBFCFB"/>
          </a:solidFill>
          <a:ln/>
        </p:spPr>
      </p:sp>
      <p:sp>
        <p:nvSpPr>
          <p:cNvPr id="5" name="Shape 3"/>
          <p:cNvSpPr/>
          <p:nvPr/>
        </p:nvSpPr>
        <p:spPr>
          <a:xfrm>
            <a:off x="812800" y="1783011"/>
            <a:ext cx="5181600" cy="1288355"/>
          </a:xfrm>
          <a:custGeom>
            <a:avLst/>
            <a:gdLst/>
            <a:ahLst/>
            <a:cxnLst/>
            <a:rect l="l" t="t" r="r" b="b"/>
            <a:pathLst>
              <a:path w="5181600" h="1288355">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1D6B58"/>
          </a:solidFill>
          <a:ln/>
        </p:spPr>
      </p:sp>
      <p:sp>
        <p:nvSpPr>
          <p:cNvPr id="6" name="Text 4"/>
          <p:cNvSpPr/>
          <p:nvPr/>
        </p:nvSpPr>
        <p:spPr>
          <a:xfrm>
            <a:off x="1041400" y="2024311"/>
            <a:ext cx="4866132"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0181D"/>
                </a:solidFill>
                <a:latin typeface="IBM Plex Sans" pitchFamily="34" charset="0"/>
                <a:ea typeface="IBM Plex Sans" pitchFamily="34" charset="-122"/>
                <a:cs typeface="IBM Plex Sans" pitchFamily="34" charset="-120"/>
              </a:rPr>
              <a:t>Control of the whole process</a:t>
            </a:r>
            <a:endParaRPr lang="en-US" sz="1700" dirty="0"/>
          </a:p>
        </p:txBody>
      </p:sp>
      <p:sp>
        <p:nvSpPr>
          <p:cNvPr id="7" name="Text 5"/>
          <p:cNvSpPr/>
          <p:nvPr/>
        </p:nvSpPr>
        <p:spPr>
          <a:xfrm>
            <a:off x="1041400" y="2370386"/>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Code sets the order, enforces the rules and decides the verdict, through workflows, callbacks and plugins.</a:t>
            </a:r>
            <a:endParaRPr lang="en-US" sz="1400" dirty="0"/>
          </a:p>
        </p:txBody>
      </p:sp>
      <p:sp>
        <p:nvSpPr>
          <p:cNvPr id="8" name="Shape 6"/>
          <p:cNvSpPr/>
          <p:nvPr/>
        </p:nvSpPr>
        <p:spPr>
          <a:xfrm>
            <a:off x="6197600" y="1783011"/>
            <a:ext cx="5181600" cy="1288355"/>
          </a:xfrm>
          <a:prstGeom prst="roundRect">
            <a:avLst>
              <a:gd name="adj" fmla="val 7886"/>
            </a:avLst>
          </a:prstGeom>
          <a:solidFill>
            <a:srgbClr val="FBFCFB"/>
          </a:solidFill>
          <a:ln/>
        </p:spPr>
      </p:sp>
      <p:sp>
        <p:nvSpPr>
          <p:cNvPr id="9" name="Shape 7"/>
          <p:cNvSpPr/>
          <p:nvPr/>
        </p:nvSpPr>
        <p:spPr>
          <a:xfrm>
            <a:off x="6197600" y="1783011"/>
            <a:ext cx="5181600" cy="1288355"/>
          </a:xfrm>
          <a:custGeom>
            <a:avLst/>
            <a:gdLst/>
            <a:ahLst/>
            <a:cxnLst/>
            <a:rect l="l" t="t" r="r" b="b"/>
            <a:pathLst>
              <a:path w="5181600" h="1288355">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1D6B58"/>
          </a:solidFill>
          <a:ln/>
        </p:spPr>
      </p:sp>
      <p:sp>
        <p:nvSpPr>
          <p:cNvPr id="10" name="Text 8"/>
          <p:cNvSpPr/>
          <p:nvPr/>
        </p:nvSpPr>
        <p:spPr>
          <a:xfrm>
            <a:off x="6426200" y="2024311"/>
            <a:ext cx="4866132"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0181D"/>
                </a:solidFill>
                <a:latin typeface="IBM Plex Sans" pitchFamily="34" charset="0"/>
                <a:ea typeface="IBM Plex Sans" pitchFamily="34" charset="-122"/>
                <a:cs typeface="IBM Plex Sans" pitchFamily="34" charset="-120"/>
              </a:rPr>
              <a:t>Deterministic, repeatable runs</a:t>
            </a:r>
            <a:endParaRPr lang="en-US" sz="1700" dirty="0"/>
          </a:p>
        </p:txBody>
      </p:sp>
      <p:sp>
        <p:nvSpPr>
          <p:cNvPr id="11" name="Text 9"/>
          <p:cNvSpPr/>
          <p:nvPr/>
        </p:nvSpPr>
        <p:spPr>
          <a:xfrm>
            <a:off x="6426200" y="2370386"/>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The same steps in the same order on every run, and a verdict computed in Python: exit 0, 1, 2 or 3.</a:t>
            </a:r>
            <a:endParaRPr lang="en-US" sz="1400" dirty="0"/>
          </a:p>
        </p:txBody>
      </p:sp>
      <p:sp>
        <p:nvSpPr>
          <p:cNvPr id="12" name="Shape 10"/>
          <p:cNvSpPr/>
          <p:nvPr/>
        </p:nvSpPr>
        <p:spPr>
          <a:xfrm>
            <a:off x="812800" y="3325366"/>
            <a:ext cx="5181600" cy="1288355"/>
          </a:xfrm>
          <a:prstGeom prst="roundRect">
            <a:avLst>
              <a:gd name="adj" fmla="val 7886"/>
            </a:avLst>
          </a:prstGeom>
          <a:solidFill>
            <a:srgbClr val="FBFCFB"/>
          </a:solidFill>
          <a:ln/>
        </p:spPr>
      </p:sp>
      <p:sp>
        <p:nvSpPr>
          <p:cNvPr id="13" name="Shape 11"/>
          <p:cNvSpPr/>
          <p:nvPr/>
        </p:nvSpPr>
        <p:spPr>
          <a:xfrm>
            <a:off x="812800" y="3325366"/>
            <a:ext cx="5181600" cy="1288355"/>
          </a:xfrm>
          <a:custGeom>
            <a:avLst/>
            <a:gdLst/>
            <a:ahLst/>
            <a:cxnLst/>
            <a:rect l="l" t="t" r="r" b="b"/>
            <a:pathLst>
              <a:path w="5181600" h="1288355">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1D6B58"/>
          </a:solidFill>
          <a:ln/>
        </p:spPr>
      </p:sp>
      <p:sp>
        <p:nvSpPr>
          <p:cNvPr id="14" name="Text 12"/>
          <p:cNvSpPr/>
          <p:nvPr/>
        </p:nvSpPr>
        <p:spPr>
          <a:xfrm>
            <a:off x="1041400" y="3566666"/>
            <a:ext cx="4866132"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0181D"/>
                </a:solidFill>
                <a:latin typeface="IBM Plex Sans" pitchFamily="34" charset="0"/>
                <a:ea typeface="IBM Plex Sans" pitchFamily="34" charset="-122"/>
                <a:cs typeface="IBM Plex Sans" pitchFamily="34" charset="-120"/>
              </a:rPr>
              <a:t>Every step observable</a:t>
            </a:r>
            <a:endParaRPr lang="en-US" sz="1700" dirty="0"/>
          </a:p>
        </p:txBody>
      </p:sp>
      <p:sp>
        <p:nvSpPr>
          <p:cNvPr id="15" name="Text 13"/>
          <p:cNvSpPr/>
          <p:nvPr/>
        </p:nvSpPr>
        <p:spPr>
          <a:xfrm>
            <a:off x="1041400" y="3912741"/>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Every model call, tool call and answer is an event, with tokens per agent and OpenTelemetry traces.</a:t>
            </a:r>
            <a:endParaRPr lang="en-US" sz="1400" dirty="0"/>
          </a:p>
        </p:txBody>
      </p:sp>
      <p:sp>
        <p:nvSpPr>
          <p:cNvPr id="16" name="Shape 14"/>
          <p:cNvSpPr/>
          <p:nvPr/>
        </p:nvSpPr>
        <p:spPr>
          <a:xfrm>
            <a:off x="6197600" y="3325366"/>
            <a:ext cx="5181600" cy="1288355"/>
          </a:xfrm>
          <a:prstGeom prst="roundRect">
            <a:avLst>
              <a:gd name="adj" fmla="val 7886"/>
            </a:avLst>
          </a:prstGeom>
          <a:solidFill>
            <a:srgbClr val="FBFCFB"/>
          </a:solidFill>
          <a:ln/>
        </p:spPr>
      </p:sp>
      <p:sp>
        <p:nvSpPr>
          <p:cNvPr id="17" name="Shape 15"/>
          <p:cNvSpPr/>
          <p:nvPr/>
        </p:nvSpPr>
        <p:spPr>
          <a:xfrm>
            <a:off x="6197600" y="3325366"/>
            <a:ext cx="5181600" cy="1288355"/>
          </a:xfrm>
          <a:custGeom>
            <a:avLst/>
            <a:gdLst/>
            <a:ahLst/>
            <a:cxnLst/>
            <a:rect l="l" t="t" r="r" b="b"/>
            <a:pathLst>
              <a:path w="5181600" h="1288355">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1D6B58"/>
          </a:solidFill>
          <a:ln/>
        </p:spPr>
      </p:sp>
      <p:sp>
        <p:nvSpPr>
          <p:cNvPr id="18" name="Text 16"/>
          <p:cNvSpPr/>
          <p:nvPr/>
        </p:nvSpPr>
        <p:spPr>
          <a:xfrm>
            <a:off x="6426200" y="3566666"/>
            <a:ext cx="4866132"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0181D"/>
                </a:solidFill>
                <a:latin typeface="IBM Plex Sans" pitchFamily="34" charset="0"/>
                <a:ea typeface="IBM Plex Sans" pitchFamily="34" charset="-122"/>
                <a:cs typeface="IBM Plex Sans" pitchFamily="34" charset="-120"/>
              </a:rPr>
              <a:t>Intelligence exactly where it’s needed</a:t>
            </a:r>
            <a:endParaRPr lang="en-US" sz="1700" dirty="0"/>
          </a:p>
        </p:txBody>
      </p:sp>
      <p:sp>
        <p:nvSpPr>
          <p:cNvPr id="19" name="Text 17"/>
          <p:cNvSpPr/>
          <p:nvPr/>
        </p:nvSpPr>
        <p:spPr>
          <a:xfrm>
            <a:off x="6426200" y="3912741"/>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The model reasons only in the steps that need judgement: here, three lanes reading the diff.</a:t>
            </a:r>
            <a:endParaRPr lang="en-US" sz="1400" dirty="0"/>
          </a:p>
        </p:txBody>
      </p:sp>
      <p:sp>
        <p:nvSpPr>
          <p:cNvPr id="20" name="Text 18"/>
          <p:cNvSpPr/>
          <p:nvPr/>
        </p:nvSpPr>
        <p:spPr>
          <a:xfrm>
            <a:off x="812800" y="4867721"/>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 single agent file is still the faster start when a person reads every answer. And it is not either-or: an ADK agent can load and use </a:t>
            </a:r>
            <a:r>
              <a:rPr lang="en-US" sz="1400" dirty="0">
                <a:solidFill>
                  <a:srgbClr val="1D6B58"/>
                </a:solidFill>
                <a:latin typeface="IBM Plex Sans" pitchFamily="34" charset="0"/>
                <a:ea typeface="IBM Plex Sans" pitchFamily="34" charset="-122"/>
                <a:cs typeface="IBM Plex Sans" pitchFamily="34" charset="-120"/>
              </a:rPr>
              <a:t>SKILL.md</a:t>
            </a:r>
            <a:r>
              <a:rPr lang="en-US" sz="1400" dirty="0">
                <a:solidFill>
                  <a:srgbClr val="3E4C57"/>
                </a:solidFill>
                <a:latin typeface="IBM Plex Sans" pitchFamily="34" charset="0"/>
                <a:ea typeface="IBM Plex Sans" pitchFamily="34" charset="-122"/>
                <a:cs typeface="IBM Plex Sans" pitchFamily="34" charset="-120"/>
              </a:rPr>
              <a:t> skills.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PHASE 1 OF 6 · HELLO WORLD · 0:20 · OBSERVABLE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One agent, two providers, one switch</a:t>
            </a:r>
            <a:endParaRPr lang="en-US" sz="3600" dirty="0"/>
          </a:p>
        </p:txBody>
      </p:sp>
      <p:sp>
        <p:nvSpPr>
          <p:cNvPr id="4" name="Text 2"/>
          <p:cNvSpPr/>
          <p:nvPr/>
        </p:nvSpPr>
        <p:spPr>
          <a:xfrm>
            <a:off x="812800" y="1884611"/>
            <a:ext cx="3937000" cy="1892300"/>
          </a:xfrm>
          <a:prstGeom prst="roundRect">
            <a:avLst>
              <a:gd name="adj" fmla="val 5369"/>
            </a:avLst>
          </a:prstGeom>
          <a:solidFill>
            <a:srgbClr val="10181D"/>
          </a:solidFill>
          <a:ln/>
        </p:spPr>
        <p:txBody>
          <a:bodyPr wrap="none" lIns="198842" tIns="173442" rIns="94448" bIns="148042" rtlCol="0" anchor="t">
            <a:normAutofit/>
          </a:bodyPr>
          <a:lstStyle/>
          <a:p>
            <a:pPr algn="l" indent="0" marL="0">
              <a:lnSpc>
                <a:spcPts val="1950"/>
              </a:lnSpc>
              <a:buNone/>
            </a:pPr>
            <a:r>
              <a:rPr lang="en-US" sz="1300" dirty="0">
                <a:solidFill>
                  <a:srgbClr val="8A9BA4"/>
                </a:solidFill>
                <a:latin typeface="IBM Plex Mono" pitchFamily="49" charset="0"/>
                <a:ea typeface="IBM Plex Mono" pitchFamily="49" charset="-122"/>
                <a:cs typeface="IBM Plex Mono" pitchFamily="49" charset="-120"/>
              </a:rPr>
              <a:t># agent.py</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root_agent = </a:t>
            </a:r>
            <a:r>
              <a:rPr lang="en-US" sz="1300" dirty="0">
                <a:solidFill>
                  <a:srgbClr val="5CC2A0"/>
                </a:solidFill>
                <a:latin typeface="IBM Plex Mono" pitchFamily="49" charset="0"/>
                <a:ea typeface="IBM Plex Mono" pitchFamily="49" charset="-122"/>
                <a:cs typeface="IBM Plex Mono" pitchFamily="49" charset="-120"/>
              </a:rPr>
              <a:t>Agent</a:t>
            </a:r>
            <a:r>
              <a:rPr lang="en-US" sz="1300" dirty="0">
                <a:solidFill>
                  <a:srgbClr val="DCE6EA"/>
                </a:solidFill>
                <a:latin typeface="IBM Plex Mono" pitchFamily="49" charset="0"/>
                <a:ea typeface="IBM Plex Mono" pitchFamily="49" charset="-122"/>
                <a:cs typeface="IBM Plex Mono" pitchFamily="49" charset="-120"/>
              </a:rPr>
              <a:t>(</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    model=build_model(),</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    name="phase_1_hello_world",</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    instruction="… Greet …",</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a:t>
            </a:r>
            <a:endParaRPr lang="en-US" sz="1300" dirty="0"/>
          </a:p>
        </p:txBody>
      </p:sp>
      <p:sp>
        <p:nvSpPr>
          <p:cNvPr id="5" name="Text 3"/>
          <p:cNvSpPr/>
          <p:nvPr/>
        </p:nvSpPr>
        <p:spPr>
          <a:xfrm>
            <a:off x="4953000" y="1884611"/>
            <a:ext cx="6426200" cy="1892300"/>
          </a:xfrm>
          <a:prstGeom prst="roundRect">
            <a:avLst>
              <a:gd name="adj" fmla="val 5369"/>
            </a:avLst>
          </a:prstGeom>
          <a:solidFill>
            <a:srgbClr val="10181D"/>
          </a:solidFill>
          <a:ln/>
        </p:spPr>
        <p:txBody>
          <a:bodyPr wrap="none" lIns="198842" tIns="173442" rIns="19772" bIns="148042" rtlCol="0" anchor="t">
            <a:normAutofit/>
          </a:bodyPr>
          <a:lstStyle/>
          <a:p>
            <a:pPr algn="l" indent="0" marL="0">
              <a:lnSpc>
                <a:spcPts val="1950"/>
              </a:lnSpc>
              <a:buNone/>
            </a:pPr>
            <a:r>
              <a:rPr lang="en-US" sz="1300" dirty="0">
                <a:solidFill>
                  <a:srgbClr val="8A9BA4"/>
                </a:solidFill>
                <a:latin typeface="IBM Plex Mono" pitchFamily="49" charset="0"/>
                <a:ea typeface="IBM Plex Mono" pitchFamily="49" charset="-122"/>
                <a:cs typeface="IBM Plex Mono" pitchFamily="49" charset="-120"/>
              </a:rPr>
              <a:t># config.py, the only file that names a provider</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provider = (os.environ.get("REVIEW_PROVIDER", "")</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            .strip().lower() or "copilot")</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if provider == "gemini":</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    return model           </a:t>
            </a:r>
            <a:r>
              <a:rPr lang="en-US" sz="1300" dirty="0">
                <a:solidFill>
                  <a:srgbClr val="8A9BA4"/>
                </a:solidFill>
                <a:latin typeface="IBM Plex Mono" pitchFamily="49" charset="0"/>
                <a:ea typeface="IBM Plex Mono" pitchFamily="49" charset="-122"/>
                <a:cs typeface="IBM Plex Mono" pitchFamily="49" charset="-120"/>
              </a:rPr>
              <a:t># ADK speaks Gemini natively</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return </a:t>
            </a:r>
            <a:r>
              <a:rPr lang="en-US" sz="1300" dirty="0">
                <a:solidFill>
                  <a:srgbClr val="5CC2A0"/>
                </a:solidFill>
                <a:latin typeface="IBM Plex Mono" pitchFamily="49" charset="0"/>
                <a:ea typeface="IBM Plex Mono" pitchFamily="49" charset="-122"/>
                <a:cs typeface="IBM Plex Mono" pitchFamily="49" charset="-120"/>
              </a:rPr>
              <a:t>LiteLlm</a:t>
            </a:r>
            <a:r>
              <a:rPr lang="en-US" sz="1300" dirty="0">
                <a:solidFill>
                  <a:srgbClr val="DCE6EA"/>
                </a:solidFill>
                <a:latin typeface="IBM Plex Mono" pitchFamily="49" charset="0"/>
                <a:ea typeface="IBM Plex Mono" pitchFamily="49" charset="-122"/>
                <a:cs typeface="IBM Plex Mono" pitchFamily="49" charset="-120"/>
              </a:rPr>
              <a:t>(model=f"github_copilot/{model}")</a:t>
            </a:r>
            <a:endParaRPr lang="en-US" sz="1300" dirty="0"/>
          </a:p>
        </p:txBody>
      </p:sp>
      <p:sp>
        <p:nvSpPr>
          <p:cNvPr id="6" name="Text 4"/>
          <p:cNvSpPr/>
          <p:nvPr/>
        </p:nvSpPr>
        <p:spPr>
          <a:xfrm>
            <a:off x="812800" y="4030911"/>
            <a:ext cx="559866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IBM Plex Sans" pitchFamily="34" charset="0"/>
                <a:ea typeface="IBM Plex Sans" pitchFamily="34" charset="-122"/>
                <a:cs typeface="IBM Plex Sans" pitchFamily="34" charset="-120"/>
              </a:rPr>
              <a:t>The folder is the agent, and root_agent is what the loader looks for. No other file knows which provider runs.</a:t>
            </a:r>
            <a:endParaRPr lang="en-US" sz="1600" dirty="0"/>
          </a:p>
        </p:txBody>
      </p:sp>
      <p:sp>
        <p:nvSpPr>
          <p:cNvPr id="7" name="Text 5"/>
          <p:cNvSpPr/>
          <p:nvPr/>
        </p:nvSpPr>
        <p:spPr>
          <a:xfrm>
            <a:off x="812800" y="4655691"/>
            <a:ext cx="55986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8"/>
                </a:solidFill>
                <a:latin typeface="IBM Plex Sans" pitchFamily="34" charset="0"/>
                <a:ea typeface="IBM Plex Sans" pitchFamily="34" charset="-122"/>
                <a:cs typeface="IBM Plex Sans" pitchFamily="34" charset="-120"/>
              </a:rPr>
              <a:t>Abridged. No tools, no state, no callbacks yet.</a:t>
            </a:r>
            <a:endParaRPr lang="en-US" sz="1200" dirty="0"/>
          </a:p>
        </p:txBody>
      </p:sp>
      <p:sp>
        <p:nvSpPr>
          <p:cNvPr id="8" name="Shape 6"/>
          <p:cNvSpPr/>
          <p:nvPr/>
        </p:nvSpPr>
        <p:spPr>
          <a:xfrm>
            <a:off x="6553200" y="4030911"/>
            <a:ext cx="4826000" cy="1311870"/>
          </a:xfrm>
          <a:prstGeom prst="roundRect">
            <a:avLst>
              <a:gd name="adj" fmla="val 7745"/>
            </a:avLst>
          </a:prstGeom>
          <a:solidFill>
            <a:srgbClr val="DCEFE8"/>
          </a:solidFill>
          <a:ln/>
        </p:spPr>
      </p:sp>
      <p:sp>
        <p:nvSpPr>
          <p:cNvPr id="9" name="Text 7"/>
          <p:cNvSpPr/>
          <p:nvPr/>
        </p:nvSpPr>
        <p:spPr>
          <a:xfrm>
            <a:off x="6731000" y="4183311"/>
            <a:ext cx="46045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DEMO</a:t>
            </a:r>
            <a:endParaRPr lang="en-US" sz="1200" dirty="0"/>
          </a:p>
        </p:txBody>
      </p:sp>
      <p:sp>
        <p:nvSpPr>
          <p:cNvPr id="10" name="Text 8"/>
          <p:cNvSpPr/>
          <p:nvPr/>
        </p:nvSpPr>
        <p:spPr>
          <a:xfrm>
            <a:off x="6731000" y="4447431"/>
            <a:ext cx="4604512"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181D"/>
                </a:solidFill>
                <a:latin typeface="IBM Plex Mono" pitchFamily="49" charset="0"/>
                <a:ea typeface="IBM Plex Mono" pitchFamily="49" charset="-122"/>
                <a:cs typeface="IBM Plex Mono" pitchFamily="49" charset="-120"/>
              </a:rPr>
              <a:t>uv run adk run phase_1_hello_world</a:t>
            </a:r>
            <a:endParaRPr lang="en-US" sz="1300" dirty="0"/>
          </a:p>
          <a:p>
            <a:pPr algn="l" indent="0" marL="0">
              <a:lnSpc>
                <a:spcPts val="1950"/>
              </a:lnSpc>
              <a:buNone/>
            </a:pPr>
            <a:r>
              <a:rPr lang="en-US" sz="1300" dirty="0">
                <a:solidFill>
                  <a:srgbClr val="10181D"/>
                </a:solidFill>
                <a:latin typeface="IBM Plex Mono" pitchFamily="49" charset="0"/>
                <a:ea typeface="IBM Plex Mono" pitchFamily="49" charset="-122"/>
                <a:cs typeface="IBM Plex Mono" pitchFamily="49" charset="-120"/>
              </a:rPr>
              <a:t>uv run adk web . → hello</a:t>
            </a:r>
            <a:endParaRPr lang="en-US" sz="1300" dirty="0"/>
          </a:p>
          <a:p>
            <a:pPr algn="l" indent="0" marL="0">
              <a:lnSpc>
                <a:spcPts val="1950"/>
              </a:lnSpc>
              <a:buNone/>
            </a:pPr>
            <a:r>
              <a:rPr lang="en-US" sz="1300" dirty="0">
                <a:solidFill>
                  <a:srgbClr val="10181D"/>
                </a:solidFill>
                <a:latin typeface="IBM Plex Mono" pitchFamily="49" charset="0"/>
                <a:ea typeface="IBM Plex Mono" pitchFamily="49" charset="-122"/>
                <a:cs typeface="IBM Plex Mono" pitchFamily="49" charset="-120"/>
              </a:rPr>
              <a:t>REVIEW_PROVIDER=gemini, restart, ask again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PHASE 2 OF 6 · PREFLIGHT · 0:25 · CONTROL</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A tool's docstring is its schema</a:t>
            </a:r>
            <a:endParaRPr lang="en-US" sz="3600" dirty="0"/>
          </a:p>
        </p:txBody>
      </p:sp>
      <p:sp>
        <p:nvSpPr>
          <p:cNvPr id="4" name="Text 2"/>
          <p:cNvSpPr/>
          <p:nvPr/>
        </p:nvSpPr>
        <p:spPr>
          <a:xfrm>
            <a:off x="812800" y="1884611"/>
            <a:ext cx="10566400" cy="2273300"/>
          </a:xfrm>
          <a:prstGeom prst="roundRect">
            <a:avLst>
              <a:gd name="adj" fmla="val 4469"/>
            </a:avLst>
          </a:prstGeom>
          <a:solidFill>
            <a:srgbClr val="10181D"/>
          </a:solidFill>
          <a:ln/>
        </p:spPr>
        <p:txBody>
          <a:bodyPr wrap="none" lIns="275042" tIns="173442" rIns="0" bIns="148042" rtlCol="0" anchor="t">
            <a:normAutofit/>
          </a:bodyPr>
          <a:lstStyle/>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def inspect_repository(repo: str, base: str, head: str) -&gt; dict:</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"""Confirm repo is a git repository, that base and head</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exist, and find their merge base."""</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return {"status": "success", "head_sha": ..., ...}</a:t>
            </a:r>
            <a:endParaRPr lang="en-US" sz="1400" dirty="0"/>
          </a:p>
          <a:p>
            <a:pPr algn="l" indent="0" marL="0">
              <a:lnSpc>
                <a:spcPts val="2100"/>
              </a:lnSpc>
              <a:buNone/>
            </a:pPr>
            <a:endParaRPr lang="en-US" sz="1400" dirty="0"/>
          </a:p>
          <a:p>
            <a:pPr algn="l" indent="0" marL="0">
              <a:lnSpc>
                <a:spcPts val="2100"/>
              </a:lnSpc>
              <a:buNone/>
            </a:pPr>
            <a:r>
              <a:rPr lang="en-US" sz="1400" dirty="0">
                <a:solidFill>
                  <a:srgbClr val="8A9BA4"/>
                </a:solidFill>
                <a:latin typeface="IBM Plex Mono" pitchFamily="49" charset="0"/>
                <a:ea typeface="IBM Plex Mono" pitchFamily="49" charset="-122"/>
                <a:cs typeface="IBM Plex Mono" pitchFamily="49" charset="-120"/>
              </a:rPr>
              <a:t>  root_agent = Agent(model=build_model(), name="phase_2_preflight",</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tools=[inspect_repository], output_key="preflight")</a:t>
            </a:r>
            <a:endParaRPr lang="en-US" sz="1400" dirty="0"/>
          </a:p>
        </p:txBody>
      </p:sp>
      <p:sp>
        <p:nvSpPr>
          <p:cNvPr id="5" name="Text 3"/>
          <p:cNvSpPr/>
          <p:nvPr/>
        </p:nvSpPr>
        <p:spPr>
          <a:xfrm>
            <a:off x="812800" y="4411911"/>
            <a:ext cx="599109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IBM Plex Sans" pitchFamily="34" charset="0"/>
                <a:ea typeface="IBM Plex Sans" pitchFamily="34" charset="-122"/>
                <a:cs typeface="IBM Plex Sans" pitchFamily="34" charset="-120"/>
              </a:rPr>
              <a:t>A tool answers {status: …} and never raises at the model: an envelope lets the model explain.</a:t>
            </a:r>
            <a:endParaRPr lang="en-US" sz="1600" dirty="0"/>
          </a:p>
        </p:txBody>
      </p:sp>
      <p:sp>
        <p:nvSpPr>
          <p:cNvPr id="6" name="Text 4"/>
          <p:cNvSpPr/>
          <p:nvPr/>
        </p:nvSpPr>
        <p:spPr>
          <a:xfrm>
            <a:off x="812800" y="5036691"/>
            <a:ext cx="5991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8"/>
                </a:solidFill>
                <a:latin typeface="IBM Plex Sans" pitchFamily="34" charset="0"/>
                <a:ea typeface="IBM Plex Sans" pitchFamily="34" charset="-122"/>
                <a:cs typeface="IBM Plex Sans" pitchFamily="34" charset="-120"/>
              </a:rPr>
              <a:t>Abridged. Lines marked + are new in this phase.</a:t>
            </a:r>
            <a:endParaRPr lang="en-US" sz="1200" dirty="0"/>
          </a:p>
        </p:txBody>
      </p:sp>
      <p:sp>
        <p:nvSpPr>
          <p:cNvPr id="7" name="Shape 5"/>
          <p:cNvSpPr/>
          <p:nvPr/>
        </p:nvSpPr>
        <p:spPr>
          <a:xfrm>
            <a:off x="6934200" y="4411911"/>
            <a:ext cx="4445000" cy="1064220"/>
          </a:xfrm>
          <a:prstGeom prst="roundRect">
            <a:avLst>
              <a:gd name="adj" fmla="val 9547"/>
            </a:avLst>
          </a:prstGeom>
          <a:solidFill>
            <a:srgbClr val="DCEFE8"/>
          </a:solidFill>
          <a:ln/>
        </p:spPr>
      </p:sp>
      <p:sp>
        <p:nvSpPr>
          <p:cNvPr id="8" name="Text 6"/>
          <p:cNvSpPr/>
          <p:nvPr/>
        </p:nvSpPr>
        <p:spPr>
          <a:xfrm>
            <a:off x="7112000" y="4564311"/>
            <a:ext cx="421208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DEMO</a:t>
            </a:r>
            <a:endParaRPr lang="en-US" sz="1200" dirty="0"/>
          </a:p>
        </p:txBody>
      </p:sp>
      <p:sp>
        <p:nvSpPr>
          <p:cNvPr id="9" name="Text 7"/>
          <p:cNvSpPr/>
          <p:nvPr/>
        </p:nvSpPr>
        <p:spPr>
          <a:xfrm>
            <a:off x="7112000" y="4828431"/>
            <a:ext cx="421208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181D"/>
                </a:solidFill>
                <a:latin typeface="IBM Plex Mono" pitchFamily="49" charset="0"/>
                <a:ea typeface="IBM Plex Mono" pitchFamily="49" charset="-122"/>
                <a:cs typeface="IBM Plex Mono" pitchFamily="49" charset="-120"/>
              </a:rPr>
              <a:t>review &lt;demo repo&gt;, branch</a:t>
            </a:r>
            <a:endParaRPr lang="en-US" sz="1300" dirty="0"/>
          </a:p>
          <a:p>
            <a:pPr algn="l" indent="0" marL="0">
              <a:lnSpc>
                <a:spcPts val="1950"/>
              </a:lnSpc>
              <a:buNone/>
            </a:pPr>
            <a:r>
              <a:rPr lang="en-US" sz="1300" dirty="0">
                <a:solidFill>
                  <a:srgbClr val="10181D"/>
                </a:solidFill>
                <a:latin typeface="IBM Plex Mono" pitchFamily="49" charset="0"/>
                <a:ea typeface="IBM Plex Mono" pitchFamily="49" charset="-122"/>
                <a:cs typeface="IBM Plex Mono" pitchFamily="49" charset="-120"/>
              </a:rPr>
              <a:t>feature/payments against main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PHASE 3 OF 6 · CHANGED FILES · 0:30 · CONTROL</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The guardrail runs before the tool</a:t>
            </a:r>
            <a:endParaRPr lang="en-US" sz="3600" dirty="0"/>
          </a:p>
        </p:txBody>
      </p:sp>
      <p:sp>
        <p:nvSpPr>
          <p:cNvPr id="4" name="Text 2"/>
          <p:cNvSpPr/>
          <p:nvPr/>
        </p:nvSpPr>
        <p:spPr>
          <a:xfrm>
            <a:off x="812800" y="1884611"/>
            <a:ext cx="10566400" cy="2540000"/>
          </a:xfrm>
          <a:prstGeom prst="roundRect">
            <a:avLst>
              <a:gd name="adj" fmla="val 4000"/>
            </a:avLst>
          </a:prstGeom>
          <a:solidFill>
            <a:srgbClr val="10181D"/>
          </a:solidFill>
          <a:ln/>
        </p:spPr>
        <p:txBody>
          <a:bodyPr wrap="none" lIns="275042" tIns="173442" rIns="0" bIns="148042" rtlCol="0" anchor="t">
            <a:normAutofit/>
          </a:bodyPr>
          <a:lstStyle/>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def only_changed_paths(tool, args, tool_context) -&gt; dict | None:</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if tool.name != "show_diff":</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return None</a:t>
            </a:r>
            <a:r>
              <a:rPr lang="en-US" sz="1400" dirty="0">
                <a:solidFill>
                  <a:srgbClr val="8A9BA4"/>
                </a:solidFill>
                <a:latin typeface="IBM Plex Mono" pitchFamily="49" charset="0"/>
                <a:ea typeface="IBM Plex Mono" pitchFamily="49" charset="-122"/>
                <a:cs typeface="IBM Plex Mono" pitchFamily="49" charset="-120"/>
              </a:rPr>
              <a:t>                         # lets the call through</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listed = tool_context.state.get("review_files")</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if … or path not in listed:</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return {"status": "error", …}</a:t>
            </a:r>
            <a:r>
              <a:rPr lang="en-US" sz="1400" dirty="0">
                <a:solidFill>
                  <a:srgbClr val="8A9BA4"/>
                </a:solidFill>
                <a:latin typeface="IBM Plex Mono" pitchFamily="49" charset="0"/>
                <a:ea typeface="IBM Plex Mono" pitchFamily="49" charset="-122"/>
                <a:cs typeface="IBM Plex Mono" pitchFamily="49" charset="-120"/>
              </a:rPr>
              <a:t>       # answers the model; the tool never runs</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return None</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root_agent = Agent(…, before_tool_callback=[only_changed_paths])</a:t>
            </a:r>
            <a:endParaRPr lang="en-US" sz="1400" dirty="0"/>
          </a:p>
        </p:txBody>
      </p:sp>
      <p:sp>
        <p:nvSpPr>
          <p:cNvPr id="5" name="Text 3"/>
          <p:cNvSpPr/>
          <p:nvPr/>
        </p:nvSpPr>
        <p:spPr>
          <a:xfrm>
            <a:off x="812800" y="4678611"/>
            <a:ext cx="599109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IBM Plex Sans" pitchFamily="34" charset="0"/>
                <a:ea typeface="IBM Plex Sans" pitchFamily="34" charset="-122"/>
                <a:cs typeface="IBM Plex Sans" pitchFamily="34" charset="-120"/>
              </a:rPr>
              <a:t>One tool's answer is the next tool's boundary: changed_files writes the allowlist, show_diff is held to it.</a:t>
            </a:r>
            <a:endParaRPr lang="en-US" sz="1600" dirty="0"/>
          </a:p>
        </p:txBody>
      </p:sp>
      <p:sp>
        <p:nvSpPr>
          <p:cNvPr id="6" name="Text 4"/>
          <p:cNvSpPr/>
          <p:nvPr/>
        </p:nvSpPr>
        <p:spPr>
          <a:xfrm>
            <a:off x="812800" y="5303391"/>
            <a:ext cx="5991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8"/>
                </a:solidFill>
                <a:latin typeface="IBM Plex Sans" pitchFamily="34" charset="0"/>
                <a:ea typeface="IBM Plex Sans" pitchFamily="34" charset="-122"/>
                <a:cs typeface="IBM Plex Sans" pitchFamily="34" charset="-120"/>
              </a:rPr>
              <a:t>Abridged from callbacks.py and agent.py. Lines marked + are new in this phase.</a:t>
            </a:r>
            <a:endParaRPr lang="en-US" sz="1200" dirty="0"/>
          </a:p>
        </p:txBody>
      </p:sp>
      <p:sp>
        <p:nvSpPr>
          <p:cNvPr id="7" name="Shape 5"/>
          <p:cNvSpPr/>
          <p:nvPr/>
        </p:nvSpPr>
        <p:spPr>
          <a:xfrm>
            <a:off x="6934200" y="4678611"/>
            <a:ext cx="4445000" cy="1311870"/>
          </a:xfrm>
          <a:prstGeom prst="roundRect">
            <a:avLst>
              <a:gd name="adj" fmla="val 7745"/>
            </a:avLst>
          </a:prstGeom>
          <a:solidFill>
            <a:srgbClr val="DCEFE8"/>
          </a:solidFill>
          <a:ln/>
        </p:spPr>
      </p:sp>
      <p:sp>
        <p:nvSpPr>
          <p:cNvPr id="8" name="Text 6"/>
          <p:cNvSpPr/>
          <p:nvPr/>
        </p:nvSpPr>
        <p:spPr>
          <a:xfrm>
            <a:off x="7112000" y="4831011"/>
            <a:ext cx="421208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DEMO</a:t>
            </a:r>
            <a:endParaRPr lang="en-US" sz="1200" dirty="0"/>
          </a:p>
        </p:txBody>
      </p:sp>
      <p:sp>
        <p:nvSpPr>
          <p:cNvPr id="9" name="Text 7"/>
          <p:cNvSpPr/>
          <p:nvPr/>
        </p:nvSpPr>
        <p:spPr>
          <a:xfrm>
            <a:off x="7112000" y="5095131"/>
            <a:ext cx="4212082"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181D"/>
                </a:solidFill>
                <a:latin typeface="IBM Plex Mono" pitchFamily="49" charset="0"/>
                <a:ea typeface="IBM Plex Mono" pitchFamily="49" charset="-122"/>
                <a:cs typeface="IBM Plex Mono" pitchFamily="49" charset="-120"/>
              </a:rPr>
              <a:t>the same message, then</a:t>
            </a:r>
            <a:endParaRPr lang="en-US" sz="1300" dirty="0"/>
          </a:p>
          <a:p>
            <a:pPr algn="l" indent="0" marL="0">
              <a:lnSpc>
                <a:spcPts val="1950"/>
              </a:lnSpc>
              <a:buNone/>
            </a:pPr>
            <a:r>
              <a:rPr lang="en-US" sz="1300" dirty="0">
                <a:solidFill>
                  <a:srgbClr val="10181D"/>
                </a:solidFill>
                <a:latin typeface="IBM Plex Mono" pitchFamily="49" charset="0"/>
                <a:ea typeface="IBM Plex Mono" pitchFamily="49" charset="-122"/>
                <a:cs typeface="IBM Plex Mono" pitchFamily="49" charset="-120"/>
              </a:rPr>
              <a:t>the diff of src/payments/charge.py</a:t>
            </a:r>
            <a:endParaRPr lang="en-US" sz="1300" dirty="0"/>
          </a:p>
          <a:p>
            <a:pPr algn="l" indent="0" marL="0">
              <a:lnSpc>
                <a:spcPts val="1950"/>
              </a:lnSpc>
              <a:buNone/>
            </a:pPr>
            <a:r>
              <a:rPr lang="en-US" sz="1300" dirty="0">
                <a:solidFill>
                  <a:srgbClr val="10181D"/>
                </a:solidFill>
                <a:latin typeface="IBM Plex Mono" pitchFamily="49" charset="0"/>
                <a:ea typeface="IBM Plex Mono" pitchFamily="49" charset="-122"/>
                <a:cs typeface="IBM Plex Mono" pitchFamily="49" charset="-120"/>
              </a:rPr>
              <a:t>the diff of /etc/passwd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PHASE 4 OF 6 · FIRST REVIEW · 0:35 · DETERMINISTIC</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State is the wire between two agents</a:t>
            </a:r>
            <a:endParaRPr lang="en-US" sz="3600" dirty="0"/>
          </a:p>
        </p:txBody>
      </p:sp>
      <p:sp>
        <p:nvSpPr>
          <p:cNvPr id="4" name="Text 2"/>
          <p:cNvSpPr/>
          <p:nvPr/>
        </p:nvSpPr>
        <p:spPr>
          <a:xfrm>
            <a:off x="812800" y="1884611"/>
            <a:ext cx="10566400" cy="1739900"/>
          </a:xfrm>
          <a:prstGeom prst="roundRect">
            <a:avLst>
              <a:gd name="adj" fmla="val 5839"/>
            </a:avLst>
          </a:prstGeom>
          <a:solidFill>
            <a:srgbClr val="10181D"/>
          </a:solidFill>
          <a:ln/>
        </p:spPr>
        <p:txBody>
          <a:bodyPr wrap="none" lIns="275042" tIns="173442" rIns="0" bIns="148042" rtlCol="0" anchor="t">
            <a:normAutofit/>
          </a:bodyPr>
          <a:lstStyle/>
          <a:p>
            <a:pPr algn="l" indent="0" marL="0">
              <a:lnSpc>
                <a:spcPts val="2100"/>
              </a:lnSpc>
              <a:buNone/>
            </a:pPr>
            <a:r>
              <a:rPr lang="en-US" sz="1400" dirty="0">
                <a:solidFill>
                  <a:srgbClr val="8A9BA4"/>
                </a:solidFill>
                <a:latin typeface="IBM Plex Mono" pitchFamily="49" charset="0"/>
                <a:ea typeface="IBM Plex Mono" pitchFamily="49" charset="-122"/>
                <a:cs typeface="IBM Plex Mono" pitchFamily="49" charset="-120"/>
              </a:rPr>
              <a:t>  collector = LlmAgent(tools=[inspect_repository, changed_files, show_diff],</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output_key="diff")</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reviewer = LlmAgent(instruction="Review the change below … {diff}",</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output_schema=Review, output_key="review")</a:t>
            </a:r>
            <a:endParaRPr lang="en-US" sz="1400" dirty="0"/>
          </a:p>
          <a:p>
            <a:pPr algn="l" indent="0" marL="0">
              <a:lnSpc>
                <a:spcPts val="2100"/>
              </a:lnSpc>
              <a:buNone/>
            </a:pPr>
            <a:r>
              <a:rPr lang="en-US" sz="1400" dirty="0">
                <a:solidFill>
                  <a:srgbClr val="5CC2A0"/>
                </a:solidFill>
                <a:latin typeface="IBM Plex Mono" pitchFamily="49" charset="0"/>
                <a:ea typeface="IBM Plex Mono" pitchFamily="49" charset="-122"/>
                <a:cs typeface="IBM Plex Mono" pitchFamily="49" charset="-120"/>
              </a:rPr>
              <a:t>+ root_agent = Workflow(edges=[("START", collector, reviewer)])</a:t>
            </a:r>
            <a:endParaRPr lang="en-US" sz="1400" dirty="0"/>
          </a:p>
        </p:txBody>
      </p:sp>
      <p:sp>
        <p:nvSpPr>
          <p:cNvPr id="5" name="Text 3"/>
          <p:cNvSpPr/>
          <p:nvPr/>
        </p:nvSpPr>
        <p:spPr>
          <a:xfrm>
            <a:off x="812800" y="3878511"/>
            <a:ext cx="599109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IBM Plex Sans" pitchFamily="34" charset="0"/>
                <a:ea typeface="IBM Plex Sans" pitchFamily="34" charset="-122"/>
                <a:cs typeface="IBM Plex Sans" pitchFamily="34" charset="-120"/>
              </a:rPr>
              <a:t>Gathering and judging are separate agents: the collector has the tools, the reviewer has the schema.</a:t>
            </a:r>
            <a:endParaRPr lang="en-US" sz="1600" dirty="0"/>
          </a:p>
        </p:txBody>
      </p:sp>
      <p:sp>
        <p:nvSpPr>
          <p:cNvPr id="6" name="Text 4"/>
          <p:cNvSpPr/>
          <p:nvPr/>
        </p:nvSpPr>
        <p:spPr>
          <a:xfrm>
            <a:off x="812800" y="4503291"/>
            <a:ext cx="59910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8"/>
                </a:solidFill>
                <a:latin typeface="IBM Plex Sans" pitchFamily="34" charset="0"/>
                <a:ea typeface="IBM Plex Sans" pitchFamily="34" charset="-122"/>
                <a:cs typeface="IBM Plex Sans" pitchFamily="34" charset="-120"/>
              </a:rPr>
              <a:t>Abridged from agent.py. Lines marked + are new in this phase. The command's exit 0 means judged, not clean: phase 4 never exits 1.</a:t>
            </a:r>
            <a:endParaRPr lang="en-US" sz="1200" dirty="0"/>
          </a:p>
        </p:txBody>
      </p:sp>
      <p:sp>
        <p:nvSpPr>
          <p:cNvPr id="7" name="Shape 5"/>
          <p:cNvSpPr/>
          <p:nvPr/>
        </p:nvSpPr>
        <p:spPr>
          <a:xfrm>
            <a:off x="6934200" y="3878511"/>
            <a:ext cx="4445000" cy="1311870"/>
          </a:xfrm>
          <a:prstGeom prst="roundRect">
            <a:avLst>
              <a:gd name="adj" fmla="val 7745"/>
            </a:avLst>
          </a:prstGeom>
          <a:solidFill>
            <a:srgbClr val="DCEFE8"/>
          </a:solidFill>
          <a:ln/>
        </p:spPr>
      </p:sp>
      <p:sp>
        <p:nvSpPr>
          <p:cNvPr id="8" name="Text 6"/>
          <p:cNvSpPr/>
          <p:nvPr/>
        </p:nvSpPr>
        <p:spPr>
          <a:xfrm>
            <a:off x="7112000" y="4030911"/>
            <a:ext cx="421208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DEMO · THE SAME GRAPH AS A COMMAND</a:t>
            </a:r>
            <a:endParaRPr lang="en-US" sz="1200" dirty="0"/>
          </a:p>
        </p:txBody>
      </p:sp>
      <p:sp>
        <p:nvSpPr>
          <p:cNvPr id="9" name="Text 7"/>
          <p:cNvSpPr/>
          <p:nvPr/>
        </p:nvSpPr>
        <p:spPr>
          <a:xfrm>
            <a:off x="7112000" y="4295031"/>
            <a:ext cx="4212082"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181D"/>
                </a:solidFill>
                <a:latin typeface="IBM Plex Mono" pitchFamily="49" charset="0"/>
                <a:ea typeface="IBM Plex Mono" pitchFamily="49" charset="-122"/>
                <a:cs typeface="IBM Plex Mono" pitchFamily="49" charset="-120"/>
              </a:rPr>
              <a:t>uv run python -m</a:t>
            </a:r>
            <a:endParaRPr lang="en-US" sz="1300" dirty="0"/>
          </a:p>
          <a:p>
            <a:pPr algn="l" indent="0" marL="0">
              <a:lnSpc>
                <a:spcPts val="1950"/>
              </a:lnSpc>
              <a:buNone/>
            </a:pPr>
            <a:r>
              <a:rPr lang="en-US" sz="1300" dirty="0">
                <a:solidFill>
                  <a:srgbClr val="10181D"/>
                </a:solidFill>
                <a:latin typeface="IBM Plex Mono" pitchFamily="49" charset="0"/>
                <a:ea typeface="IBM Plex Mono" pitchFamily="49" charset="-122"/>
                <a:cs typeface="IBM Plex Mono" pitchFamily="49" charset="-120"/>
              </a:rPr>
              <a:t>phase_4_first_review.review</a:t>
            </a:r>
            <a:endParaRPr lang="en-US" sz="1300" dirty="0"/>
          </a:p>
          <a:p>
            <a:pPr algn="l" indent="0" marL="0">
              <a:lnSpc>
                <a:spcPts val="1950"/>
              </a:lnSpc>
              <a:buNone/>
            </a:pPr>
            <a:r>
              <a:rPr lang="en-US" sz="1300" dirty="0">
                <a:solidFill>
                  <a:srgbClr val="10181D"/>
                </a:solidFill>
                <a:latin typeface="IBM Plex Mono" pitchFamily="49" charset="0"/>
                <a:ea typeface="IBM Plex Mono" pitchFamily="49" charset="-122"/>
                <a:cs typeface="IBM Plex Mono" pitchFamily="49" charset="-120"/>
              </a:rPr>
              <a:t>--head feature/payments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PHASE 4 OF 6 · TYPED ANSWERS · DETERMINISTIC</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Findings are typed, failures are answers</a:t>
            </a:r>
            <a:endParaRPr lang="en-US" sz="3600" dirty="0"/>
          </a:p>
        </p:txBody>
      </p:sp>
      <p:sp>
        <p:nvSpPr>
          <p:cNvPr id="4" name="Text 2"/>
          <p:cNvSpPr/>
          <p:nvPr/>
        </p:nvSpPr>
        <p:spPr>
          <a:xfrm>
            <a:off x="812800" y="1935411"/>
            <a:ext cx="6350000" cy="3441700"/>
          </a:xfrm>
          <a:prstGeom prst="roundRect">
            <a:avLst>
              <a:gd name="adj" fmla="val 2952"/>
            </a:avLst>
          </a:prstGeom>
          <a:solidFill>
            <a:srgbClr val="10181D"/>
          </a:solidFill>
          <a:ln/>
        </p:spPr>
        <p:txBody>
          <a:bodyPr wrap="none" lIns="275042" tIns="224242" rIns="102830" bIns="198842" rtlCol="0" anchor="t">
            <a:normAutofit/>
          </a:bodyPr>
          <a:lstStyle/>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class </a:t>
            </a:r>
            <a:r>
              <a:rPr lang="en-US" sz="1400" dirty="0">
                <a:solidFill>
                  <a:srgbClr val="5CC2A0"/>
                </a:solidFill>
                <a:latin typeface="IBM Plex Mono" pitchFamily="49" charset="0"/>
                <a:ea typeface="IBM Plex Mono" pitchFamily="49" charset="-122"/>
                <a:cs typeface="IBM Plex Mono" pitchFamily="49" charset="-120"/>
              </a:rPr>
              <a:t>Finding</a:t>
            </a:r>
            <a:r>
              <a:rPr lang="en-US" sz="1400" dirty="0">
                <a:solidFill>
                  <a:srgbClr val="DCE6EA"/>
                </a:solidFill>
                <a:latin typeface="IBM Plex Mono" pitchFamily="49" charset="0"/>
                <a:ea typeface="IBM Plex Mono" pitchFamily="49" charset="-122"/>
                <a:cs typeface="IBM Plex Mono" pitchFamily="49" charset="-120"/>
              </a:rPr>
              <a:t>(BaseModel):</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file: str</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line: int | None</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severity: Literal["blocker", "major", "minor"]</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title: str</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a:t>
            </a:r>
            <a:r>
              <a:rPr lang="en-US" sz="1400" dirty="0">
                <a:solidFill>
                  <a:srgbClr val="5CC2A0"/>
                </a:solidFill>
                <a:latin typeface="IBM Plex Mono" pitchFamily="49" charset="0"/>
                <a:ea typeface="IBM Plex Mono" pitchFamily="49" charset="-122"/>
                <a:cs typeface="IBM Plex Mono" pitchFamily="49" charset="-120"/>
              </a:rPr>
              <a:t>evidence</a:t>
            </a:r>
            <a:r>
              <a:rPr lang="en-US" sz="1400" dirty="0">
                <a:solidFill>
                  <a:srgbClr val="DCE6EA"/>
                </a:solidFill>
                <a:latin typeface="IBM Plex Mono" pitchFamily="49" charset="0"/>
                <a:ea typeface="IBM Plex Mono" pitchFamily="49" charset="-122"/>
                <a:cs typeface="IBM Plex Mono" pitchFamily="49" charset="-120"/>
              </a:rPr>
              <a:t>: str    </a:t>
            </a:r>
            <a:r>
              <a:rPr lang="en-US" sz="1400" dirty="0">
                <a:solidFill>
                  <a:srgbClr val="8A9BA4"/>
                </a:solidFill>
                <a:latin typeface="IBM Plex Mono" pitchFamily="49" charset="0"/>
                <a:ea typeface="IBM Plex Mono" pitchFamily="49" charset="-122"/>
                <a:cs typeface="IBM Plex Mono" pitchFamily="49" charset="-120"/>
              </a:rPr>
              <a:t># the diff lines, verbatim</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suggestion: str</a:t>
            </a:r>
            <a:endParaRPr lang="en-US" sz="1400" dirty="0"/>
          </a:p>
          <a:p>
            <a:pPr algn="l" indent="0" marL="0">
              <a:lnSpc>
                <a:spcPts val="2100"/>
              </a:lnSpc>
              <a:buNone/>
            </a:pP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class </a:t>
            </a:r>
            <a:r>
              <a:rPr lang="en-US" sz="1400" dirty="0">
                <a:solidFill>
                  <a:srgbClr val="5CC2A0"/>
                </a:solidFill>
                <a:latin typeface="IBM Plex Mono" pitchFamily="49" charset="0"/>
                <a:ea typeface="IBM Plex Mono" pitchFamily="49" charset="-122"/>
                <a:cs typeface="IBM Plex Mono" pitchFamily="49" charset="-120"/>
              </a:rPr>
              <a:t>Review</a:t>
            </a:r>
            <a:r>
              <a:rPr lang="en-US" sz="1400" dirty="0">
                <a:solidFill>
                  <a:srgbClr val="DCE6EA"/>
                </a:solidFill>
                <a:latin typeface="IBM Plex Mono" pitchFamily="49" charset="0"/>
                <a:ea typeface="IBM Plex Mono" pitchFamily="49" charset="-122"/>
                <a:cs typeface="IBM Plex Mono" pitchFamily="49" charset="-120"/>
              </a:rPr>
              <a:t>(BaseModel):</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findings: list[Finding]</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summary: str</a:t>
            </a:r>
            <a:endParaRPr lang="en-US" sz="1400" dirty="0"/>
          </a:p>
        </p:txBody>
      </p:sp>
      <p:sp>
        <p:nvSpPr>
          <p:cNvPr id="5" name="Text 3"/>
          <p:cNvSpPr/>
          <p:nvPr/>
        </p:nvSpPr>
        <p:spPr>
          <a:xfrm>
            <a:off x="812800" y="5478711"/>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8"/>
                </a:solidFill>
                <a:latin typeface="IBM Plex Sans" pitchFamily="34" charset="0"/>
                <a:ea typeface="IBM Plex Sans" pitchFamily="34" charset="-122"/>
                <a:cs typeface="IBM Plex Sans" pitchFamily="34" charset="-120"/>
              </a:rPr>
              <a:t>schemas.py, abridged. ADK puts the parsed object in state, not text.</a:t>
            </a:r>
            <a:endParaRPr lang="en-US" sz="1200" dirty="0"/>
          </a:p>
        </p:txBody>
      </p:sp>
      <p:sp>
        <p:nvSpPr>
          <p:cNvPr id="6" name="Text 4"/>
          <p:cNvSpPr/>
          <p:nvPr/>
        </p:nvSpPr>
        <p:spPr>
          <a:xfrm>
            <a:off x="7569200" y="1935411"/>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on_model_error_callback</a:t>
            </a:r>
            <a:endParaRPr lang="en-US" sz="1600" dirty="0"/>
          </a:p>
        </p:txBody>
      </p:sp>
      <p:sp>
        <p:nvSpPr>
          <p:cNvPr id="7" name="Text 5"/>
          <p:cNvSpPr/>
          <p:nvPr/>
        </p:nvSpPr>
        <p:spPr>
          <a:xfrm>
            <a:off x="7569200" y="2240211"/>
            <a:ext cx="39243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IBM Plex Sans" pitchFamily="34" charset="0"/>
                <a:ea typeface="IBM Plex Sans" pitchFamily="34" charset="-122"/>
                <a:cs typeface="IBM Plex Sans" pitchFamily="34" charset="-120"/>
              </a:rPr>
              <a:t>A provider error becomes the agent's answer: one sentence, never a traceback.</a:t>
            </a:r>
            <a:endParaRPr lang="en-US" sz="1500" dirty="0"/>
          </a:p>
        </p:txBody>
      </p:sp>
      <p:sp>
        <p:nvSpPr>
          <p:cNvPr id="8" name="Text 6"/>
          <p:cNvSpPr/>
          <p:nvPr/>
        </p:nvSpPr>
        <p:spPr>
          <a:xfrm>
            <a:off x="7569200" y="2976811"/>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before_agent_callback</a:t>
            </a:r>
            <a:endParaRPr lang="en-US" sz="1600" dirty="0"/>
          </a:p>
        </p:txBody>
      </p:sp>
      <p:sp>
        <p:nvSpPr>
          <p:cNvPr id="9" name="Text 7"/>
          <p:cNvSpPr/>
          <p:nvPr/>
        </p:nvSpPr>
        <p:spPr>
          <a:xfrm>
            <a:off x="7569200" y="3281611"/>
            <a:ext cx="39243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IBM Plex Sans" pitchFamily="34" charset="0"/>
                <a:ea typeface="IBM Plex Sans" pitchFamily="34" charset="-122"/>
                <a:cs typeface="IBM Plex Sans" pitchFamily="34" charset="-120"/>
              </a:rPr>
              <a:t>With nothing gathered, the reviewer skips itself and says why.</a:t>
            </a:r>
            <a:endParaRPr lang="en-US" sz="1500" dirty="0"/>
          </a:p>
        </p:txBody>
      </p:sp>
      <p:sp>
        <p:nvSpPr>
          <p:cNvPr id="10" name="Text 8"/>
          <p:cNvSpPr/>
          <p:nvPr/>
        </p:nvSpPr>
        <p:spPr>
          <a:xfrm>
            <a:off x="7569200" y="4018211"/>
            <a:ext cx="3924300"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D6B58"/>
                </a:solidFill>
                <a:latin typeface="IBM Plex Sans" pitchFamily="34" charset="0"/>
                <a:ea typeface="IBM Plex Sans" pitchFamily="34" charset="-122"/>
                <a:cs typeface="IBM Plex Sans" pitchFamily="34" charset="-120"/>
              </a:rPr>
              <a:t>“Did not look” must never read as “found nothing”.</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PHASE 5 OF 6 · PARALLEL LANES · 0:43 · INTELLIGENCE WHERE NEEDED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One edge fans out to three lanes</a:t>
            </a:r>
            <a:endParaRPr lang="en-US" sz="3600" dirty="0"/>
          </a:p>
        </p:txBody>
      </p:sp>
      <p:sp>
        <p:nvSpPr>
          <p:cNvPr id="4" name="Text 2"/>
          <p:cNvSpPr/>
          <p:nvPr/>
        </p:nvSpPr>
        <p:spPr>
          <a:xfrm>
            <a:off x="822325" y="2394496"/>
            <a:ext cx="984250" cy="455910"/>
          </a:xfrm>
          <a:prstGeom prst="roundRect">
            <a:avLst>
              <a:gd name="adj" fmla="val 14625"/>
            </a:avLst>
          </a:prstGeom>
          <a:noFill/>
          <a:ln w="19050">
            <a:solidFill>
              <a:srgbClr val="8A9BA4"/>
            </a:solidFill>
            <a:prstDash val="dash"/>
          </a:ln>
        </p:spPr>
        <p:txBody>
          <a:bodyPr wrap="none" lIns="0" tIns="0" rIns="0" bIns="0" rtlCol="0" anchor="ctr">
            <a:normAutofit/>
          </a:bodyPr>
          <a:lstStyle/>
          <a:p>
            <a:pPr algn="ctr" indent="0" marL="0">
              <a:lnSpc>
                <a:spcPts val="2240"/>
              </a:lnSpc>
              <a:buNone/>
            </a:pPr>
            <a:r>
              <a:rPr lang="en-US" sz="1600" dirty="0">
                <a:solidFill>
                  <a:srgbClr val="10181D"/>
                </a:solidFill>
                <a:latin typeface="IBM Plex Mono" pitchFamily="49" charset="0"/>
                <a:ea typeface="IBM Plex Mono" pitchFamily="49" charset="-122"/>
                <a:cs typeface="IBM Plex Mono" pitchFamily="49" charset="-120"/>
              </a:rPr>
              <a:t>START</a:t>
            </a:r>
            <a:endParaRPr lang="en-US" sz="1600" dirty="0"/>
          </a:p>
        </p:txBody>
      </p:sp>
      <p:sp>
        <p:nvSpPr>
          <p:cNvPr id="5" name="Text 3"/>
          <p:cNvSpPr/>
          <p:nvPr/>
        </p:nvSpPr>
        <p:spPr>
          <a:xfrm>
            <a:off x="1968500" y="242689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IBM Plex Sans" pitchFamily="34" charset="0"/>
                <a:ea typeface="IBM Plex Sans" pitchFamily="34" charset="-122"/>
                <a:cs typeface="IBM Plex Sans" pitchFamily="34" charset="-120"/>
              </a:rPr>
              <a:t>→</a:t>
            </a:r>
            <a:endParaRPr lang="en-US" sz="2200" dirty="0"/>
          </a:p>
        </p:txBody>
      </p:sp>
      <p:sp>
        <p:nvSpPr>
          <p:cNvPr id="6" name="Text 4"/>
          <p:cNvSpPr/>
          <p:nvPr/>
        </p:nvSpPr>
        <p:spPr>
          <a:xfrm>
            <a:off x="2409825" y="2394496"/>
            <a:ext cx="1471960" cy="455910"/>
          </a:xfrm>
          <a:prstGeom prst="roundRect">
            <a:avLst>
              <a:gd name="adj" fmla="val 14625"/>
            </a:avLst>
          </a:prstGeom>
          <a:solidFill>
            <a:srgbClr val="FBFCFB"/>
          </a:solidFill>
          <a:ln w="19050">
            <a:solidFill>
              <a:srgbClr val="B4540A"/>
            </a:solidFill>
            <a:prstDash val="solid"/>
          </a:ln>
        </p:spPr>
        <p:txBody>
          <a:bodyPr wrap="none" lIns="0" tIns="0" rIns="0" bIns="0" rtlCol="0" anchor="ctr">
            <a:normAutofit/>
          </a:bodyPr>
          <a:lstStyle/>
          <a:p>
            <a:pPr algn="ctr" indent="0" marL="0">
              <a:lnSpc>
                <a:spcPts val="2240"/>
              </a:lnSpc>
              <a:buNone/>
            </a:pPr>
            <a:r>
              <a:rPr lang="en-US" sz="1600" dirty="0">
                <a:solidFill>
                  <a:srgbClr val="10181D"/>
                </a:solidFill>
                <a:latin typeface="IBM Plex Mono" pitchFamily="49" charset="0"/>
                <a:ea typeface="IBM Plex Mono" pitchFamily="49" charset="-122"/>
                <a:cs typeface="IBM Plex Mono" pitchFamily="49" charset="-120"/>
              </a:rPr>
              <a:t>collector</a:t>
            </a:r>
            <a:endParaRPr lang="en-US" sz="1600" dirty="0"/>
          </a:p>
        </p:txBody>
      </p:sp>
      <p:sp>
        <p:nvSpPr>
          <p:cNvPr id="7" name="Text 5"/>
          <p:cNvSpPr/>
          <p:nvPr/>
        </p:nvSpPr>
        <p:spPr>
          <a:xfrm>
            <a:off x="4043710" y="242689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IBM Plex Sans" pitchFamily="34" charset="0"/>
                <a:ea typeface="IBM Plex Sans" pitchFamily="34" charset="-122"/>
                <a:cs typeface="IBM Plex Sans" pitchFamily="34" charset="-120"/>
              </a:rPr>
              <a:t>→</a:t>
            </a:r>
            <a:endParaRPr lang="en-US" sz="2200" dirty="0"/>
          </a:p>
        </p:txBody>
      </p:sp>
      <p:sp>
        <p:nvSpPr>
          <p:cNvPr id="8" name="Text 6"/>
          <p:cNvSpPr/>
          <p:nvPr/>
        </p:nvSpPr>
        <p:spPr>
          <a:xfrm>
            <a:off x="4485035" y="1843336"/>
            <a:ext cx="2203450" cy="455910"/>
          </a:xfrm>
          <a:prstGeom prst="roundRect">
            <a:avLst>
              <a:gd name="adj" fmla="val 14625"/>
            </a:avLst>
          </a:prstGeom>
          <a:solidFill>
            <a:srgbClr val="FBFCFB"/>
          </a:solidFill>
          <a:ln w="19050">
            <a:solidFill>
              <a:srgbClr val="B4540A"/>
            </a:solidFill>
            <a:prstDash val="solid"/>
          </a:ln>
        </p:spPr>
        <p:txBody>
          <a:bodyPr wrap="square" lIns="167797" tIns="66197" rIns="112933" bIns="40797" rtlCol="0" anchor="t">
            <a:normAutofit/>
          </a:bodyPr>
          <a:lstStyle/>
          <a:p>
            <a:pPr algn="l" indent="0" marL="0">
              <a:lnSpc>
                <a:spcPts val="2240"/>
              </a:lnSpc>
              <a:buNone/>
            </a:pPr>
            <a:r>
              <a:rPr lang="en-US" sz="1600" dirty="0">
                <a:solidFill>
                  <a:srgbClr val="10181D"/>
                </a:solidFill>
                <a:latin typeface="IBM Plex Mono" pitchFamily="49" charset="0"/>
                <a:ea typeface="IBM Plex Mono" pitchFamily="49" charset="-122"/>
                <a:cs typeface="IBM Plex Mono" pitchFamily="49" charset="-120"/>
              </a:rPr>
              <a:t>lane_security</a:t>
            </a:r>
            <a:endParaRPr lang="en-US" sz="1600" dirty="0"/>
          </a:p>
        </p:txBody>
      </p:sp>
      <p:sp>
        <p:nvSpPr>
          <p:cNvPr id="9" name="Text 7"/>
          <p:cNvSpPr/>
          <p:nvPr/>
        </p:nvSpPr>
        <p:spPr>
          <a:xfrm>
            <a:off x="4485035" y="2394496"/>
            <a:ext cx="2203450" cy="455910"/>
          </a:xfrm>
          <a:prstGeom prst="roundRect">
            <a:avLst>
              <a:gd name="adj" fmla="val 14625"/>
            </a:avLst>
          </a:prstGeom>
          <a:solidFill>
            <a:srgbClr val="FBFCFB"/>
          </a:solidFill>
          <a:ln w="19050">
            <a:solidFill>
              <a:srgbClr val="B4540A"/>
            </a:solidFill>
            <a:prstDash val="solid"/>
          </a:ln>
        </p:spPr>
        <p:txBody>
          <a:bodyPr wrap="square" lIns="167797" tIns="66197" rIns="112933" bIns="40797" rtlCol="0" anchor="t">
            <a:normAutofit/>
          </a:bodyPr>
          <a:lstStyle/>
          <a:p>
            <a:pPr algn="l" indent="0" marL="0">
              <a:lnSpc>
                <a:spcPts val="2240"/>
              </a:lnSpc>
              <a:buNone/>
            </a:pPr>
            <a:r>
              <a:rPr lang="en-US" sz="1600" dirty="0">
                <a:solidFill>
                  <a:srgbClr val="10181D"/>
                </a:solidFill>
                <a:latin typeface="IBM Plex Mono" pitchFamily="49" charset="0"/>
                <a:ea typeface="IBM Plex Mono" pitchFamily="49" charset="-122"/>
                <a:cs typeface="IBM Plex Mono" pitchFamily="49" charset="-120"/>
              </a:rPr>
              <a:t>lane_tests</a:t>
            </a:r>
            <a:endParaRPr lang="en-US" sz="1600" dirty="0"/>
          </a:p>
        </p:txBody>
      </p:sp>
      <p:sp>
        <p:nvSpPr>
          <p:cNvPr id="10" name="Text 8"/>
          <p:cNvSpPr/>
          <p:nvPr/>
        </p:nvSpPr>
        <p:spPr>
          <a:xfrm>
            <a:off x="4485035" y="2945656"/>
            <a:ext cx="2203450" cy="455910"/>
          </a:xfrm>
          <a:prstGeom prst="roundRect">
            <a:avLst>
              <a:gd name="adj" fmla="val 14625"/>
            </a:avLst>
          </a:prstGeom>
          <a:solidFill>
            <a:srgbClr val="FBFCFB"/>
          </a:solidFill>
          <a:ln w="19050">
            <a:solidFill>
              <a:srgbClr val="B4540A"/>
            </a:solidFill>
            <a:prstDash val="solid"/>
          </a:ln>
        </p:spPr>
        <p:txBody>
          <a:bodyPr wrap="none" lIns="0" tIns="0" rIns="0" bIns="0" rtlCol="0" anchor="ctr">
            <a:normAutofit/>
          </a:bodyPr>
          <a:lstStyle/>
          <a:p>
            <a:pPr algn="ctr" indent="0" marL="0">
              <a:lnSpc>
                <a:spcPts val="2240"/>
              </a:lnSpc>
              <a:buNone/>
            </a:pPr>
            <a:r>
              <a:rPr lang="en-US" sz="1600" dirty="0">
                <a:solidFill>
                  <a:srgbClr val="10181D"/>
                </a:solidFill>
                <a:latin typeface="IBM Plex Mono" pitchFamily="49" charset="0"/>
                <a:ea typeface="IBM Plex Mono" pitchFamily="49" charset="-122"/>
                <a:cs typeface="IBM Plex Mono" pitchFamily="49" charset="-120"/>
              </a:rPr>
              <a:t>lane_complexity</a:t>
            </a:r>
            <a:endParaRPr lang="en-US" sz="1600" dirty="0"/>
          </a:p>
        </p:txBody>
      </p:sp>
      <p:sp>
        <p:nvSpPr>
          <p:cNvPr id="11" name="Text 9"/>
          <p:cNvSpPr/>
          <p:nvPr/>
        </p:nvSpPr>
        <p:spPr>
          <a:xfrm>
            <a:off x="6850410" y="242689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IBM Plex Sans" pitchFamily="34" charset="0"/>
                <a:ea typeface="IBM Plex Sans" pitchFamily="34" charset="-122"/>
                <a:cs typeface="IBM Plex Sans" pitchFamily="34" charset="-120"/>
              </a:rPr>
              <a:t>→</a:t>
            </a:r>
            <a:endParaRPr lang="en-US" sz="2200" dirty="0"/>
          </a:p>
        </p:txBody>
      </p:sp>
      <p:sp>
        <p:nvSpPr>
          <p:cNvPr id="12" name="Text 10"/>
          <p:cNvSpPr/>
          <p:nvPr/>
        </p:nvSpPr>
        <p:spPr>
          <a:xfrm>
            <a:off x="7291735" y="2394496"/>
            <a:ext cx="1593850" cy="455910"/>
          </a:xfrm>
          <a:prstGeom prst="roundRect">
            <a:avLst>
              <a:gd name="adj" fmla="val 14625"/>
            </a:avLst>
          </a:prstGeom>
          <a:solidFill>
            <a:srgbClr val="FBFCFB"/>
          </a:solidFill>
          <a:ln w="19050">
            <a:solidFill>
              <a:srgbClr val="1D6B58"/>
            </a:solidFill>
            <a:prstDash val="solid"/>
          </a:ln>
        </p:spPr>
        <p:txBody>
          <a:bodyPr wrap="none" lIns="0" tIns="0" rIns="0" bIns="0" rtlCol="0" anchor="ctr">
            <a:normAutofit/>
          </a:bodyPr>
          <a:lstStyle/>
          <a:p>
            <a:pPr algn="ctr" indent="0" marL="0">
              <a:lnSpc>
                <a:spcPts val="2240"/>
              </a:lnSpc>
              <a:buNone/>
            </a:pPr>
            <a:r>
              <a:rPr lang="en-US" sz="1600" dirty="0">
                <a:solidFill>
                  <a:srgbClr val="10181D"/>
                </a:solidFill>
                <a:latin typeface="IBM Plex Mono" pitchFamily="49" charset="0"/>
                <a:ea typeface="IBM Plex Mono" pitchFamily="49" charset="-122"/>
                <a:cs typeface="IBM Plex Mono" pitchFamily="49" charset="-120"/>
              </a:rPr>
              <a:t>join_lanes</a:t>
            </a:r>
            <a:endParaRPr lang="en-US" sz="1600" dirty="0"/>
          </a:p>
        </p:txBody>
      </p:sp>
      <p:sp>
        <p:nvSpPr>
          <p:cNvPr id="13" name="Text 11"/>
          <p:cNvSpPr/>
          <p:nvPr/>
        </p:nvSpPr>
        <p:spPr>
          <a:xfrm>
            <a:off x="9047510" y="242689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IBM Plex Sans" pitchFamily="34" charset="0"/>
                <a:ea typeface="IBM Plex Sans" pitchFamily="34" charset="-122"/>
                <a:cs typeface="IBM Plex Sans" pitchFamily="34" charset="-120"/>
              </a:rPr>
              <a:t>→</a:t>
            </a:r>
            <a:endParaRPr lang="en-US" sz="2200" dirty="0"/>
          </a:p>
        </p:txBody>
      </p:sp>
      <p:sp>
        <p:nvSpPr>
          <p:cNvPr id="14" name="Text 12"/>
          <p:cNvSpPr/>
          <p:nvPr/>
        </p:nvSpPr>
        <p:spPr>
          <a:xfrm>
            <a:off x="9488835" y="2394496"/>
            <a:ext cx="1228130" cy="455910"/>
          </a:xfrm>
          <a:prstGeom prst="roundRect">
            <a:avLst>
              <a:gd name="adj" fmla="val 14625"/>
            </a:avLst>
          </a:prstGeom>
          <a:solidFill>
            <a:srgbClr val="FBFCFB"/>
          </a:solidFill>
          <a:ln w="19050">
            <a:solidFill>
              <a:srgbClr val="B4540A"/>
            </a:solidFill>
            <a:prstDash val="solid"/>
          </a:ln>
        </p:spPr>
        <p:txBody>
          <a:bodyPr wrap="none" lIns="0" tIns="0" rIns="0" bIns="0" rtlCol="0" anchor="ctr">
            <a:normAutofit/>
          </a:bodyPr>
          <a:lstStyle/>
          <a:p>
            <a:pPr algn="ctr" indent="0" marL="0">
              <a:lnSpc>
                <a:spcPts val="2240"/>
              </a:lnSpc>
              <a:buNone/>
            </a:pPr>
            <a:r>
              <a:rPr lang="en-US" sz="1600" dirty="0">
                <a:solidFill>
                  <a:srgbClr val="10181D"/>
                </a:solidFill>
                <a:latin typeface="IBM Plex Mono" pitchFamily="49" charset="0"/>
                <a:ea typeface="IBM Plex Mono" pitchFamily="49" charset="-122"/>
                <a:cs typeface="IBM Plex Mono" pitchFamily="49" charset="-120"/>
              </a:rPr>
              <a:t>verdict</a:t>
            </a:r>
            <a:endParaRPr lang="en-US" sz="1600" dirty="0"/>
          </a:p>
        </p:txBody>
      </p:sp>
      <p:sp>
        <p:nvSpPr>
          <p:cNvPr id="15" name="Shape 13"/>
          <p:cNvSpPr/>
          <p:nvPr/>
        </p:nvSpPr>
        <p:spPr>
          <a:xfrm>
            <a:off x="822325" y="3545036"/>
            <a:ext cx="184150" cy="184150"/>
          </a:xfrm>
          <a:prstGeom prst="roundRect">
            <a:avLst>
              <a:gd name="adj" fmla="val 15517"/>
            </a:avLst>
          </a:prstGeom>
          <a:noFill/>
          <a:ln w="19050">
            <a:solidFill>
              <a:srgbClr val="B4540A"/>
            </a:solidFill>
            <a:prstDash val="solid"/>
          </a:ln>
        </p:spPr>
      </p:sp>
      <p:sp>
        <p:nvSpPr>
          <p:cNvPr id="16" name="Text 14"/>
          <p:cNvSpPr/>
          <p:nvPr/>
        </p:nvSpPr>
        <p:spPr>
          <a:xfrm>
            <a:off x="1117600" y="3512691"/>
            <a:ext cx="224249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an agent that calls a model</a:t>
            </a:r>
            <a:endParaRPr lang="en-US" sz="1400" dirty="0"/>
          </a:p>
        </p:txBody>
      </p:sp>
      <p:sp>
        <p:nvSpPr>
          <p:cNvPr id="17" name="Shape 15"/>
          <p:cNvSpPr/>
          <p:nvPr/>
        </p:nvSpPr>
        <p:spPr>
          <a:xfrm>
            <a:off x="3369618" y="3545036"/>
            <a:ext cx="184150" cy="184150"/>
          </a:xfrm>
          <a:prstGeom prst="roundRect">
            <a:avLst>
              <a:gd name="adj" fmla="val 15517"/>
            </a:avLst>
          </a:prstGeom>
          <a:noFill/>
          <a:ln w="19050">
            <a:solidFill>
              <a:srgbClr val="1D6B58"/>
            </a:solidFill>
            <a:prstDash val="solid"/>
          </a:ln>
        </p:spPr>
      </p:sp>
      <p:sp>
        <p:nvSpPr>
          <p:cNvPr id="18" name="Text 16"/>
          <p:cNvSpPr/>
          <p:nvPr/>
        </p:nvSpPr>
        <p:spPr>
          <a:xfrm>
            <a:off x="3664893" y="3512691"/>
            <a:ext cx="409140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JoinNode: code that waits for every branch</a:t>
            </a:r>
            <a:endParaRPr lang="en-US" sz="1400" dirty="0"/>
          </a:p>
        </p:txBody>
      </p:sp>
      <p:sp>
        <p:nvSpPr>
          <p:cNvPr id="19" name="Text 17"/>
          <p:cNvSpPr/>
          <p:nvPr/>
        </p:nvSpPr>
        <p:spPr>
          <a:xfrm>
            <a:off x="812800" y="3964781"/>
            <a:ext cx="10566400" cy="838200"/>
          </a:xfrm>
          <a:prstGeom prst="roundRect">
            <a:avLst>
              <a:gd name="adj" fmla="val 12121"/>
            </a:avLst>
          </a:prstGeom>
          <a:solidFill>
            <a:srgbClr val="10181D"/>
          </a:solidFill>
          <a:ln/>
        </p:spPr>
        <p:txBody>
          <a:bodyPr wrap="none" lIns="275042" tIns="122642" rIns="0" bIns="97242" rtlCol="0" anchor="t">
            <a:normAutofit/>
          </a:bodyPr>
          <a:lstStyle/>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lanes = tuple(build_lane(*lane) for lane in LANES)      </a:t>
            </a:r>
            <a:r>
              <a:rPr lang="en-US" sz="1400" dirty="0">
                <a:solidFill>
                  <a:srgbClr val="8A9BA4"/>
                </a:solidFill>
                <a:latin typeface="IBM Plex Mono" pitchFamily="49" charset="0"/>
                <a:ea typeface="IBM Plex Mono" pitchFamily="49" charset="-122"/>
                <a:cs typeface="IBM Plex Mono" pitchFamily="49" charset="-120"/>
              </a:rPr>
              <a:t># a lane is a row: name, role, budget</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root_agent = </a:t>
            </a:r>
            <a:r>
              <a:rPr lang="en-US" sz="1400" dirty="0">
                <a:solidFill>
                  <a:srgbClr val="5CC2A0"/>
                </a:solidFill>
                <a:latin typeface="IBM Plex Mono" pitchFamily="49" charset="0"/>
                <a:ea typeface="IBM Plex Mono" pitchFamily="49" charset="-122"/>
                <a:cs typeface="IBM Plex Mono" pitchFamily="49" charset="-120"/>
              </a:rPr>
              <a:t>Workflow</a:t>
            </a:r>
            <a:r>
              <a:rPr lang="en-US" sz="1400" dirty="0">
                <a:solidFill>
                  <a:srgbClr val="DCE6EA"/>
                </a:solidFill>
                <a:latin typeface="IBM Plex Mono" pitchFamily="49" charset="0"/>
                <a:ea typeface="IBM Plex Mono" pitchFamily="49" charset="-122"/>
                <a:cs typeface="IBM Plex Mono" pitchFamily="49" charset="-120"/>
              </a:rPr>
              <a:t>(edges=[("START", collector, </a:t>
            </a:r>
            <a:r>
              <a:rPr lang="en-US" sz="1400" dirty="0">
                <a:solidFill>
                  <a:srgbClr val="5CC2A0"/>
                </a:solidFill>
                <a:latin typeface="IBM Plex Mono" pitchFamily="49" charset="0"/>
                <a:ea typeface="IBM Plex Mono" pitchFamily="49" charset="-122"/>
                <a:cs typeface="IBM Plex Mono" pitchFamily="49" charset="-120"/>
              </a:rPr>
              <a:t>lanes</a:t>
            </a:r>
            <a:r>
              <a:rPr lang="en-US" sz="1400" dirty="0">
                <a:solidFill>
                  <a:srgbClr val="DCE6EA"/>
                </a:solidFill>
                <a:latin typeface="IBM Plex Mono" pitchFamily="49" charset="0"/>
                <a:ea typeface="IBM Plex Mono" pitchFamily="49" charset="-122"/>
                <a:cs typeface="IBM Plex Mono" pitchFamily="49" charset="-120"/>
              </a:rPr>
              <a:t>, </a:t>
            </a:r>
            <a:r>
              <a:rPr lang="en-US" sz="1400" dirty="0">
                <a:solidFill>
                  <a:srgbClr val="5CC2A0"/>
                </a:solidFill>
                <a:latin typeface="IBM Plex Mono" pitchFamily="49" charset="0"/>
                <a:ea typeface="IBM Plex Mono" pitchFamily="49" charset="-122"/>
                <a:cs typeface="IBM Plex Mono" pitchFamily="49" charset="-120"/>
              </a:rPr>
              <a:t>join</a:t>
            </a:r>
            <a:r>
              <a:rPr lang="en-US" sz="1400" dirty="0">
                <a:solidFill>
                  <a:srgbClr val="DCE6EA"/>
                </a:solidFill>
                <a:latin typeface="IBM Plex Mono" pitchFamily="49" charset="0"/>
                <a:ea typeface="IBM Plex Mono" pitchFamily="49" charset="-122"/>
                <a:cs typeface="IBM Plex Mono" pitchFamily="49" charset="-120"/>
              </a:rPr>
              <a:t>, verdict)], max_concurrency=3)</a:t>
            </a:r>
            <a:endParaRPr lang="en-US" sz="1400" dirty="0"/>
          </a:p>
        </p:txBody>
      </p:sp>
      <p:sp>
        <p:nvSpPr>
          <p:cNvPr id="20" name="Shape 18"/>
          <p:cNvSpPr/>
          <p:nvPr/>
        </p:nvSpPr>
        <p:spPr>
          <a:xfrm>
            <a:off x="812800" y="5006181"/>
            <a:ext cx="10566400" cy="765770"/>
          </a:xfrm>
          <a:prstGeom prst="roundRect">
            <a:avLst>
              <a:gd name="adj" fmla="val 13268"/>
            </a:avLst>
          </a:prstGeom>
          <a:solidFill>
            <a:srgbClr val="DCEFE8"/>
          </a:solidFill>
          <a:ln/>
        </p:spPr>
      </p:sp>
      <p:sp>
        <p:nvSpPr>
          <p:cNvPr id="21" name="Text 19"/>
          <p:cNvSpPr/>
          <p:nvPr/>
        </p:nvSpPr>
        <p:spPr>
          <a:xfrm>
            <a:off x="990600" y="5133181"/>
            <a:ext cx="1051712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DEMO · THE SAME MESSAGE IN ADK WEB, THEN THE COMMAND</a:t>
            </a:r>
            <a:endParaRPr lang="en-US" sz="1200" dirty="0"/>
          </a:p>
        </p:txBody>
      </p:sp>
      <p:sp>
        <p:nvSpPr>
          <p:cNvPr id="22" name="Text 20"/>
          <p:cNvSpPr/>
          <p:nvPr/>
        </p:nvSpPr>
        <p:spPr>
          <a:xfrm>
            <a:off x="990600" y="5397302"/>
            <a:ext cx="10517124"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181D"/>
                </a:solidFill>
                <a:latin typeface="IBM Plex Mono" pitchFamily="49" charset="0"/>
                <a:ea typeface="IBM Plex Mono" pitchFamily="49" charset="-122"/>
                <a:cs typeface="IBM Plex Mono" pitchFamily="49" charset="-120"/>
              </a:rPr>
              <a:t>uv run python -m phase_5_parallel_lanes.review --head feature/payments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FROM PHASE 5 TO PHASE 6</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Where phase 5 still trusts the model</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2702074"/>
        </p:xfrm>
        <a:graphic>
          <a:graphicData uri="http://schemas.openxmlformats.org/drawingml/2006/table">
            <a:tbl>
              <a:tblPr/>
              <a:tblGrid>
                <a:gridCol w="2532888"/>
                <a:gridCol w="3588258"/>
                <a:gridCol w="4432554"/>
              </a:tblGrid>
              <a:tr h="386011">
                <a:tc>
                  <a:txBody>
                    <a:bodyPr/>
                    <a:lstStyle/>
                    <a:p>
                      <a:pPr indent="0" marL="0">
                        <a:lnSpc>
                          <a:spcPts val="1960"/>
                        </a:lnSpc>
                        <a:buNone/>
                      </a:pPr>
                      <a:r>
                        <a:rPr lang="en-US" sz="1400" b="1" dirty="0">
                          <a:solidFill>
                            <a:srgbClr val="10181D"/>
                          </a:solidFill>
                          <a:latin typeface="IBM Plex Sans" pitchFamily="34" charset="0"/>
                          <a:ea typeface="IBM Plex Sans" pitchFamily="34" charset="-122"/>
                          <a:cs typeface="IBM Plex Sans" pitchFamily="34" charset="-120"/>
                        </a:rPr>
                        <a:t>Step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7"/>
                    </a:solidFill>
                  </a:tcPr>
                </a:tc>
                <a:tc>
                  <a:txBody>
                    <a:bodyPr/>
                    <a:lstStyle/>
                    <a:p>
                      <a:pPr indent="0" marL="0">
                        <a:lnSpc>
                          <a:spcPts val="1960"/>
                        </a:lnSpc>
                        <a:buNone/>
                      </a:pPr>
                      <a:r>
                        <a:rPr lang="en-US" sz="1400" b="1" dirty="0">
                          <a:solidFill>
                            <a:srgbClr val="B4540A"/>
                          </a:solidFill>
                          <a:latin typeface="IBM Plex Sans" pitchFamily="34" charset="0"/>
                          <a:ea typeface="IBM Plex Sans" pitchFamily="34" charset="-122"/>
                          <a:cs typeface="IBM Plex Sans" pitchFamily="34" charset="-120"/>
                        </a:rPr>
                        <a:t>Phase 5: a model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7"/>
                    </a:solidFill>
                  </a:tcPr>
                </a:tc>
                <a:tc>
                  <a:txBody>
                    <a:bodyPr/>
                    <a:lstStyle/>
                    <a:p>
                      <a:pPr indent="0" marL="0">
                        <a:lnSpc>
                          <a:spcPts val="1960"/>
                        </a:lnSpc>
                        <a:buNone/>
                      </a:pPr>
                      <a:r>
                        <a:rPr lang="en-US" sz="1400" b="1" dirty="0">
                          <a:solidFill>
                            <a:srgbClr val="1D6B58"/>
                          </a:solidFill>
                          <a:latin typeface="IBM Plex Sans" pitchFamily="34" charset="0"/>
                          <a:ea typeface="IBM Plex Sans" pitchFamily="34" charset="-122"/>
                          <a:cs typeface="IBM Plex Sans" pitchFamily="34" charset="-120"/>
                        </a:rPr>
                        <a:t>Phase 6: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7"/>
                    </a:solidFill>
                  </a:tcPr>
                </a:tc>
              </a:tr>
              <a:tr h="386011">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Gathering the diff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tool calls chosen by a model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Python, before any model runs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Checking each quote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nothing checks 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whole lines of its own file's diff, or dropped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Line numbers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the model's guess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read off the diff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Secrets in the diff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sent to every lane, and printed back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redacted for models, a blocker from a gate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The verdict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 model writes APPROVED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 function decides, with an exit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 lane that fails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the verdict agent is asked to say so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named, and the run can never approve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bl>
          </a:graphicData>
        </a:graphic>
      </p:graphicFrame>
      <p:sp>
        <p:nvSpPr>
          <p:cNvPr id="5" name="Text 2"/>
          <p:cNvSpPr/>
          <p:nvPr/>
        </p:nvSpPr>
        <p:spPr>
          <a:xfrm>
            <a:off x="812800" y="4954984"/>
            <a:ext cx="104648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IBM Plex Sans" pitchFamily="34" charset="0"/>
                <a:ea typeface="IBM Plex Sans" pitchFamily="34" charset="-122"/>
                <a:cs typeface="IBM Plex Sans" pitchFamily="34" charset="-120"/>
              </a:rPr>
              <a:t>Phase 5 spends model requests just to gather the diff. Phase 6 gathers it with git and spends three requests, one per lane.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PHASE 6 OF 6 · THE REVIEWER · 0:50 · INTELLIGENCE WHERE NEEDED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Only one of five steps calls a model</a:t>
            </a:r>
            <a:endParaRPr lang="en-US" sz="3600" dirty="0"/>
          </a:p>
        </p:txBody>
      </p:sp>
      <p:sp>
        <p:nvSpPr>
          <p:cNvPr id="4" name="Shape 2"/>
          <p:cNvSpPr/>
          <p:nvPr/>
        </p:nvSpPr>
        <p:spPr>
          <a:xfrm>
            <a:off x="812800" y="1884611"/>
            <a:ext cx="1991320" cy="2257871"/>
          </a:xfrm>
          <a:prstGeom prst="roundRect">
            <a:avLst>
              <a:gd name="adj" fmla="val 3827"/>
            </a:avLst>
          </a:prstGeom>
          <a:solidFill>
            <a:srgbClr val="FBFCFB"/>
          </a:solidFill>
          <a:ln/>
        </p:spPr>
      </p:sp>
      <p:sp>
        <p:nvSpPr>
          <p:cNvPr id="5" name="Shape 3"/>
          <p:cNvSpPr/>
          <p:nvPr/>
        </p:nvSpPr>
        <p:spPr>
          <a:xfrm>
            <a:off x="812800" y="1884611"/>
            <a:ext cx="1991320" cy="2257871"/>
          </a:xfrm>
          <a:custGeom>
            <a:avLst/>
            <a:gdLst/>
            <a:ahLst/>
            <a:cxnLst/>
            <a:rect l="l" t="t" r="r" b="b"/>
            <a:pathLst>
              <a:path w="1991320" h="2257871">
                <a:moveTo>
                  <a:pt x="0" y="76200"/>
                </a:moveTo>
                <a:lnTo>
                  <a:pt x="0" y="76200"/>
                </a:lnTo>
                <a:arcTo hR="76200" wR="76200" stAng="10800000" swAng="5400000"/>
                <a:lnTo>
                  <a:pt x="1915120" y="0"/>
                </a:lnTo>
                <a:arcTo hR="76200" wR="76200" stAng="16200000" swAng="5400000"/>
                <a:lnTo>
                  <a:pt x="1991320" y="76200"/>
                </a:lnTo>
                <a:arcTo hR="38100" wR="76200" stAng="0" swAng="-5400000"/>
                <a:lnTo>
                  <a:pt x="76200" y="38100"/>
                </a:lnTo>
                <a:arcTo hR="38100" wR="76200" stAng="16200000" swAng="-5400000"/>
                <a:close/>
              </a:path>
            </a:pathLst>
          </a:custGeom>
          <a:solidFill>
            <a:srgbClr val="1D6B58"/>
          </a:solidFill>
          <a:ln/>
        </p:spPr>
      </p:sp>
      <p:sp>
        <p:nvSpPr>
          <p:cNvPr id="6" name="Text 4"/>
          <p:cNvSpPr/>
          <p:nvPr/>
        </p:nvSpPr>
        <p:spPr>
          <a:xfrm>
            <a:off x="990600" y="2100511"/>
            <a:ext cx="16865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B58"/>
                </a:solidFill>
                <a:latin typeface="IBM Plex Mono" pitchFamily="49" charset="0"/>
                <a:ea typeface="IBM Plex Mono" pitchFamily="49" charset="-122"/>
                <a:cs typeface="IBM Plex Mono" pitchFamily="49" charset="-120"/>
              </a:rPr>
              <a:t>1 · code</a:t>
            </a:r>
            <a:endParaRPr lang="en-US" sz="1200" dirty="0"/>
          </a:p>
        </p:txBody>
      </p:sp>
      <p:sp>
        <p:nvSpPr>
          <p:cNvPr id="7" name="Text 5"/>
          <p:cNvSpPr/>
          <p:nvPr/>
        </p:nvSpPr>
        <p:spPr>
          <a:xfrm>
            <a:off x="990600" y="2390031"/>
            <a:ext cx="168652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Evidence</a:t>
            </a:r>
            <a:endParaRPr lang="en-US" sz="1600" dirty="0"/>
          </a:p>
        </p:txBody>
      </p:sp>
      <p:sp>
        <p:nvSpPr>
          <p:cNvPr id="8" name="Text 6"/>
          <p:cNvSpPr/>
          <p:nvPr/>
        </p:nvSpPr>
        <p:spPr>
          <a:xfrm>
            <a:off x="990600" y="2720231"/>
            <a:ext cx="1686520"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Read-only git resolves both branches, lists the changed files, reads every diff.</a:t>
            </a:r>
            <a:endParaRPr lang="en-US" sz="1400" dirty="0"/>
          </a:p>
        </p:txBody>
      </p:sp>
      <p:sp>
        <p:nvSpPr>
          <p:cNvPr id="9" name="Shape 7"/>
          <p:cNvSpPr/>
          <p:nvPr/>
        </p:nvSpPr>
        <p:spPr>
          <a:xfrm>
            <a:off x="2956520" y="1884611"/>
            <a:ext cx="1991370" cy="2257871"/>
          </a:xfrm>
          <a:prstGeom prst="roundRect">
            <a:avLst>
              <a:gd name="adj" fmla="val 3827"/>
            </a:avLst>
          </a:prstGeom>
          <a:solidFill>
            <a:srgbClr val="FBFCFB"/>
          </a:solidFill>
          <a:ln/>
        </p:spPr>
      </p:sp>
      <p:sp>
        <p:nvSpPr>
          <p:cNvPr id="10" name="Shape 8"/>
          <p:cNvSpPr/>
          <p:nvPr/>
        </p:nvSpPr>
        <p:spPr>
          <a:xfrm>
            <a:off x="2956520" y="1884611"/>
            <a:ext cx="1991370" cy="2257871"/>
          </a:xfrm>
          <a:custGeom>
            <a:avLst/>
            <a:gdLst/>
            <a:ahLst/>
            <a:cxnLst/>
            <a:rect l="l" t="t" r="r" b="b"/>
            <a:pathLst>
              <a:path w="1991370" h="2257871">
                <a:moveTo>
                  <a:pt x="0" y="76200"/>
                </a:moveTo>
                <a:lnTo>
                  <a:pt x="0" y="76200"/>
                </a:lnTo>
                <a:arcTo hR="76200" wR="76200" stAng="10800000" swAng="5400000"/>
                <a:lnTo>
                  <a:pt x="1915170" y="0"/>
                </a:lnTo>
                <a:arcTo hR="76200" wR="76200" stAng="16200000" swAng="5400000"/>
                <a:lnTo>
                  <a:pt x="1991370" y="76200"/>
                </a:lnTo>
                <a:arcTo hR="38100" wR="76200" stAng="0" swAng="-5400000"/>
                <a:lnTo>
                  <a:pt x="76200" y="38100"/>
                </a:lnTo>
                <a:arcTo hR="38100" wR="76200" stAng="16200000" swAng="-5400000"/>
                <a:close/>
              </a:path>
            </a:pathLst>
          </a:custGeom>
          <a:solidFill>
            <a:srgbClr val="1D6B58"/>
          </a:solidFill>
          <a:ln/>
        </p:spPr>
      </p:sp>
      <p:sp>
        <p:nvSpPr>
          <p:cNvPr id="11" name="Text 9"/>
          <p:cNvSpPr/>
          <p:nvPr/>
        </p:nvSpPr>
        <p:spPr>
          <a:xfrm>
            <a:off x="3134320" y="2100511"/>
            <a:ext cx="16865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B58"/>
                </a:solidFill>
                <a:latin typeface="IBM Plex Mono" pitchFamily="49" charset="0"/>
                <a:ea typeface="IBM Plex Mono" pitchFamily="49" charset="-122"/>
                <a:cs typeface="IBM Plex Mono" pitchFamily="49" charset="-120"/>
              </a:rPr>
              <a:t>2 · code</a:t>
            </a:r>
            <a:endParaRPr lang="en-US" sz="1200" dirty="0"/>
          </a:p>
        </p:txBody>
      </p:sp>
      <p:sp>
        <p:nvSpPr>
          <p:cNvPr id="12" name="Text 10"/>
          <p:cNvSpPr/>
          <p:nvPr/>
        </p:nvSpPr>
        <p:spPr>
          <a:xfrm>
            <a:off x="3134320" y="2390031"/>
            <a:ext cx="168657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Gate</a:t>
            </a:r>
            <a:endParaRPr lang="en-US" sz="1600" dirty="0"/>
          </a:p>
        </p:txBody>
      </p:sp>
      <p:sp>
        <p:nvSpPr>
          <p:cNvPr id="13" name="Text 11"/>
          <p:cNvSpPr/>
          <p:nvPr/>
        </p:nvSpPr>
        <p:spPr>
          <a:xfrm>
            <a:off x="3134320" y="2720231"/>
            <a:ext cx="168657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Every added line is checked against 13 kinds of credential. A hit is a blocker.</a:t>
            </a:r>
            <a:endParaRPr lang="en-US" sz="1400" dirty="0"/>
          </a:p>
        </p:txBody>
      </p:sp>
      <p:sp>
        <p:nvSpPr>
          <p:cNvPr id="14" name="Shape 12"/>
          <p:cNvSpPr/>
          <p:nvPr/>
        </p:nvSpPr>
        <p:spPr>
          <a:xfrm>
            <a:off x="5100290" y="1884611"/>
            <a:ext cx="1991370" cy="2257871"/>
          </a:xfrm>
          <a:prstGeom prst="roundRect">
            <a:avLst>
              <a:gd name="adj" fmla="val 3827"/>
            </a:avLst>
          </a:prstGeom>
          <a:solidFill>
            <a:srgbClr val="FBFCFB"/>
          </a:solidFill>
          <a:ln/>
        </p:spPr>
      </p:sp>
      <p:sp>
        <p:nvSpPr>
          <p:cNvPr id="15" name="Shape 13"/>
          <p:cNvSpPr/>
          <p:nvPr/>
        </p:nvSpPr>
        <p:spPr>
          <a:xfrm>
            <a:off x="5100290" y="1884611"/>
            <a:ext cx="1991370" cy="2257871"/>
          </a:xfrm>
          <a:custGeom>
            <a:avLst/>
            <a:gdLst/>
            <a:ahLst/>
            <a:cxnLst/>
            <a:rect l="l" t="t" r="r" b="b"/>
            <a:pathLst>
              <a:path w="1991370" h="2257871">
                <a:moveTo>
                  <a:pt x="0" y="76200"/>
                </a:moveTo>
                <a:lnTo>
                  <a:pt x="0" y="76200"/>
                </a:lnTo>
                <a:arcTo hR="76200" wR="76200" stAng="10800000" swAng="5400000"/>
                <a:lnTo>
                  <a:pt x="1915170" y="0"/>
                </a:lnTo>
                <a:arcTo hR="76200" wR="76200" stAng="16200000" swAng="5400000"/>
                <a:lnTo>
                  <a:pt x="1991370" y="76200"/>
                </a:lnTo>
                <a:arcTo hR="38100" wR="76200" stAng="0" swAng="-5400000"/>
                <a:lnTo>
                  <a:pt x="76200" y="38100"/>
                </a:lnTo>
                <a:arcTo hR="38100" wR="76200" stAng="16200000" swAng="-5400000"/>
                <a:close/>
              </a:path>
            </a:pathLst>
          </a:custGeom>
          <a:solidFill>
            <a:srgbClr val="B4540A"/>
          </a:solidFill>
          <a:ln/>
        </p:spPr>
      </p:sp>
      <p:sp>
        <p:nvSpPr>
          <p:cNvPr id="16" name="Text 14"/>
          <p:cNvSpPr/>
          <p:nvPr/>
        </p:nvSpPr>
        <p:spPr>
          <a:xfrm>
            <a:off x="5278090" y="2100511"/>
            <a:ext cx="16865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40A"/>
                </a:solidFill>
                <a:latin typeface="IBM Plex Mono" pitchFamily="49" charset="0"/>
                <a:ea typeface="IBM Plex Mono" pitchFamily="49" charset="-122"/>
                <a:cs typeface="IBM Plex Mono" pitchFamily="49" charset="-120"/>
              </a:rPr>
              <a:t>3 · models</a:t>
            </a:r>
            <a:endParaRPr lang="en-US" sz="1200" dirty="0"/>
          </a:p>
        </p:txBody>
      </p:sp>
      <p:sp>
        <p:nvSpPr>
          <p:cNvPr id="17" name="Text 15"/>
          <p:cNvSpPr/>
          <p:nvPr/>
        </p:nvSpPr>
        <p:spPr>
          <a:xfrm>
            <a:off x="5278090" y="2390031"/>
            <a:ext cx="168657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Judgement</a:t>
            </a:r>
            <a:endParaRPr lang="en-US" sz="1600" dirty="0"/>
          </a:p>
        </p:txBody>
      </p:sp>
      <p:sp>
        <p:nvSpPr>
          <p:cNvPr id="18" name="Text 16"/>
          <p:cNvSpPr/>
          <p:nvPr/>
        </p:nvSpPr>
        <p:spPr>
          <a:xfrm>
            <a:off x="5278090" y="2720231"/>
            <a:ext cx="168657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Three lanes judge the same diff, as data, never as instructions.</a:t>
            </a:r>
            <a:endParaRPr lang="en-US" sz="1400" dirty="0"/>
          </a:p>
        </p:txBody>
      </p:sp>
      <p:sp>
        <p:nvSpPr>
          <p:cNvPr id="19" name="Shape 17"/>
          <p:cNvSpPr/>
          <p:nvPr/>
        </p:nvSpPr>
        <p:spPr>
          <a:xfrm>
            <a:off x="7244060" y="1884611"/>
            <a:ext cx="1991370" cy="2257871"/>
          </a:xfrm>
          <a:prstGeom prst="roundRect">
            <a:avLst>
              <a:gd name="adj" fmla="val 3827"/>
            </a:avLst>
          </a:prstGeom>
          <a:solidFill>
            <a:srgbClr val="FBFCFB"/>
          </a:solidFill>
          <a:ln/>
        </p:spPr>
      </p:sp>
      <p:sp>
        <p:nvSpPr>
          <p:cNvPr id="20" name="Shape 18"/>
          <p:cNvSpPr/>
          <p:nvPr/>
        </p:nvSpPr>
        <p:spPr>
          <a:xfrm>
            <a:off x="7244060" y="1884611"/>
            <a:ext cx="1991370" cy="2257871"/>
          </a:xfrm>
          <a:custGeom>
            <a:avLst/>
            <a:gdLst/>
            <a:ahLst/>
            <a:cxnLst/>
            <a:rect l="l" t="t" r="r" b="b"/>
            <a:pathLst>
              <a:path w="1991370" h="2257871">
                <a:moveTo>
                  <a:pt x="0" y="76200"/>
                </a:moveTo>
                <a:lnTo>
                  <a:pt x="0" y="76200"/>
                </a:lnTo>
                <a:arcTo hR="76200" wR="76200" stAng="10800000" swAng="5400000"/>
                <a:lnTo>
                  <a:pt x="1915170" y="0"/>
                </a:lnTo>
                <a:arcTo hR="76200" wR="76200" stAng="16200000" swAng="5400000"/>
                <a:lnTo>
                  <a:pt x="1991370" y="76200"/>
                </a:lnTo>
                <a:arcTo hR="38100" wR="76200" stAng="0" swAng="-5400000"/>
                <a:lnTo>
                  <a:pt x="76200" y="38100"/>
                </a:lnTo>
                <a:arcTo hR="38100" wR="76200" stAng="16200000" swAng="-5400000"/>
                <a:close/>
              </a:path>
            </a:pathLst>
          </a:custGeom>
          <a:solidFill>
            <a:srgbClr val="1D6B58"/>
          </a:solidFill>
          <a:ln/>
        </p:spPr>
      </p:sp>
      <p:sp>
        <p:nvSpPr>
          <p:cNvPr id="21" name="Text 19"/>
          <p:cNvSpPr/>
          <p:nvPr/>
        </p:nvSpPr>
        <p:spPr>
          <a:xfrm>
            <a:off x="7421860" y="2100511"/>
            <a:ext cx="16865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B58"/>
                </a:solidFill>
                <a:latin typeface="IBM Plex Mono" pitchFamily="49" charset="0"/>
                <a:ea typeface="IBM Plex Mono" pitchFamily="49" charset="-122"/>
                <a:cs typeface="IBM Plex Mono" pitchFamily="49" charset="-120"/>
              </a:rPr>
              <a:t>4 · code</a:t>
            </a:r>
            <a:endParaRPr lang="en-US" sz="1200" dirty="0"/>
          </a:p>
        </p:txBody>
      </p:sp>
      <p:sp>
        <p:nvSpPr>
          <p:cNvPr id="22" name="Text 20"/>
          <p:cNvSpPr/>
          <p:nvPr/>
        </p:nvSpPr>
        <p:spPr>
          <a:xfrm>
            <a:off x="7421860" y="2390031"/>
            <a:ext cx="168657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Verdict</a:t>
            </a:r>
            <a:endParaRPr lang="en-US" sz="1600" dirty="0"/>
          </a:p>
        </p:txBody>
      </p:sp>
      <p:sp>
        <p:nvSpPr>
          <p:cNvPr id="23" name="Text 21"/>
          <p:cNvSpPr/>
          <p:nvPr/>
        </p:nvSpPr>
        <p:spPr>
          <a:xfrm>
            <a:off x="7421860" y="2720231"/>
            <a:ext cx="1686570"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 quote must be whole lines of its file's diff, or it is dropped. Duplicates folded.</a:t>
            </a:r>
            <a:endParaRPr lang="en-US" sz="1400" dirty="0"/>
          </a:p>
        </p:txBody>
      </p:sp>
      <p:sp>
        <p:nvSpPr>
          <p:cNvPr id="24" name="Shape 22"/>
          <p:cNvSpPr/>
          <p:nvPr/>
        </p:nvSpPr>
        <p:spPr>
          <a:xfrm>
            <a:off x="9387830" y="1884611"/>
            <a:ext cx="1991370" cy="2257871"/>
          </a:xfrm>
          <a:prstGeom prst="roundRect">
            <a:avLst>
              <a:gd name="adj" fmla="val 3827"/>
            </a:avLst>
          </a:prstGeom>
          <a:solidFill>
            <a:srgbClr val="FBFCFB"/>
          </a:solidFill>
          <a:ln/>
        </p:spPr>
      </p:sp>
      <p:sp>
        <p:nvSpPr>
          <p:cNvPr id="25" name="Shape 23"/>
          <p:cNvSpPr/>
          <p:nvPr/>
        </p:nvSpPr>
        <p:spPr>
          <a:xfrm>
            <a:off x="9387830" y="1884611"/>
            <a:ext cx="1991370" cy="2257871"/>
          </a:xfrm>
          <a:custGeom>
            <a:avLst/>
            <a:gdLst/>
            <a:ahLst/>
            <a:cxnLst/>
            <a:rect l="l" t="t" r="r" b="b"/>
            <a:pathLst>
              <a:path w="1991370" h="2257871">
                <a:moveTo>
                  <a:pt x="0" y="76200"/>
                </a:moveTo>
                <a:lnTo>
                  <a:pt x="0" y="76200"/>
                </a:lnTo>
                <a:arcTo hR="76200" wR="76200" stAng="10800000" swAng="5400000"/>
                <a:lnTo>
                  <a:pt x="1915170" y="0"/>
                </a:lnTo>
                <a:arcTo hR="76200" wR="76200" stAng="16200000" swAng="5400000"/>
                <a:lnTo>
                  <a:pt x="1991370" y="76200"/>
                </a:lnTo>
                <a:arcTo hR="38100" wR="76200" stAng="0" swAng="-5400000"/>
                <a:lnTo>
                  <a:pt x="76200" y="38100"/>
                </a:lnTo>
                <a:arcTo hR="38100" wR="76200" stAng="16200000" swAng="-5400000"/>
                <a:close/>
              </a:path>
            </a:pathLst>
          </a:custGeom>
          <a:solidFill>
            <a:srgbClr val="1D6B58"/>
          </a:solidFill>
          <a:ln/>
        </p:spPr>
      </p:sp>
      <p:sp>
        <p:nvSpPr>
          <p:cNvPr id="26" name="Text 24"/>
          <p:cNvSpPr/>
          <p:nvPr/>
        </p:nvSpPr>
        <p:spPr>
          <a:xfrm>
            <a:off x="9565630" y="2100511"/>
            <a:ext cx="16865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B58"/>
                </a:solidFill>
                <a:latin typeface="IBM Plex Mono" pitchFamily="49" charset="0"/>
                <a:ea typeface="IBM Plex Mono" pitchFamily="49" charset="-122"/>
                <a:cs typeface="IBM Plex Mono" pitchFamily="49" charset="-120"/>
              </a:rPr>
              <a:t>5 · code</a:t>
            </a:r>
            <a:endParaRPr lang="en-US" sz="1200" dirty="0"/>
          </a:p>
        </p:txBody>
      </p:sp>
      <p:sp>
        <p:nvSpPr>
          <p:cNvPr id="27" name="Text 25"/>
          <p:cNvSpPr/>
          <p:nvPr/>
        </p:nvSpPr>
        <p:spPr>
          <a:xfrm>
            <a:off x="9565630" y="2390031"/>
            <a:ext cx="168657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Report</a:t>
            </a:r>
            <a:endParaRPr lang="en-US" sz="1600" dirty="0"/>
          </a:p>
        </p:txBody>
      </p:sp>
      <p:sp>
        <p:nvSpPr>
          <p:cNvPr id="28" name="Text 26"/>
          <p:cNvSpPr/>
          <p:nvPr/>
        </p:nvSpPr>
        <p:spPr>
          <a:xfrm>
            <a:off x="9565630" y="2720231"/>
            <a:ext cx="1686570"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What was found, dropped, folded, redacted and not read, and what it cost.</a:t>
            </a:r>
            <a:endParaRPr lang="en-US" sz="1400" dirty="0"/>
          </a:p>
        </p:txBody>
      </p:sp>
      <p:sp>
        <p:nvSpPr>
          <p:cNvPr id="29" name="Text 27"/>
          <p:cNvSpPr/>
          <p:nvPr/>
        </p:nvSpPr>
        <p:spPr>
          <a:xfrm>
            <a:off x="812800" y="4396482"/>
            <a:ext cx="1088339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IBM Plex Sans" pitchFamily="34" charset="0"/>
                <a:ea typeface="IBM Plex Sans" pitchFamily="34" charset="-122"/>
                <a:cs typeface="IBM Plex Sans" pitchFamily="34" charset="-120"/>
              </a:rPr>
              <a:t>Everything that decides the exit code is Python.</a:t>
            </a:r>
            <a:endParaRPr lang="en-US" sz="1600" dirty="0"/>
          </a:p>
        </p:txBody>
      </p:sp>
      <p:sp>
        <p:nvSpPr>
          <p:cNvPr id="30" name="Text 28"/>
          <p:cNvSpPr/>
          <p:nvPr/>
        </p:nvSpPr>
        <p:spPr>
          <a:xfrm>
            <a:off x="812800" y="472157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8"/>
                </a:solidFill>
                <a:latin typeface="IBM Plex Sans" pitchFamily="34" charset="0"/>
                <a:ea typeface="IBM Plex Sans" pitchFamily="34" charset="-122"/>
                <a:cs typeface="IBM Plex Sans" pitchFamily="34" charset="-120"/>
              </a:rPr>
              <a:t>This is the command. In adk web chat the lanes and plugins run too, but the verdict is still a model's.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PHASE 6 · THE APP · CONTROL</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Plugins carry policy no agent can skip</a:t>
            </a:r>
            <a:endParaRPr lang="en-US" sz="3600" dirty="0"/>
          </a:p>
        </p:txBody>
      </p:sp>
      <p:sp>
        <p:nvSpPr>
          <p:cNvPr id="4" name="Text 2"/>
          <p:cNvSpPr/>
          <p:nvPr/>
        </p:nvSpPr>
        <p:spPr>
          <a:xfrm>
            <a:off x="812800" y="1935411"/>
            <a:ext cx="10566400" cy="1739900"/>
          </a:xfrm>
          <a:prstGeom prst="roundRect">
            <a:avLst>
              <a:gd name="adj" fmla="val 5839"/>
            </a:avLst>
          </a:prstGeom>
          <a:solidFill>
            <a:srgbClr val="10181D"/>
          </a:solidFill>
          <a:ln/>
        </p:spPr>
        <p:txBody>
          <a:bodyPr wrap="none" lIns="275042" tIns="173442" rIns="0" bIns="148042" rtlCol="0" anchor="t">
            <a:normAutofit/>
          </a:bodyPr>
          <a:lstStyle/>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def build_app(*, chat: bool) -&gt; </a:t>
            </a:r>
            <a:r>
              <a:rPr lang="en-US" sz="1400" dirty="0">
                <a:solidFill>
                  <a:srgbClr val="5CC2A0"/>
                </a:solidFill>
                <a:latin typeface="IBM Plex Mono" pitchFamily="49" charset="0"/>
                <a:ea typeface="IBM Plex Mono" pitchFamily="49" charset="-122"/>
                <a:cs typeface="IBM Plex Mono" pitchFamily="49" charset="-120"/>
              </a:rPr>
              <a:t>App</a:t>
            </a:r>
            <a:r>
              <a:rPr lang="en-US" sz="1400" dirty="0">
                <a:solidFill>
                  <a:srgbClr val="DCE6EA"/>
                </a:solidFill>
                <a:latin typeface="IBM Plex Mono" pitchFamily="49" charset="0"/>
                <a:ea typeface="IBM Plex Mono" pitchFamily="49" charset="-122"/>
                <a:cs typeface="IBM Plex Mono" pitchFamily="49" charset="-120"/>
              </a:rPr>
              <a:t>:</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plugins = [</a:t>
            </a:r>
            <a:r>
              <a:rPr lang="en-US" sz="1400" dirty="0">
                <a:solidFill>
                  <a:srgbClr val="5CC2A0"/>
                </a:solidFill>
                <a:latin typeface="IBM Plex Mono" pitchFamily="49" charset="0"/>
                <a:ea typeface="IBM Plex Mono" pitchFamily="49" charset="-122"/>
                <a:cs typeface="IBM Plex Mono" pitchFamily="49" charset="-120"/>
              </a:rPr>
              <a:t>RedactSecretsPlugin</a:t>
            </a:r>
            <a:r>
              <a:rPr lang="en-US" sz="1400" dirty="0">
                <a:solidFill>
                  <a:srgbClr val="DCE6EA"/>
                </a:solidFill>
                <a:latin typeface="IBM Plex Mono" pitchFamily="49" charset="0"/>
                <a:ea typeface="IBM Plex Mono" pitchFamily="49" charset="-122"/>
                <a:cs typeface="IBM Plex Mono" pitchFamily="49" charset="-120"/>
              </a:rPr>
              <a:t>(), </a:t>
            </a:r>
            <a:r>
              <a:rPr lang="en-US" sz="1400" dirty="0">
                <a:solidFill>
                  <a:srgbClr val="5CC2A0"/>
                </a:solidFill>
                <a:latin typeface="IBM Plex Mono" pitchFamily="49" charset="0"/>
                <a:ea typeface="IBM Plex Mono" pitchFamily="49" charset="-122"/>
                <a:cs typeface="IBM Plex Mono" pitchFamily="49" charset="-120"/>
              </a:rPr>
              <a:t>UsageLedger</a:t>
            </a:r>
            <a:r>
              <a:rPr lang="en-US" sz="1400" dirty="0">
                <a:solidFill>
                  <a:srgbClr val="DCE6EA"/>
                </a:solidFill>
                <a:latin typeface="IBM Plex Mono" pitchFamily="49" charset="0"/>
                <a:ea typeface="IBM Plex Mono" pitchFamily="49" charset="-122"/>
                <a:cs typeface="IBM Plex Mono" pitchFamily="49" charset="-120"/>
              </a:rPr>
              <a:t>(), </a:t>
            </a:r>
            <a:r>
              <a:rPr lang="en-US" sz="1400" dirty="0">
                <a:solidFill>
                  <a:srgbClr val="5CC2A0"/>
                </a:solidFill>
                <a:latin typeface="IBM Plex Mono" pitchFamily="49" charset="0"/>
                <a:ea typeface="IBM Plex Mono" pitchFamily="49" charset="-122"/>
                <a:cs typeface="IBM Plex Mono" pitchFamily="49" charset="-120"/>
              </a:rPr>
              <a:t>ReportProviderErrors</a:t>
            </a:r>
            <a:r>
              <a:rPr lang="en-US" sz="1400" dirty="0">
                <a:solidFill>
                  <a:srgbClr val="DCE6EA"/>
                </a:solidFill>
                <a:latin typeface="IBM Plex Mono" pitchFamily="49" charset="0"/>
                <a:ea typeface="IBM Plex Mono" pitchFamily="49" charset="-122"/>
                <a:cs typeface="IBM Plex Mono" pitchFamily="49" charset="-120"/>
              </a:rPr>
              <a:t>()]</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return App(name=NAME, root_agent=build_workflow(chat=chat), plugins=plugins)</a:t>
            </a:r>
            <a:endParaRPr lang="en-US" sz="1400" dirty="0"/>
          </a:p>
          <a:p>
            <a:pPr algn="l" indent="0" marL="0">
              <a:lnSpc>
                <a:spcPts val="2100"/>
              </a:lnSpc>
              <a:buNone/>
            </a:pP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app = build_app(chat=True)      </a:t>
            </a:r>
            <a:r>
              <a:rPr lang="en-US" sz="1400" dirty="0">
                <a:solidFill>
                  <a:srgbClr val="8A9BA4"/>
                </a:solidFill>
                <a:latin typeface="IBM Plex Mono" pitchFamily="49" charset="0"/>
                <a:ea typeface="IBM Plex Mono" pitchFamily="49" charset="-122"/>
                <a:cs typeface="IBM Plex Mono" pitchFamily="49" charset="-120"/>
              </a:rPr>
              <a:t># the command builds it with chat=False: lanes only</a:t>
            </a:r>
            <a:endParaRPr lang="en-US" sz="1400" dirty="0"/>
          </a:p>
        </p:txBody>
      </p:sp>
      <p:sp>
        <p:nvSpPr>
          <p:cNvPr id="5" name="Shape 3"/>
          <p:cNvSpPr/>
          <p:nvPr/>
        </p:nvSpPr>
        <p:spPr>
          <a:xfrm>
            <a:off x="812800" y="3980111"/>
            <a:ext cx="3386634" cy="1221680"/>
          </a:xfrm>
          <a:prstGeom prst="roundRect">
            <a:avLst>
              <a:gd name="adj" fmla="val 8316"/>
            </a:avLst>
          </a:prstGeom>
          <a:solidFill>
            <a:srgbClr val="FBFCFB"/>
          </a:solidFill>
          <a:ln/>
        </p:spPr>
      </p:sp>
      <p:sp>
        <p:nvSpPr>
          <p:cNvPr id="6" name="Text 4"/>
          <p:cNvSpPr/>
          <p:nvPr/>
        </p:nvSpPr>
        <p:spPr>
          <a:xfrm>
            <a:off x="1016000" y="4183311"/>
            <a:ext cx="306964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RedactSecretsPlugin</a:t>
            </a:r>
            <a:endParaRPr lang="en-US" sz="1600" dirty="0"/>
          </a:p>
        </p:txBody>
      </p:sp>
      <p:sp>
        <p:nvSpPr>
          <p:cNvPr id="7" name="Text 5"/>
          <p:cNvSpPr/>
          <p:nvPr/>
        </p:nvSpPr>
        <p:spPr>
          <a:xfrm>
            <a:off x="1016000" y="4500811"/>
            <a:ext cx="306964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Scrubs credential shapes from every request before a model sees it.</a:t>
            </a:r>
            <a:endParaRPr lang="en-US" sz="1400" dirty="0"/>
          </a:p>
        </p:txBody>
      </p:sp>
      <p:sp>
        <p:nvSpPr>
          <p:cNvPr id="8" name="Shape 6"/>
          <p:cNvSpPr/>
          <p:nvPr/>
        </p:nvSpPr>
        <p:spPr>
          <a:xfrm>
            <a:off x="4402634" y="3980111"/>
            <a:ext cx="3386683" cy="1221680"/>
          </a:xfrm>
          <a:prstGeom prst="roundRect">
            <a:avLst>
              <a:gd name="adj" fmla="val 8316"/>
            </a:avLst>
          </a:prstGeom>
          <a:solidFill>
            <a:srgbClr val="FBFCFB"/>
          </a:solidFill>
          <a:ln/>
        </p:spPr>
      </p:sp>
      <p:sp>
        <p:nvSpPr>
          <p:cNvPr id="9" name="Text 7"/>
          <p:cNvSpPr/>
          <p:nvPr/>
        </p:nvSpPr>
        <p:spPr>
          <a:xfrm>
            <a:off x="4605834" y="4183311"/>
            <a:ext cx="306969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UsageLedger</a:t>
            </a:r>
            <a:endParaRPr lang="en-US" sz="1600" dirty="0"/>
          </a:p>
        </p:txBody>
      </p:sp>
      <p:sp>
        <p:nvSpPr>
          <p:cNvPr id="10" name="Text 8"/>
          <p:cNvSpPr/>
          <p:nvPr/>
        </p:nvSpPr>
        <p:spPr>
          <a:xfrm>
            <a:off x="4605834" y="4500811"/>
            <a:ext cx="30696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Counts every call's tokens; the report ends with what the run cost.</a:t>
            </a:r>
            <a:endParaRPr lang="en-US" sz="1400" dirty="0"/>
          </a:p>
        </p:txBody>
      </p:sp>
      <p:sp>
        <p:nvSpPr>
          <p:cNvPr id="11" name="Shape 9"/>
          <p:cNvSpPr/>
          <p:nvPr/>
        </p:nvSpPr>
        <p:spPr>
          <a:xfrm>
            <a:off x="7992517" y="3980111"/>
            <a:ext cx="3386683" cy="1221680"/>
          </a:xfrm>
          <a:prstGeom prst="roundRect">
            <a:avLst>
              <a:gd name="adj" fmla="val 8316"/>
            </a:avLst>
          </a:prstGeom>
          <a:solidFill>
            <a:srgbClr val="FBFCFB"/>
          </a:solidFill>
          <a:ln/>
        </p:spPr>
      </p:sp>
      <p:sp>
        <p:nvSpPr>
          <p:cNvPr id="12" name="Text 10"/>
          <p:cNvSpPr/>
          <p:nvPr/>
        </p:nvSpPr>
        <p:spPr>
          <a:xfrm>
            <a:off x="8195717" y="4183311"/>
            <a:ext cx="306969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ReportProviderErrors</a:t>
            </a:r>
            <a:endParaRPr lang="en-US" sz="1600" dirty="0"/>
          </a:p>
        </p:txBody>
      </p:sp>
      <p:sp>
        <p:nvSpPr>
          <p:cNvPr id="13" name="Text 11"/>
          <p:cNvSpPr/>
          <p:nvPr/>
        </p:nvSpPr>
        <p:spPr>
          <a:xfrm>
            <a:off x="8195717" y="4500811"/>
            <a:ext cx="30696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 failed lane is named with its reason; the others finish.</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PHASE 6 · THE VERDICT · REVIEW.PY · DETERMINISTIC</a:t>
            </a:r>
            <a:endParaRPr lang="en-US" sz="1200" dirty="0"/>
          </a:p>
        </p:txBody>
      </p:sp>
      <p:sp>
        <p:nvSpPr>
          <p:cNvPr id="3" name="Text 1"/>
          <p:cNvSpPr/>
          <p:nvPr>
            <p:ph type="title"/>
          </p:nvPr>
        </p:nvSpPr>
        <p:spPr>
          <a:xfrm>
            <a:off x="812800" y="975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The verdict is a function, not a prompt</a:t>
            </a:r>
            <a:endParaRPr lang="en-US" sz="3600" dirty="0"/>
          </a:p>
        </p:txBody>
      </p:sp>
      <p:sp>
        <p:nvSpPr>
          <p:cNvPr id="4" name="Text 2"/>
          <p:cNvSpPr/>
          <p:nvPr/>
        </p:nvSpPr>
        <p:spPr>
          <a:xfrm>
            <a:off x="812800" y="1681411"/>
            <a:ext cx="10566400" cy="1955800"/>
          </a:xfrm>
          <a:prstGeom prst="roundRect">
            <a:avLst>
              <a:gd name="adj" fmla="val 5195"/>
            </a:avLst>
          </a:prstGeom>
          <a:solidFill>
            <a:srgbClr val="10181D"/>
          </a:solidFill>
          <a:ln/>
        </p:spPr>
        <p:txBody>
          <a:bodyPr wrap="none" lIns="275042" tIns="148042" rIns="0" bIns="122642" rtlCol="0" anchor="t">
            <a:normAutofit/>
          </a:bodyPr>
          <a:lstStyle/>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def </a:t>
            </a:r>
            <a:r>
              <a:rPr lang="en-US" sz="1400" dirty="0">
                <a:solidFill>
                  <a:srgbClr val="5CC2A0"/>
                </a:solidFill>
                <a:latin typeface="IBM Plex Mono" pitchFamily="49" charset="0"/>
                <a:ea typeface="IBM Plex Mono" pitchFamily="49" charset="-122"/>
                <a:cs typeface="IBM Plex Mono" pitchFamily="49" charset="-120"/>
              </a:rPr>
              <a:t>decide</a:t>
            </a:r>
            <a:r>
              <a:rPr lang="en-US" sz="1400" dirty="0">
                <a:solidFill>
                  <a:srgbClr val="DCE6EA"/>
                </a:solidFill>
                <a:latin typeface="IBM Plex Mono" pitchFamily="49" charset="0"/>
                <a:ea typeface="IBM Plex Mono" pitchFamily="49" charset="-122"/>
                <a:cs typeface="IBM Plex Mono" pitchFamily="49" charset="-120"/>
              </a:rPr>
              <a:t>(outcome: Outcome, fail_on: str) -&gt; tuple[str, int]:</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if outcome.errors or outcome.unread or _ungrounded_at(outcome, fail_on):</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return </a:t>
            </a:r>
            <a:r>
              <a:rPr lang="en-US" sz="1400" dirty="0">
                <a:solidFill>
                  <a:srgbClr val="5CC2A0"/>
                </a:solidFill>
                <a:latin typeface="IBM Plex Mono" pitchFamily="49" charset="0"/>
                <a:ea typeface="IBM Plex Mono" pitchFamily="49" charset="-122"/>
                <a:cs typeface="IBM Plex Mono" pitchFamily="49" charset="-120"/>
              </a:rPr>
              <a:t>"DEGRADED"</a:t>
            </a:r>
            <a:r>
              <a:rPr lang="en-US" sz="1400" dirty="0">
                <a:solidFill>
                  <a:srgbClr val="DCE6EA"/>
                </a:solidFill>
                <a:latin typeface="IBM Plex Mono" pitchFamily="49" charset="0"/>
                <a:ea typeface="IBM Plex Mono" pitchFamily="49" charset="-122"/>
                <a:cs typeface="IBM Plex Mono" pitchFamily="49" charset="-120"/>
              </a:rPr>
              <a:t>, EXIT_DEGRADED</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worst = max((RANK[item.finding.severity] for item in outcome.kept), default=0)</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return (</a:t>
            </a:r>
            <a:r>
              <a:rPr lang="en-US" sz="1400" dirty="0">
                <a:solidFill>
                  <a:srgbClr val="5CC2A0"/>
                </a:solidFill>
                <a:latin typeface="IBM Plex Mono" pitchFamily="49" charset="0"/>
                <a:ea typeface="IBM Plex Mono" pitchFamily="49" charset="-122"/>
                <a:cs typeface="IBM Plex Mono" pitchFamily="49" charset="-120"/>
              </a:rPr>
              <a:t>"REQUEST_CHANGES"</a:t>
            </a:r>
            <a:r>
              <a:rPr lang="en-US" sz="1400" dirty="0">
                <a:solidFill>
                  <a:srgbClr val="DCE6EA"/>
                </a:solidFill>
                <a:latin typeface="IBM Plex Mono" pitchFamily="49" charset="0"/>
                <a:ea typeface="IBM Plex Mono" pitchFamily="49" charset="-122"/>
                <a:cs typeface="IBM Plex Mono" pitchFamily="49" charset="-120"/>
              </a:rPr>
              <a:t>, EXIT_FINDINGS) if worst &gt;= RANK[fail_on]</a:t>
            </a:r>
            <a:endParaRPr lang="en-US" sz="1400" dirty="0"/>
          </a:p>
          <a:p>
            <a:pPr algn="l" indent="0" marL="0">
              <a:lnSpc>
                <a:spcPts val="2100"/>
              </a:lnSpc>
              <a:buNone/>
            </a:pPr>
            <a:r>
              <a:rPr lang="en-US" sz="1400" dirty="0">
                <a:solidFill>
                  <a:srgbClr val="DCE6EA"/>
                </a:solidFill>
                <a:latin typeface="IBM Plex Mono" pitchFamily="49" charset="0"/>
                <a:ea typeface="IBM Plex Mono" pitchFamily="49" charset="-122"/>
                <a:cs typeface="IBM Plex Mono" pitchFamily="49" charset="-120"/>
              </a:rPr>
              <a:t>        else (</a:t>
            </a:r>
            <a:r>
              <a:rPr lang="en-US" sz="1400" dirty="0">
                <a:solidFill>
                  <a:srgbClr val="5CC2A0"/>
                </a:solidFill>
                <a:latin typeface="IBM Plex Mono" pitchFamily="49" charset="0"/>
                <a:ea typeface="IBM Plex Mono" pitchFamily="49" charset="-122"/>
                <a:cs typeface="IBM Plex Mono" pitchFamily="49" charset="-120"/>
              </a:rPr>
              <a:t>"APPROVED"</a:t>
            </a:r>
            <a:r>
              <a:rPr lang="en-US" sz="1400" dirty="0">
                <a:solidFill>
                  <a:srgbClr val="DCE6EA"/>
                </a:solidFill>
                <a:latin typeface="IBM Plex Mono" pitchFamily="49" charset="0"/>
                <a:ea typeface="IBM Plex Mono" pitchFamily="49" charset="-122"/>
                <a:cs typeface="IBM Plex Mono" pitchFamily="49" charset="-120"/>
              </a:rPr>
              <a:t>, EXIT_CLEAN)</a:t>
            </a:r>
            <a:endParaRPr lang="en-US" sz="1400" dirty="0"/>
          </a:p>
        </p:txBody>
      </p:sp>
      <p:sp>
        <p:nvSpPr>
          <p:cNvPr id="5" name="Text 3"/>
          <p:cNvSpPr/>
          <p:nvPr/>
        </p:nvSpPr>
        <p:spPr>
          <a:xfrm>
            <a:off x="812800" y="3840411"/>
            <a:ext cx="355600"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D6B58"/>
                </a:solidFill>
                <a:latin typeface="IBM Plex Mono" pitchFamily="49" charset="0"/>
                <a:ea typeface="IBM Plex Mono" pitchFamily="49" charset="-122"/>
                <a:cs typeface="IBM Plex Mono" pitchFamily="49" charset="-120"/>
              </a:rPr>
              <a:t>0</a:t>
            </a:r>
            <a:endParaRPr lang="en-US" sz="2400" dirty="0"/>
          </a:p>
        </p:txBody>
      </p:sp>
      <p:sp>
        <p:nvSpPr>
          <p:cNvPr id="6" name="Text 4"/>
          <p:cNvSpPr/>
          <p:nvPr/>
        </p:nvSpPr>
        <p:spPr>
          <a:xfrm>
            <a:off x="1244600" y="3840411"/>
            <a:ext cx="491845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81D"/>
                </a:solidFill>
                <a:latin typeface="IBM Plex Sans" pitchFamily="34" charset="0"/>
                <a:ea typeface="IBM Plex Sans" pitchFamily="34" charset="-122"/>
                <a:cs typeface="IBM Plex Sans" pitchFamily="34" charset="-120"/>
              </a:rPr>
              <a:t>Approved.</a:t>
            </a:r>
            <a:endParaRPr lang="en-US" sz="1400" dirty="0"/>
          </a:p>
        </p:txBody>
      </p:sp>
      <p:sp>
        <p:nvSpPr>
          <p:cNvPr id="7" name="Text 5"/>
          <p:cNvSpPr/>
          <p:nvPr/>
        </p:nvSpPr>
        <p:spPr>
          <a:xfrm>
            <a:off x="6172200" y="3840411"/>
            <a:ext cx="355600"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D6B58"/>
                </a:solidFill>
                <a:latin typeface="IBM Plex Mono" pitchFamily="49" charset="0"/>
                <a:ea typeface="IBM Plex Mono" pitchFamily="49" charset="-122"/>
                <a:cs typeface="IBM Plex Mono" pitchFamily="49" charset="-120"/>
              </a:rPr>
              <a:t>1</a:t>
            </a:r>
            <a:endParaRPr lang="en-US" sz="2400" dirty="0"/>
          </a:p>
        </p:txBody>
      </p:sp>
      <p:sp>
        <p:nvSpPr>
          <p:cNvPr id="8" name="Text 6"/>
          <p:cNvSpPr/>
          <p:nvPr/>
        </p:nvSpPr>
        <p:spPr>
          <a:xfrm>
            <a:off x="6604000" y="3840411"/>
            <a:ext cx="491845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81D"/>
                </a:solidFill>
                <a:latin typeface="IBM Plex Sans" pitchFamily="34" charset="0"/>
                <a:ea typeface="IBM Plex Sans" pitchFamily="34" charset="-122"/>
                <a:cs typeface="IBM Plex Sans" pitchFamily="34" charset="-120"/>
              </a:rPr>
              <a:t>A finding at the bar: blocker by default, --fail-on to change it.</a:t>
            </a:r>
            <a:endParaRPr lang="en-US" sz="1400" dirty="0"/>
          </a:p>
        </p:txBody>
      </p:sp>
      <p:sp>
        <p:nvSpPr>
          <p:cNvPr id="9" name="Text 7"/>
          <p:cNvSpPr/>
          <p:nvPr/>
        </p:nvSpPr>
        <p:spPr>
          <a:xfrm>
            <a:off x="812800" y="4490591"/>
            <a:ext cx="355600"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D6B58"/>
                </a:solidFill>
                <a:latin typeface="IBM Plex Mono" pitchFamily="49" charset="0"/>
                <a:ea typeface="IBM Plex Mono" pitchFamily="49" charset="-122"/>
                <a:cs typeface="IBM Plex Mono" pitchFamily="49" charset="-120"/>
              </a:rPr>
              <a:t>2</a:t>
            </a:r>
            <a:endParaRPr lang="en-US" sz="2400" dirty="0"/>
          </a:p>
        </p:txBody>
      </p:sp>
      <p:sp>
        <p:nvSpPr>
          <p:cNvPr id="10" name="Text 8"/>
          <p:cNvSpPr/>
          <p:nvPr/>
        </p:nvSpPr>
        <p:spPr>
          <a:xfrm>
            <a:off x="1244600" y="4490591"/>
            <a:ext cx="491845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81D"/>
                </a:solidFill>
                <a:latin typeface="IBM Plex Sans" pitchFamily="34" charset="0"/>
                <a:ea typeface="IBM Plex Sans" pitchFamily="34" charset="-122"/>
                <a:cs typeface="IBM Plex Sans" pitchFamily="34" charset="-120"/>
              </a:rPr>
              <a:t>A usage or readiness error before any model call, or nothing to review.</a:t>
            </a:r>
            <a:endParaRPr lang="en-US" sz="1400" dirty="0"/>
          </a:p>
        </p:txBody>
      </p:sp>
      <p:sp>
        <p:nvSpPr>
          <p:cNvPr id="11" name="Text 9"/>
          <p:cNvSpPr/>
          <p:nvPr/>
        </p:nvSpPr>
        <p:spPr>
          <a:xfrm>
            <a:off x="6172200" y="4490591"/>
            <a:ext cx="355600"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D6B58"/>
                </a:solidFill>
                <a:latin typeface="IBM Plex Mono" pitchFamily="49" charset="0"/>
                <a:ea typeface="IBM Plex Mono" pitchFamily="49" charset="-122"/>
                <a:cs typeface="IBM Plex Mono" pitchFamily="49" charset="-120"/>
              </a:rPr>
              <a:t>3</a:t>
            </a:r>
            <a:endParaRPr lang="en-US" sz="2400" dirty="0"/>
          </a:p>
        </p:txBody>
      </p:sp>
      <p:sp>
        <p:nvSpPr>
          <p:cNvPr id="12" name="Text 10"/>
          <p:cNvSpPr/>
          <p:nvPr/>
        </p:nvSpPr>
        <p:spPr>
          <a:xfrm>
            <a:off x="6604000" y="4490591"/>
            <a:ext cx="491845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81D"/>
                </a:solidFill>
                <a:latin typeface="IBM Plex Sans" pitchFamily="34" charset="0"/>
                <a:ea typeface="IBM Plex Sans" pitchFamily="34" charset="-122"/>
                <a:cs typeface="IBM Plex Sans" pitchFamily="34" charset="-120"/>
              </a:rPr>
              <a:t>A hole: a failed lane, an unread file, or a finding at the bar the diff does not bear out.</a:t>
            </a:r>
            <a:endParaRPr lang="en-US" sz="1400" dirty="0"/>
          </a:p>
        </p:txBody>
      </p:sp>
      <p:sp>
        <p:nvSpPr>
          <p:cNvPr id="13" name="Text 11"/>
          <p:cNvSpPr/>
          <p:nvPr/>
        </p:nvSpPr>
        <p:spPr>
          <a:xfrm>
            <a:off x="812800" y="5191571"/>
            <a:ext cx="1088339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D6B58"/>
                </a:solidFill>
                <a:latin typeface="IBM Plex Sans" pitchFamily="34" charset="0"/>
                <a:ea typeface="IBM Plex Sans" pitchFamily="34" charset="-122"/>
                <a:cs typeface="IBM Plex Sans" pitchFamily="34" charset="-120"/>
              </a:rPr>
              <a:t>A hole never approves.</a:t>
            </a:r>
            <a:endParaRPr lang="en-US" sz="1800" dirty="0"/>
          </a:p>
        </p:txBody>
      </p:sp>
      <p:sp>
        <p:nvSpPr>
          <p:cNvPr id="14" name="Text 12"/>
          <p:cNvSpPr/>
          <p:nvPr/>
        </p:nvSpPr>
        <p:spPr>
          <a:xfrm>
            <a:off x="812800" y="5691932"/>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A function, so it is tested like one: the suite runs every phase offline, on a fake model.</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018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CC2A0"/>
                </a:solidFill>
                <a:latin typeface="IBM Plex Mono" pitchFamily="49" charset="0"/>
                <a:ea typeface="IBM Plex Mono" pitchFamily="49" charset="-122"/>
                <a:cs typeface="IBM Plex Mono" pitchFamily="49" charset="-120"/>
              </a:rPr>
              <a:t>PHASE 6 · LIVE · OBSERVABLE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6EDF0"/>
                </a:solidFill>
                <a:latin typeface="Bricolage Grotesque" pitchFamily="34" charset="0"/>
                <a:ea typeface="Bricolage Grotesque" pitchFamily="34" charset="-122"/>
                <a:cs typeface="Bricolage Grotesque" pitchFamily="34" charset="-120"/>
              </a:rPr>
              <a:t>Two fixes, and the build can act</a:t>
            </a:r>
            <a:endParaRPr lang="en-US" sz="3600" dirty="0"/>
          </a:p>
        </p:txBody>
      </p:sp>
      <p:sp>
        <p:nvSpPr>
          <p:cNvPr id="4" name="Shape 2"/>
          <p:cNvSpPr/>
          <p:nvPr/>
        </p:nvSpPr>
        <p:spPr>
          <a:xfrm>
            <a:off x="812800" y="1935411"/>
            <a:ext cx="3386634" cy="2470051"/>
          </a:xfrm>
          <a:prstGeom prst="roundRect">
            <a:avLst>
              <a:gd name="adj" fmla="val 4113"/>
            </a:avLst>
          </a:prstGeom>
          <a:solidFill>
            <a:srgbClr val="1A252C"/>
          </a:solidFill>
          <a:ln/>
        </p:spPr>
      </p:sp>
      <p:sp>
        <p:nvSpPr>
          <p:cNvPr id="5" name="Text 3"/>
          <p:cNvSpPr/>
          <p:nvPr/>
        </p:nvSpPr>
        <p:spPr>
          <a:xfrm>
            <a:off x="1041400" y="2164011"/>
            <a:ext cx="30173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C2A0"/>
                </a:solidFill>
                <a:latin typeface="IBM Plex Mono" pitchFamily="49" charset="0"/>
                <a:ea typeface="IBM Plex Mono" pitchFamily="49" charset="-122"/>
                <a:cs typeface="IBM Plex Mono" pitchFamily="49" charset="-120"/>
              </a:rPr>
              <a:t>Step 1 · exit 1</a:t>
            </a:r>
            <a:endParaRPr lang="en-US" sz="1200" dirty="0"/>
          </a:p>
        </p:txBody>
      </p:sp>
      <p:sp>
        <p:nvSpPr>
          <p:cNvPr id="6" name="Text 4"/>
          <p:cNvSpPr/>
          <p:nvPr/>
        </p:nvSpPr>
        <p:spPr>
          <a:xfrm>
            <a:off x="1041400" y="2478931"/>
            <a:ext cx="301731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IBM Plex Sans" pitchFamily="34" charset="0"/>
                <a:ea typeface="IBM Plex Sans" pitchFamily="34" charset="-122"/>
                <a:cs typeface="IBM Plex Sans" pitchFamily="34" charset="-120"/>
              </a:rPr>
              <a:t>The run from the start</a:t>
            </a:r>
            <a:endParaRPr lang="en-US" sz="1600" dirty="0"/>
          </a:p>
        </p:txBody>
      </p:sp>
      <p:sp>
        <p:nvSpPr>
          <p:cNvPr id="7" name="Text 5"/>
          <p:cNvSpPr/>
          <p:nvPr/>
        </p:nvSpPr>
        <p:spPr>
          <a:xfrm>
            <a:off x="1041400" y="2834531"/>
            <a:ext cx="3017317"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CF"/>
                </a:solidFill>
                <a:latin typeface="IBM Plex Sans" pitchFamily="34" charset="0"/>
                <a:ea typeface="IBM Plex Sans" pitchFamily="34" charset="-122"/>
                <a:cs typeface="IBM Plex Sans" pitchFamily="34" charset="-120"/>
              </a:rPr>
              <a:t>The hard-coded key, found by the code gate, and the shell call, found by a lane.</a:t>
            </a:r>
            <a:endParaRPr lang="en-US" sz="1400" dirty="0"/>
          </a:p>
        </p:txBody>
      </p:sp>
      <p:sp>
        <p:nvSpPr>
          <p:cNvPr id="8" name="Shape 6"/>
          <p:cNvSpPr/>
          <p:nvPr/>
        </p:nvSpPr>
        <p:spPr>
          <a:xfrm>
            <a:off x="4402634" y="1935411"/>
            <a:ext cx="3386683" cy="2470051"/>
          </a:xfrm>
          <a:prstGeom prst="roundRect">
            <a:avLst>
              <a:gd name="adj" fmla="val 4113"/>
            </a:avLst>
          </a:prstGeom>
          <a:solidFill>
            <a:srgbClr val="1A252C"/>
          </a:solidFill>
          <a:ln/>
        </p:spPr>
      </p:sp>
      <p:sp>
        <p:nvSpPr>
          <p:cNvPr id="9" name="Text 7"/>
          <p:cNvSpPr/>
          <p:nvPr/>
        </p:nvSpPr>
        <p:spPr>
          <a:xfrm>
            <a:off x="4631234" y="2164011"/>
            <a:ext cx="30173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C2A0"/>
                </a:solidFill>
                <a:latin typeface="IBM Plex Mono" pitchFamily="49" charset="0"/>
                <a:ea typeface="IBM Plex Mono" pitchFamily="49" charset="-122"/>
                <a:cs typeface="IBM Plex Mono" pitchFamily="49" charset="-120"/>
              </a:rPr>
              <a:t>Step 2</a:t>
            </a:r>
            <a:endParaRPr lang="en-US" sz="1200" dirty="0"/>
          </a:p>
        </p:txBody>
      </p:sp>
      <p:sp>
        <p:nvSpPr>
          <p:cNvPr id="10" name="Text 8"/>
          <p:cNvSpPr/>
          <p:nvPr/>
        </p:nvSpPr>
        <p:spPr>
          <a:xfrm>
            <a:off x="4631234" y="2478931"/>
            <a:ext cx="30173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IBM Plex Sans" pitchFamily="34" charset="0"/>
                <a:ea typeface="IBM Plex Sans" pitchFamily="34" charset="-122"/>
                <a:cs typeface="IBM Plex Sans" pitchFamily="34" charset="-120"/>
              </a:rPr>
              <a:t>Commit the two fixes</a:t>
            </a:r>
            <a:endParaRPr lang="en-US" sz="1600" dirty="0"/>
          </a:p>
        </p:txBody>
      </p:sp>
      <p:sp>
        <p:nvSpPr>
          <p:cNvPr id="11" name="Text 9"/>
          <p:cNvSpPr/>
          <p:nvPr/>
        </p:nvSpPr>
        <p:spPr>
          <a:xfrm>
            <a:off x="4631234" y="2834531"/>
            <a:ext cx="3017368"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uv run python scripts/make_demo_repo.py --fix</a:t>
            </a:r>
            <a:endParaRPr lang="en-US" sz="1300" dirty="0"/>
          </a:p>
        </p:txBody>
      </p:sp>
      <p:sp>
        <p:nvSpPr>
          <p:cNvPr id="12" name="Text 10"/>
          <p:cNvSpPr/>
          <p:nvPr/>
        </p:nvSpPr>
        <p:spPr>
          <a:xfrm>
            <a:off x="4631234" y="3679081"/>
            <a:ext cx="30173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CF"/>
                </a:solidFill>
                <a:latin typeface="IBM Plex Sans" pitchFamily="34" charset="0"/>
                <a:ea typeface="IBM Plex Sans" pitchFamily="34" charset="-122"/>
                <a:cs typeface="IBM Plex Sans" pitchFamily="34" charset="-120"/>
              </a:rPr>
              <a:t>No shell=True, and keys read from the environment.</a:t>
            </a:r>
            <a:endParaRPr lang="en-US" sz="1400" dirty="0"/>
          </a:p>
        </p:txBody>
      </p:sp>
      <p:sp>
        <p:nvSpPr>
          <p:cNvPr id="13" name="Shape 11"/>
          <p:cNvSpPr/>
          <p:nvPr/>
        </p:nvSpPr>
        <p:spPr>
          <a:xfrm>
            <a:off x="7992517" y="1935411"/>
            <a:ext cx="3386683" cy="2470051"/>
          </a:xfrm>
          <a:prstGeom prst="roundRect">
            <a:avLst>
              <a:gd name="adj" fmla="val 4113"/>
            </a:avLst>
          </a:prstGeom>
          <a:solidFill>
            <a:srgbClr val="1A252C"/>
          </a:solidFill>
          <a:ln/>
        </p:spPr>
      </p:sp>
      <p:sp>
        <p:nvSpPr>
          <p:cNvPr id="14" name="Text 12"/>
          <p:cNvSpPr/>
          <p:nvPr/>
        </p:nvSpPr>
        <p:spPr>
          <a:xfrm>
            <a:off x="8221117" y="2164011"/>
            <a:ext cx="30173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C2A0"/>
                </a:solidFill>
                <a:latin typeface="IBM Plex Mono" pitchFamily="49" charset="0"/>
                <a:ea typeface="IBM Plex Mono" pitchFamily="49" charset="-122"/>
                <a:cs typeface="IBM Plex Mono" pitchFamily="49" charset="-120"/>
              </a:rPr>
              <a:t>Step 3 · exit 0</a:t>
            </a:r>
            <a:endParaRPr lang="en-US" sz="1200" dirty="0"/>
          </a:p>
        </p:txBody>
      </p:sp>
      <p:sp>
        <p:nvSpPr>
          <p:cNvPr id="15" name="Text 13"/>
          <p:cNvSpPr/>
          <p:nvPr/>
        </p:nvSpPr>
        <p:spPr>
          <a:xfrm>
            <a:off x="8221117" y="2478931"/>
            <a:ext cx="30173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IBM Plex Sans" pitchFamily="34" charset="0"/>
                <a:ea typeface="IBM Plex Sans" pitchFamily="34" charset="-122"/>
                <a:cs typeface="IBM Plex Sans" pitchFamily="34" charset="-120"/>
              </a:rPr>
              <a:t>Review again</a:t>
            </a:r>
            <a:endParaRPr lang="en-US" sz="1600" dirty="0"/>
          </a:p>
        </p:txBody>
      </p:sp>
      <p:sp>
        <p:nvSpPr>
          <p:cNvPr id="16" name="Text 14"/>
          <p:cNvSpPr/>
          <p:nvPr/>
        </p:nvSpPr>
        <p:spPr>
          <a:xfrm>
            <a:off x="8221117" y="2834531"/>
            <a:ext cx="3017368"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the same command</a:t>
            </a:r>
            <a:endParaRPr lang="en-US" sz="1300" dirty="0"/>
          </a:p>
        </p:txBody>
      </p:sp>
      <p:sp>
        <p:nvSpPr>
          <p:cNvPr id="17" name="Text 15"/>
          <p:cNvSpPr/>
          <p:nvPr/>
        </p:nvSpPr>
        <p:spPr>
          <a:xfrm>
            <a:off x="8221117" y="3183781"/>
            <a:ext cx="301736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CF"/>
                </a:solidFill>
                <a:latin typeface="IBM Plex Sans" pitchFamily="34" charset="0"/>
                <a:ea typeface="IBM Plex Sans" pitchFamily="34" charset="-122"/>
                <a:cs typeface="IBM Plex Sans" pitchFamily="34" charset="-120"/>
              </a:rPr>
              <a:t>What is left sits below the bar: findings for a person, not a failed build.</a:t>
            </a:r>
            <a:endParaRPr lang="en-US" sz="1400" dirty="0"/>
          </a:p>
        </p:txBody>
      </p:sp>
      <p:sp>
        <p:nvSpPr>
          <p:cNvPr id="18" name="Text 16"/>
          <p:cNvSpPr/>
          <p:nvPr/>
        </p:nvSpPr>
        <p:spPr>
          <a:xfrm>
            <a:off x="812800" y="4710261"/>
            <a:ext cx="1088339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6EDF0"/>
                </a:solidFill>
                <a:latin typeface="IBM Plex Sans" pitchFamily="34" charset="0"/>
                <a:ea typeface="IBM Plex Sans" pitchFamily="34" charset="-122"/>
                <a:cs typeface="IBM Plex Sans" pitchFamily="34" charset="-120"/>
              </a:rPr>
              <a:t>Then read the end of the report: what the run cost.</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GOING FURTHER · PHASE 7 · 1:00</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Phase 7 hardens the same reviewer</a:t>
            </a:r>
            <a:endParaRPr lang="en-US" sz="3600" dirty="0"/>
          </a:p>
        </p:txBody>
      </p:sp>
      <p:sp>
        <p:nvSpPr>
          <p:cNvPr id="4" name="Shape 2"/>
          <p:cNvSpPr/>
          <p:nvPr/>
        </p:nvSpPr>
        <p:spPr>
          <a:xfrm>
            <a:off x="812800" y="1884611"/>
            <a:ext cx="2011660" cy="1055291"/>
          </a:xfrm>
          <a:prstGeom prst="roundRect">
            <a:avLst>
              <a:gd name="adj" fmla="val 7221"/>
            </a:avLst>
          </a:prstGeom>
          <a:solidFill>
            <a:srgbClr val="FBFCFB"/>
          </a:solidFill>
          <a:ln/>
        </p:spPr>
      </p:sp>
      <p:sp>
        <p:nvSpPr>
          <p:cNvPr id="5" name="Shape 3"/>
          <p:cNvSpPr/>
          <p:nvPr/>
        </p:nvSpPr>
        <p:spPr>
          <a:xfrm>
            <a:off x="812800" y="1884611"/>
            <a:ext cx="2011660" cy="1055291"/>
          </a:xfrm>
          <a:custGeom>
            <a:avLst/>
            <a:gdLst/>
            <a:ahLst/>
            <a:cxnLst/>
            <a:rect l="l" t="t" r="r" b="b"/>
            <a:pathLst>
              <a:path w="2011660" h="1055291">
                <a:moveTo>
                  <a:pt x="0" y="76200"/>
                </a:moveTo>
                <a:lnTo>
                  <a:pt x="0" y="76200"/>
                </a:lnTo>
                <a:arcTo hR="76200" wR="76200" stAng="10800000" swAng="5400000"/>
                <a:lnTo>
                  <a:pt x="1935460" y="0"/>
                </a:lnTo>
                <a:arcTo hR="76200" wR="76200" stAng="16200000" swAng="5400000"/>
                <a:lnTo>
                  <a:pt x="2011660" y="76200"/>
                </a:lnTo>
                <a:arcTo hR="38100" wR="76200" stAng="0" swAng="-5400000"/>
                <a:lnTo>
                  <a:pt x="76200" y="38100"/>
                </a:lnTo>
                <a:arcTo hR="38100" wR="76200" stAng="16200000" swAng="-5400000"/>
                <a:close/>
              </a:path>
            </a:pathLst>
          </a:custGeom>
          <a:solidFill>
            <a:srgbClr val="1D6B58"/>
          </a:solidFill>
          <a:ln/>
        </p:spPr>
      </p:sp>
      <p:sp>
        <p:nvSpPr>
          <p:cNvPr id="6" name="Text 4"/>
          <p:cNvSpPr/>
          <p:nvPr/>
        </p:nvSpPr>
        <p:spPr>
          <a:xfrm>
            <a:off x="965200" y="2049711"/>
            <a:ext cx="175806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IBM Plex Mono" pitchFamily="49" charset="0"/>
                <a:ea typeface="IBM Plex Mono" pitchFamily="49" charset="-122"/>
                <a:cs typeface="IBM Plex Mono" pitchFamily="49" charset="-120"/>
              </a:rPr>
              <a:t>core/</a:t>
            </a:r>
            <a:endParaRPr lang="en-US" sz="1500" dirty="0"/>
          </a:p>
        </p:txBody>
      </p:sp>
      <p:sp>
        <p:nvSpPr>
          <p:cNvPr id="7" name="Text 5"/>
          <p:cNvSpPr/>
          <p:nvPr/>
        </p:nvSpPr>
        <p:spPr>
          <a:xfrm>
            <a:off x="965200" y="2367211"/>
            <a:ext cx="175806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C57"/>
                </a:solidFill>
                <a:latin typeface="IBM Plex Sans" pitchFamily="34" charset="0"/>
                <a:ea typeface="IBM Plex Sans" pitchFamily="34" charset="-122"/>
                <a:cs typeface="IBM Plex Sans" pitchFamily="34" charset="-120"/>
              </a:rPr>
              <a:t>the domain: no process, no model</a:t>
            </a:r>
            <a:endParaRPr lang="en-US" sz="1300" dirty="0"/>
          </a:p>
        </p:txBody>
      </p:sp>
      <p:sp>
        <p:nvSpPr>
          <p:cNvPr id="8" name="Shape 6"/>
          <p:cNvSpPr/>
          <p:nvPr/>
        </p:nvSpPr>
        <p:spPr>
          <a:xfrm>
            <a:off x="2951460" y="1884611"/>
            <a:ext cx="2011660" cy="1055291"/>
          </a:xfrm>
          <a:prstGeom prst="roundRect">
            <a:avLst>
              <a:gd name="adj" fmla="val 7221"/>
            </a:avLst>
          </a:prstGeom>
          <a:solidFill>
            <a:srgbClr val="FBFCFB"/>
          </a:solidFill>
          <a:ln/>
        </p:spPr>
      </p:sp>
      <p:sp>
        <p:nvSpPr>
          <p:cNvPr id="9" name="Shape 7"/>
          <p:cNvSpPr/>
          <p:nvPr/>
        </p:nvSpPr>
        <p:spPr>
          <a:xfrm>
            <a:off x="2951460" y="1884611"/>
            <a:ext cx="2011660" cy="1055291"/>
          </a:xfrm>
          <a:custGeom>
            <a:avLst/>
            <a:gdLst/>
            <a:ahLst/>
            <a:cxnLst/>
            <a:rect l="l" t="t" r="r" b="b"/>
            <a:pathLst>
              <a:path w="2011660" h="1055291">
                <a:moveTo>
                  <a:pt x="0" y="76200"/>
                </a:moveTo>
                <a:lnTo>
                  <a:pt x="0" y="76200"/>
                </a:lnTo>
                <a:arcTo hR="76200" wR="76200" stAng="10800000" swAng="5400000"/>
                <a:lnTo>
                  <a:pt x="1935460" y="0"/>
                </a:lnTo>
                <a:arcTo hR="76200" wR="76200" stAng="16200000" swAng="5400000"/>
                <a:lnTo>
                  <a:pt x="2011660" y="76200"/>
                </a:lnTo>
                <a:arcTo hR="38100" wR="76200" stAng="0" swAng="-5400000"/>
                <a:lnTo>
                  <a:pt x="76200" y="38100"/>
                </a:lnTo>
                <a:arcTo hR="38100" wR="76200" stAng="16200000" swAng="-5400000"/>
                <a:close/>
              </a:path>
            </a:pathLst>
          </a:custGeom>
          <a:solidFill>
            <a:srgbClr val="1D6B58"/>
          </a:solidFill>
          <a:ln/>
        </p:spPr>
      </p:sp>
      <p:sp>
        <p:nvSpPr>
          <p:cNvPr id="10" name="Text 8"/>
          <p:cNvSpPr/>
          <p:nvPr/>
        </p:nvSpPr>
        <p:spPr>
          <a:xfrm>
            <a:off x="3103860" y="2049711"/>
            <a:ext cx="175806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IBM Plex Mono" pitchFamily="49" charset="0"/>
                <a:ea typeface="IBM Plex Mono" pitchFamily="49" charset="-122"/>
                <a:cs typeface="IBM Plex Mono" pitchFamily="49" charset="-120"/>
              </a:rPr>
              <a:t>rules/</a:t>
            </a:r>
            <a:endParaRPr lang="en-US" sz="1500" dirty="0"/>
          </a:p>
        </p:txBody>
      </p:sp>
      <p:sp>
        <p:nvSpPr>
          <p:cNvPr id="11" name="Text 9"/>
          <p:cNvSpPr/>
          <p:nvPr/>
        </p:nvSpPr>
        <p:spPr>
          <a:xfrm>
            <a:off x="3103860" y="2367211"/>
            <a:ext cx="175806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C57"/>
                </a:solidFill>
                <a:latin typeface="IBM Plex Sans" pitchFamily="34" charset="0"/>
                <a:ea typeface="IBM Plex Sans" pitchFamily="34" charset="-122"/>
                <a:cs typeface="IBM Plex Sans" pitchFamily="34" charset="-120"/>
              </a:rPr>
              <a:t>a project's own rules</a:t>
            </a:r>
            <a:endParaRPr lang="en-US" sz="1300" dirty="0"/>
          </a:p>
        </p:txBody>
      </p:sp>
      <p:sp>
        <p:nvSpPr>
          <p:cNvPr id="12" name="Shape 10"/>
          <p:cNvSpPr/>
          <p:nvPr/>
        </p:nvSpPr>
        <p:spPr>
          <a:xfrm>
            <a:off x="5090120" y="1884611"/>
            <a:ext cx="2011710" cy="1055291"/>
          </a:xfrm>
          <a:prstGeom prst="roundRect">
            <a:avLst>
              <a:gd name="adj" fmla="val 7221"/>
            </a:avLst>
          </a:prstGeom>
          <a:solidFill>
            <a:srgbClr val="FBFCFB"/>
          </a:solidFill>
          <a:ln/>
        </p:spPr>
      </p:sp>
      <p:sp>
        <p:nvSpPr>
          <p:cNvPr id="13" name="Shape 11"/>
          <p:cNvSpPr/>
          <p:nvPr/>
        </p:nvSpPr>
        <p:spPr>
          <a:xfrm>
            <a:off x="5090120" y="1884611"/>
            <a:ext cx="2011710" cy="1055291"/>
          </a:xfrm>
          <a:custGeom>
            <a:avLst/>
            <a:gdLst/>
            <a:ahLst/>
            <a:cxnLst/>
            <a:rect l="l" t="t" r="r" b="b"/>
            <a:pathLst>
              <a:path w="2011710" h="1055291">
                <a:moveTo>
                  <a:pt x="0" y="76200"/>
                </a:moveTo>
                <a:lnTo>
                  <a:pt x="0" y="76200"/>
                </a:lnTo>
                <a:arcTo hR="76200" wR="76200" stAng="10800000" swAng="5400000"/>
                <a:lnTo>
                  <a:pt x="1935510" y="0"/>
                </a:lnTo>
                <a:arcTo hR="76200" wR="76200" stAng="16200000" swAng="5400000"/>
                <a:lnTo>
                  <a:pt x="2011710" y="76200"/>
                </a:lnTo>
                <a:arcTo hR="38100" wR="76200" stAng="0" swAng="-5400000"/>
                <a:lnTo>
                  <a:pt x="76200" y="38100"/>
                </a:lnTo>
                <a:arcTo hR="38100" wR="76200" stAng="16200000" swAng="-5400000"/>
                <a:close/>
              </a:path>
            </a:pathLst>
          </a:custGeom>
          <a:solidFill>
            <a:srgbClr val="1D6B58"/>
          </a:solidFill>
          <a:ln/>
        </p:spPr>
      </p:sp>
      <p:sp>
        <p:nvSpPr>
          <p:cNvPr id="14" name="Text 12"/>
          <p:cNvSpPr/>
          <p:nvPr/>
        </p:nvSpPr>
        <p:spPr>
          <a:xfrm>
            <a:off x="5242520" y="2049711"/>
            <a:ext cx="175811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IBM Plex Mono" pitchFamily="49" charset="0"/>
                <a:ea typeface="IBM Plex Mono" pitchFamily="49" charset="-122"/>
                <a:cs typeface="IBM Plex Mono" pitchFamily="49" charset="-120"/>
              </a:rPr>
              <a:t>collect/</a:t>
            </a:r>
            <a:endParaRPr lang="en-US" sz="1500" dirty="0"/>
          </a:p>
        </p:txBody>
      </p:sp>
      <p:sp>
        <p:nvSpPr>
          <p:cNvPr id="15" name="Text 13"/>
          <p:cNvSpPr/>
          <p:nvPr/>
        </p:nvSpPr>
        <p:spPr>
          <a:xfrm>
            <a:off x="5242520" y="2367211"/>
            <a:ext cx="175811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C57"/>
                </a:solidFill>
                <a:latin typeface="IBM Plex Sans" pitchFamily="34" charset="0"/>
                <a:ea typeface="IBM Plex Sans" pitchFamily="34" charset="-122"/>
                <a:cs typeface="IBM Plex Sans" pitchFamily="34" charset="-120"/>
              </a:rPr>
              <a:t>evidence: git and the ruff gate</a:t>
            </a:r>
            <a:endParaRPr lang="en-US" sz="1300" dirty="0"/>
          </a:p>
        </p:txBody>
      </p:sp>
      <p:sp>
        <p:nvSpPr>
          <p:cNvPr id="16" name="Shape 14"/>
          <p:cNvSpPr/>
          <p:nvPr/>
        </p:nvSpPr>
        <p:spPr>
          <a:xfrm>
            <a:off x="7228830" y="1884611"/>
            <a:ext cx="2011660" cy="1055291"/>
          </a:xfrm>
          <a:prstGeom prst="roundRect">
            <a:avLst>
              <a:gd name="adj" fmla="val 7221"/>
            </a:avLst>
          </a:prstGeom>
          <a:solidFill>
            <a:srgbClr val="FBFCFB"/>
          </a:solidFill>
          <a:ln/>
        </p:spPr>
      </p:sp>
      <p:sp>
        <p:nvSpPr>
          <p:cNvPr id="17" name="Shape 15"/>
          <p:cNvSpPr/>
          <p:nvPr/>
        </p:nvSpPr>
        <p:spPr>
          <a:xfrm>
            <a:off x="7228830" y="1884611"/>
            <a:ext cx="2011660" cy="1055291"/>
          </a:xfrm>
          <a:custGeom>
            <a:avLst/>
            <a:gdLst/>
            <a:ahLst/>
            <a:cxnLst/>
            <a:rect l="l" t="t" r="r" b="b"/>
            <a:pathLst>
              <a:path w="2011660" h="1055291">
                <a:moveTo>
                  <a:pt x="0" y="76200"/>
                </a:moveTo>
                <a:lnTo>
                  <a:pt x="0" y="76200"/>
                </a:lnTo>
                <a:arcTo hR="76200" wR="76200" stAng="10800000" swAng="5400000"/>
                <a:lnTo>
                  <a:pt x="1935460" y="0"/>
                </a:lnTo>
                <a:arcTo hR="76200" wR="76200" stAng="16200000" swAng="5400000"/>
                <a:lnTo>
                  <a:pt x="2011660" y="76200"/>
                </a:lnTo>
                <a:arcTo hR="38100" wR="76200" stAng="0" swAng="-5400000"/>
                <a:lnTo>
                  <a:pt x="76200" y="38100"/>
                </a:lnTo>
                <a:arcTo hR="38100" wR="76200" stAng="16200000" swAng="-5400000"/>
                <a:close/>
              </a:path>
            </a:pathLst>
          </a:custGeom>
          <a:solidFill>
            <a:srgbClr val="B4540A"/>
          </a:solidFill>
          <a:ln/>
        </p:spPr>
      </p:sp>
      <p:sp>
        <p:nvSpPr>
          <p:cNvPr id="18" name="Text 16"/>
          <p:cNvSpPr/>
          <p:nvPr/>
        </p:nvSpPr>
        <p:spPr>
          <a:xfrm>
            <a:off x="7381230" y="2049711"/>
            <a:ext cx="175806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IBM Plex Mono" pitchFamily="49" charset="0"/>
                <a:ea typeface="IBM Plex Mono" pitchFamily="49" charset="-122"/>
                <a:cs typeface="IBM Plex Mono" pitchFamily="49" charset="-120"/>
              </a:rPr>
              <a:t>judge/</a:t>
            </a:r>
            <a:endParaRPr lang="en-US" sz="1500" dirty="0"/>
          </a:p>
        </p:txBody>
      </p:sp>
      <p:sp>
        <p:nvSpPr>
          <p:cNvPr id="19" name="Text 17"/>
          <p:cNvSpPr/>
          <p:nvPr/>
        </p:nvSpPr>
        <p:spPr>
          <a:xfrm>
            <a:off x="7381230" y="2367211"/>
            <a:ext cx="175806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C57"/>
                </a:solidFill>
                <a:latin typeface="IBM Plex Sans" pitchFamily="34" charset="0"/>
                <a:ea typeface="IBM Plex Sans" pitchFamily="34" charset="-122"/>
                <a:cs typeface="IBM Plex Sans" pitchFamily="34" charset="-120"/>
              </a:rPr>
              <a:t>the model boundary: lanes, verify</a:t>
            </a:r>
            <a:endParaRPr lang="en-US" sz="1300" dirty="0"/>
          </a:p>
        </p:txBody>
      </p:sp>
      <p:sp>
        <p:nvSpPr>
          <p:cNvPr id="20" name="Shape 18"/>
          <p:cNvSpPr/>
          <p:nvPr/>
        </p:nvSpPr>
        <p:spPr>
          <a:xfrm>
            <a:off x="9367490" y="1884611"/>
            <a:ext cx="2011660" cy="1055291"/>
          </a:xfrm>
          <a:prstGeom prst="roundRect">
            <a:avLst>
              <a:gd name="adj" fmla="val 7221"/>
            </a:avLst>
          </a:prstGeom>
          <a:solidFill>
            <a:srgbClr val="FBFCFB"/>
          </a:solidFill>
          <a:ln/>
        </p:spPr>
      </p:sp>
      <p:sp>
        <p:nvSpPr>
          <p:cNvPr id="21" name="Shape 19"/>
          <p:cNvSpPr/>
          <p:nvPr/>
        </p:nvSpPr>
        <p:spPr>
          <a:xfrm>
            <a:off x="9367490" y="1884611"/>
            <a:ext cx="2011660" cy="1055291"/>
          </a:xfrm>
          <a:custGeom>
            <a:avLst/>
            <a:gdLst/>
            <a:ahLst/>
            <a:cxnLst/>
            <a:rect l="l" t="t" r="r" b="b"/>
            <a:pathLst>
              <a:path w="2011660" h="1055291">
                <a:moveTo>
                  <a:pt x="0" y="76200"/>
                </a:moveTo>
                <a:lnTo>
                  <a:pt x="0" y="76200"/>
                </a:lnTo>
                <a:arcTo hR="76200" wR="76200" stAng="10800000" swAng="5400000"/>
                <a:lnTo>
                  <a:pt x="1935460" y="0"/>
                </a:lnTo>
                <a:arcTo hR="76200" wR="76200" stAng="16200000" swAng="5400000"/>
                <a:lnTo>
                  <a:pt x="2011660" y="76200"/>
                </a:lnTo>
                <a:arcTo hR="38100" wR="76200" stAng="0" swAng="-5400000"/>
                <a:lnTo>
                  <a:pt x="76200" y="38100"/>
                </a:lnTo>
                <a:arcTo hR="38100" wR="76200" stAng="16200000" swAng="-5400000"/>
                <a:close/>
              </a:path>
            </a:pathLst>
          </a:custGeom>
          <a:solidFill>
            <a:srgbClr val="1D6B58"/>
          </a:solidFill>
          <a:ln/>
        </p:spPr>
      </p:sp>
      <p:sp>
        <p:nvSpPr>
          <p:cNvPr id="22" name="Text 20"/>
          <p:cNvSpPr/>
          <p:nvPr/>
        </p:nvSpPr>
        <p:spPr>
          <a:xfrm>
            <a:off x="9519890" y="2049711"/>
            <a:ext cx="175806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IBM Plex Mono" pitchFamily="49" charset="0"/>
                <a:ea typeface="IBM Plex Mono" pitchFamily="49" charset="-122"/>
                <a:cs typeface="IBM Plex Mono" pitchFamily="49" charset="-120"/>
              </a:rPr>
              <a:t>deliver/</a:t>
            </a:r>
            <a:endParaRPr lang="en-US" sz="1500" dirty="0"/>
          </a:p>
        </p:txBody>
      </p:sp>
      <p:sp>
        <p:nvSpPr>
          <p:cNvPr id="23" name="Text 21"/>
          <p:cNvSpPr/>
          <p:nvPr/>
        </p:nvSpPr>
        <p:spPr>
          <a:xfrm>
            <a:off x="9519890" y="2367211"/>
            <a:ext cx="175806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C57"/>
                </a:solidFill>
                <a:latin typeface="IBM Plex Sans" pitchFamily="34" charset="0"/>
                <a:ea typeface="IBM Plex Sans" pitchFamily="34" charset="-122"/>
                <a:cs typeface="IBM Plex Sans" pitchFamily="34" charset="-120"/>
              </a:rPr>
              <a:t>the report</a:t>
            </a:r>
            <a:endParaRPr lang="en-US" sz="1300" dirty="0"/>
          </a:p>
        </p:txBody>
      </p:sp>
      <p:sp>
        <p:nvSpPr>
          <p:cNvPr id="24" name="Text 22"/>
          <p:cNvSpPr/>
          <p:nvPr/>
        </p:nvSpPr>
        <p:spPr>
          <a:xfrm>
            <a:off x="812800" y="304150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81D"/>
                </a:solidFill>
                <a:latin typeface="IBM Plex Sans" pitchFamily="34" charset="0"/>
                <a:ea typeface="IBM Plex Sans" pitchFamily="34" charset="-122"/>
                <a:cs typeface="IBM Plex Sans" pitchFamily="34" charset="-120"/>
              </a:rPr>
              <a:t>Each group imports only the groups to its left, and a test fails any import that points back.</a:t>
            </a:r>
            <a:endParaRPr lang="en-US" sz="1400" dirty="0"/>
          </a:p>
        </p:txBody>
      </p:sp>
      <p:sp>
        <p:nvSpPr>
          <p:cNvPr id="25" name="Text 23"/>
          <p:cNvSpPr/>
          <p:nvPr/>
        </p:nvSpPr>
        <p:spPr>
          <a:xfrm>
            <a:off x="812800" y="3544391"/>
            <a:ext cx="546785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What it adds to phase 6</a:t>
            </a:r>
            <a:endParaRPr lang="en-US" sz="1600" dirty="0"/>
          </a:p>
        </p:txBody>
      </p:sp>
      <p:sp>
        <p:nvSpPr>
          <p:cNvPr id="26" name="Text 24"/>
          <p:cNvSpPr/>
          <p:nvPr/>
        </p:nvSpPr>
        <p:spPr>
          <a:xfrm>
            <a:off x="812800" y="3874591"/>
            <a:ext cx="5467858" cy="1572022"/>
          </a:xfrm>
          <a:prstGeom prst="rect">
            <a:avLst/>
          </a:prstGeom>
          <a:noFill/>
          <a:ln/>
        </p:spPr>
        <p:txBody>
          <a:bodyPr wrap="square" lIns="0" tIns="0" rIns="0" bIns="0" rtlCol="0" anchor="t">
            <a:normAutofit/>
          </a:bodyPr>
          <a:lstStyle/>
          <a:p>
            <a:pPr algn="l" marL="213360" indent="-175768">
              <a:lnSpc>
                <a:spcPts val="2030"/>
              </a:lnSpc>
              <a:buSzPct val="100000"/>
              <a:buChar char="•"/>
            </a:pPr>
            <a:r>
              <a:rPr lang="en-US" sz="1400" dirty="0">
                <a:solidFill>
                  <a:srgbClr val="3E4C57"/>
                </a:solidFill>
                <a:latin typeface="IBM Plex Sans" pitchFamily="34" charset="0"/>
                <a:ea typeface="IBM Plex Sans" pitchFamily="34" charset="-122"/>
                <a:cs typeface="IBM Plex Sans" pitchFamily="34" charset="-120"/>
              </a:rPr>
              <a:t>retries on both providers, and an optional fallback model</a:t>
            </a:r>
            <a:endParaRPr lang="en-US" sz="1400" dirty="0"/>
          </a:p>
          <a:p>
            <a:pPr algn="l" marL="213360" indent="-175768">
              <a:lnSpc>
                <a:spcPts val="2030"/>
              </a:lnSpc>
              <a:buSzPct val="100000"/>
              <a:buChar char="•"/>
            </a:pPr>
            <a:r>
              <a:rPr lang="en-US" sz="1400" dirty="0">
                <a:solidFill>
                  <a:srgbClr val="3E4C57"/>
                </a:solidFill>
                <a:latin typeface="IBM Plex Sans" pitchFamily="34" charset="0"/>
                <a:ea typeface="IBM Plex Sans" pitchFamily="34" charset="-122"/>
                <a:cs typeface="IBM Plex Sans" pitchFamily="34" charset="-120"/>
              </a:rPr>
              <a:t>a token ceiling that reserves before it spends</a:t>
            </a:r>
            <a:endParaRPr lang="en-US" sz="1400" dirty="0"/>
          </a:p>
          <a:p>
            <a:pPr algn="l" marL="213360" indent="-175768">
              <a:lnSpc>
                <a:spcPts val="2030"/>
              </a:lnSpc>
              <a:buSzPct val="100000"/>
              <a:buChar char="•"/>
            </a:pPr>
            <a:r>
              <a:rPr lang="en-US" sz="1400" dirty="0">
                <a:solidFill>
                  <a:srgbClr val="3E4C57"/>
                </a:solidFill>
                <a:latin typeface="IBM Plex Sans" pitchFamily="34" charset="0"/>
                <a:ea typeface="IBM Plex Sans" pitchFamily="34" charset="-122"/>
                <a:cs typeface="IBM Plex Sans" pitchFamily="34" charset="-120"/>
              </a:rPr>
              <a:t>a ruff gate: a second check by code</a:t>
            </a:r>
            <a:endParaRPr lang="en-US" sz="1400" dirty="0"/>
          </a:p>
          <a:p>
            <a:pPr algn="l" marL="213360" indent="-175768">
              <a:lnSpc>
                <a:spcPts val="2030"/>
              </a:lnSpc>
              <a:buSzPct val="100000"/>
              <a:buChar char="•"/>
            </a:pPr>
            <a:r>
              <a:rPr lang="en-US" sz="1400" dirty="0">
                <a:solidFill>
                  <a:srgbClr val="3E4C57"/>
                </a:solidFill>
                <a:latin typeface="IBM Plex Sans" pitchFamily="34" charset="0"/>
                <a:ea typeface="IBM Plex Sans" pitchFamily="34" charset="-122"/>
                <a:cs typeface="IBM Plex Sans" pitchFamily="34" charset="-120"/>
              </a:rPr>
              <a:t>--verify: a second opinion on lane findings</a:t>
            </a:r>
            <a:endParaRPr lang="en-US" sz="1400" dirty="0"/>
          </a:p>
          <a:p>
            <a:pPr algn="l" marL="213360" indent="-175768">
              <a:lnSpc>
                <a:spcPts val="2030"/>
              </a:lnSpc>
              <a:buSzPct val="100000"/>
              <a:buChar char="•"/>
            </a:pPr>
            <a:r>
              <a:rPr lang="en-US" sz="1400" dirty="0">
                <a:solidFill>
                  <a:srgbClr val="3E4C57"/>
                </a:solidFill>
                <a:latin typeface="IBM Plex Sans" pitchFamily="34" charset="0"/>
                <a:ea typeface="IBM Plex Sans" pitchFamily="34" charset="-122"/>
                <a:cs typeface="IBM Plex Sans" pitchFamily="34" charset="-120"/>
              </a:rPr>
              <a:t>each file's blast radius, from the import graph</a:t>
            </a:r>
            <a:endParaRPr lang="en-US" sz="1400" dirty="0"/>
          </a:p>
          <a:p>
            <a:pPr algn="l" marL="213360" indent="-175768">
              <a:lnSpc>
                <a:spcPts val="2030"/>
              </a:lnSpc>
              <a:buSzPct val="100000"/>
              <a:buChar char="•"/>
            </a:pPr>
            <a:r>
              <a:rPr lang="en-US" sz="1400" dirty="0">
                <a:solidFill>
                  <a:srgbClr val="3E4C57"/>
                </a:solidFill>
                <a:latin typeface="IBM Plex Sans" pitchFamily="34" charset="0"/>
                <a:ea typeface="IBM Plex Sans" pitchFamily="34" charset="-122"/>
                <a:cs typeface="IBM Plex Sans" pitchFamily="34" charset="-120"/>
              </a:rPr>
              <a:t>a project's own rules, chosen by profile</a:t>
            </a:r>
            <a:endParaRPr lang="en-US" sz="1400" dirty="0"/>
          </a:p>
        </p:txBody>
      </p:sp>
      <p:sp>
        <p:nvSpPr>
          <p:cNvPr id="27" name="Text 25"/>
          <p:cNvSpPr/>
          <p:nvPr/>
        </p:nvSpPr>
        <p:spPr>
          <a:xfrm>
            <a:off x="6426200" y="3544391"/>
            <a:ext cx="4953000" cy="1876822"/>
          </a:xfrm>
          <a:prstGeom prst="roundRect">
            <a:avLst>
              <a:gd name="adj" fmla="val 5413"/>
            </a:avLst>
          </a:prstGeom>
          <a:solidFill>
            <a:srgbClr val="10181D"/>
          </a:solidFill>
          <a:ln/>
        </p:spPr>
        <p:txBody>
          <a:bodyPr wrap="none" lIns="173442" tIns="173442" rIns="37044" bIns="148042" rtlCol="0" anchor="t">
            <a:normAutofit/>
          </a:bodyPr>
          <a:lstStyle/>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uv run pytest -q tests/test_layering.py</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uv run python -m phase_7_hardened.review \</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    --head feature/payments --verify</a:t>
            </a:r>
            <a:endParaRPr lang="en-US" sz="1300" dirty="0"/>
          </a:p>
          <a:p>
            <a:pPr algn="l" indent="0" marL="0">
              <a:lnSpc>
                <a:spcPts val="1950"/>
              </a:lnSpc>
              <a:buNone/>
            </a:pPr>
            <a:r>
              <a:rPr lang="en-US" sz="1300" dirty="0">
                <a:solidFill>
                  <a:srgbClr val="8A9BA4"/>
                </a:solidFill>
                <a:latin typeface="IBM Plex Mono" pitchFamily="49" charset="0"/>
                <a:ea typeface="IBM Plex Mono" pitchFamily="49" charset="-122"/>
                <a:cs typeface="IBM Plex Mono" pitchFamily="49" charset="-120"/>
              </a:rPr>
              <a:t># then the same with --max-tokens 2000,</a:t>
            </a:r>
            <a:endParaRPr lang="en-US" sz="1300" dirty="0"/>
          </a:p>
          <a:p>
            <a:pPr algn="l" indent="0" marL="0">
              <a:lnSpc>
                <a:spcPts val="1950"/>
              </a:lnSpc>
              <a:buNone/>
            </a:pPr>
            <a:r>
              <a:rPr lang="en-US" sz="1300" dirty="0">
                <a:solidFill>
                  <a:srgbClr val="8A9BA4"/>
                </a:solidFill>
                <a:latin typeface="IBM Plex Mono" pitchFamily="49" charset="0"/>
                <a:ea typeface="IBM Plex Mono" pitchFamily="49" charset="-122"/>
                <a:cs typeface="IBM Plex Mono" pitchFamily="49" charset="-120"/>
              </a:rPr>
              <a:t># and with --profile gates-only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PHASE 7 · YOUR TEAM'S RULES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A rule is a class, a profile a list</a:t>
            </a:r>
            <a:endParaRPr lang="en-US" sz="3600" dirty="0"/>
          </a:p>
        </p:txBody>
      </p:sp>
      <p:sp>
        <p:nvSpPr>
          <p:cNvPr id="4" name="Text 2"/>
          <p:cNvSpPr/>
          <p:nvPr/>
        </p:nvSpPr>
        <p:spPr>
          <a:xfrm>
            <a:off x="812800" y="1884611"/>
            <a:ext cx="5715000" cy="2635250"/>
          </a:xfrm>
          <a:prstGeom prst="roundRect">
            <a:avLst>
              <a:gd name="adj" fmla="val 3855"/>
            </a:avLst>
          </a:prstGeom>
          <a:solidFill>
            <a:srgbClr val="10181D"/>
          </a:solidFill>
          <a:ln/>
        </p:spPr>
        <p:txBody>
          <a:bodyPr wrap="none" lIns="224242" tIns="173442" rIns="68032" bIns="148042" rtlCol="0" anchor="t">
            <a:normAutofit/>
          </a:bodyPr>
          <a:lstStyle/>
          <a:p>
            <a:pPr algn="l" indent="0" marL="0">
              <a:lnSpc>
                <a:spcPts val="1950"/>
              </a:lnSpc>
              <a:buNone/>
            </a:pPr>
            <a:r>
              <a:rPr lang="en-US" sz="1300" dirty="0">
                <a:solidFill>
                  <a:srgbClr val="8A9BA4"/>
                </a:solidFill>
                <a:latin typeface="IBM Plex Mono" pitchFamily="49" charset="0"/>
                <a:ea typeface="IBM Plex Mono" pitchFamily="49" charset="-122"/>
                <a:cs typeface="IBM Plex Mono" pitchFamily="49" charset="-120"/>
              </a:rPr>
              <a:t># rules/no_print.py, abridged</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class NoPrint(</a:t>
            </a:r>
            <a:r>
              <a:rPr lang="en-US" sz="1300" dirty="0">
                <a:solidFill>
                  <a:srgbClr val="5CC2A0"/>
                </a:solidFill>
                <a:latin typeface="IBM Plex Mono" pitchFamily="49" charset="0"/>
                <a:ea typeface="IBM Plex Mono" pitchFamily="49" charset="-122"/>
                <a:cs typeface="IBM Plex Mono" pitchFamily="49" charset="-120"/>
              </a:rPr>
              <a:t>Rule</a:t>
            </a:r>
            <a:r>
              <a:rPr lang="en-US" sz="1300" dirty="0">
                <a:solidFill>
                  <a:srgbClr val="DCE6EA"/>
                </a:solidFill>
                <a:latin typeface="IBM Plex Mono" pitchFamily="49" charset="0"/>
                <a:ea typeface="IBM Plex Mono" pitchFamily="49" charset="-122"/>
                <a:cs typeface="IBM Plex Mono" pitchFamily="49" charset="-120"/>
              </a:rPr>
              <a:t>):</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    id = "no-print"</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    severity = "minor"</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    title = "print() left in library code"</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    fix = "Use the logger."</a:t>
            </a:r>
            <a:endParaRPr lang="en-US" sz="1300" dirty="0"/>
          </a:p>
          <a:p>
            <a:pPr algn="l" indent="0" marL="0">
              <a:lnSpc>
                <a:spcPts val="1950"/>
              </a:lnSpc>
              <a:buNone/>
            </a:pP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    def </a:t>
            </a:r>
            <a:r>
              <a:rPr lang="en-US" sz="1300" dirty="0">
                <a:solidFill>
                  <a:srgbClr val="5CC2A0"/>
                </a:solidFill>
                <a:latin typeface="IBM Plex Mono" pitchFamily="49" charset="0"/>
                <a:ea typeface="IBM Plex Mono" pitchFamily="49" charset="-122"/>
                <a:cs typeface="IBM Plex Mono" pitchFamily="49" charset="-120"/>
              </a:rPr>
              <a:t>check</a:t>
            </a:r>
            <a:r>
              <a:rPr lang="en-US" sz="1300" dirty="0">
                <a:solidFill>
                  <a:srgbClr val="DCE6EA"/>
                </a:solidFill>
                <a:latin typeface="IBM Plex Mono" pitchFamily="49" charset="0"/>
                <a:ea typeface="IBM Plex Mono" pitchFamily="49" charset="-122"/>
                <a:cs typeface="IBM Plex Mono" pitchFamily="49" charset="-120"/>
              </a:rPr>
              <a:t>(self, path: str, line: str) -&gt; bool:</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        ...  </a:t>
            </a:r>
            <a:r>
              <a:rPr lang="en-US" sz="1300" dirty="0">
                <a:solidFill>
                  <a:srgbClr val="8A9BA4"/>
                </a:solidFill>
                <a:latin typeface="IBM Plex Mono" pitchFamily="49" charset="0"/>
                <a:ea typeface="IBM Plex Mono" pitchFamily="49" charset="-122"/>
                <a:cs typeface="IBM Plex Mono" pitchFamily="49" charset="-120"/>
              </a:rPr>
              <a:t># a print token, then "("</a:t>
            </a:r>
            <a:endParaRPr lang="en-US" sz="1300" dirty="0"/>
          </a:p>
        </p:txBody>
      </p:sp>
      <p:sp>
        <p:nvSpPr>
          <p:cNvPr id="5" name="Text 3"/>
          <p:cNvSpPr/>
          <p:nvPr/>
        </p:nvSpPr>
        <p:spPr>
          <a:xfrm>
            <a:off x="812800" y="4646861"/>
            <a:ext cx="5715000" cy="1149350"/>
          </a:xfrm>
          <a:prstGeom prst="roundRect">
            <a:avLst>
              <a:gd name="adj" fmla="val 8840"/>
            </a:avLst>
          </a:prstGeom>
          <a:solidFill>
            <a:srgbClr val="10181D"/>
          </a:solidFill>
          <a:ln/>
        </p:spPr>
        <p:txBody>
          <a:bodyPr wrap="none" lIns="224242" tIns="173442" rIns="68032" bIns="148042" rtlCol="0" anchor="t">
            <a:normAutofit/>
          </a:bodyPr>
          <a:lstStyle/>
          <a:p>
            <a:pPr algn="l" indent="0" marL="0">
              <a:lnSpc>
                <a:spcPts val="1950"/>
              </a:lnSpc>
              <a:buNone/>
            </a:pPr>
            <a:r>
              <a:rPr lang="en-US" sz="1300" dirty="0">
                <a:solidFill>
                  <a:srgbClr val="8A9BA4"/>
                </a:solidFill>
                <a:latin typeface="IBM Plex Mono" pitchFamily="49" charset="0"/>
                <a:ea typeface="IBM Plex Mono" pitchFamily="49" charset="-122"/>
                <a:cs typeface="IBM Plex Mono" pitchFamily="49" charset="-120"/>
              </a:rPr>
              <a:t># config.toml, under [profiles], shortened</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gates-only = ["secrets", "lint",</a:t>
            </a:r>
            <a:endParaRPr lang="en-US" sz="1300" dirty="0"/>
          </a:p>
          <a:p>
            <a:pPr algn="l" indent="0" marL="0">
              <a:lnSpc>
                <a:spcPts val="1950"/>
              </a:lnSpc>
              <a:buNone/>
            </a:pPr>
            <a:r>
              <a:rPr lang="en-US" sz="1300" dirty="0">
                <a:solidFill>
                  <a:srgbClr val="DCE6EA"/>
                </a:solidFill>
                <a:latin typeface="IBM Plex Mono" pitchFamily="49" charset="0"/>
                <a:ea typeface="IBM Plex Mono" pitchFamily="49" charset="-122"/>
                <a:cs typeface="IBM Plex Mono" pitchFamily="49" charset="-120"/>
              </a:rPr>
              <a:t>              "no-print", "money-in-cents", ...]</a:t>
            </a:r>
            <a:endParaRPr lang="en-US" sz="1300" dirty="0"/>
          </a:p>
        </p:txBody>
      </p:sp>
      <p:sp>
        <p:nvSpPr>
          <p:cNvPr id="6" name="Text 4"/>
          <p:cNvSpPr/>
          <p:nvPr/>
        </p:nvSpPr>
        <p:spPr>
          <a:xfrm>
            <a:off x="6883400" y="1884611"/>
            <a:ext cx="4630674" cy="2265412"/>
          </a:xfrm>
          <a:prstGeom prst="rect">
            <a:avLst/>
          </a:prstGeom>
          <a:noFill/>
          <a:ln/>
        </p:spPr>
        <p:txBody>
          <a:bodyPr wrap="square" lIns="0" tIns="0" rIns="0" bIns="0" rtlCol="0" anchor="t">
            <a:normAutofit/>
          </a:bodyPr>
          <a:lstStyle/>
          <a:p>
            <a:pPr algn="l" marL="213360" indent="-175768">
              <a:lnSpc>
                <a:spcPts val="1960"/>
              </a:lnSpc>
              <a:buSzPct val="100000"/>
              <a:buChar char="•"/>
            </a:pPr>
            <a:r>
              <a:rPr lang="en-US" sz="1400" dirty="0">
                <a:solidFill>
                  <a:srgbClr val="3E4C57"/>
                </a:solidFill>
                <a:latin typeface="IBM Plex Sans" pitchFamily="34" charset="0"/>
                <a:ea typeface="IBM Plex Sans" pitchFamily="34" charset="-122"/>
                <a:cs typeface="IBM Plex Sans" pitchFamily="34" charset="-120"/>
              </a:rPr>
              <a:t>Drop a file in rules/ and it runs, on every line the branch added, or on the tree at the head.</a:t>
            </a:r>
            <a:endParaRPr lang="en-US" sz="1400" dirty="0"/>
          </a:p>
          <a:p>
            <a:pPr algn="l" marL="213360" indent="-175768">
              <a:lnSpc>
                <a:spcPts val="1960"/>
              </a:lnSpc>
              <a:buSzPct val="100000"/>
              <a:buChar char="•"/>
            </a:pPr>
            <a:r>
              <a:rPr lang="en-US" sz="1400" dirty="0">
                <a:solidFill>
                  <a:srgbClr val="3E4C57"/>
                </a:solidFill>
                <a:latin typeface="IBM Plex Sans" pitchFamily="34" charset="0"/>
                <a:ea typeface="IBM Plex Sans" pitchFamily="34" charset="-122"/>
                <a:cs typeface="IBM Plex Sans" pitchFamily="34" charset="-120"/>
              </a:rPr>
              <a:t>A profile lists check ids: your rules plus secrets, lint and the three lanes.</a:t>
            </a:r>
            <a:endParaRPr lang="en-US" sz="1400" dirty="0"/>
          </a:p>
          <a:p>
            <a:pPr algn="l" marL="213360" indent="-175768">
              <a:lnSpc>
                <a:spcPts val="1960"/>
              </a:lnSpc>
              <a:buSzPct val="100000"/>
              <a:buChar char="•"/>
            </a:pPr>
            <a:r>
              <a:rPr lang="en-US" sz="1400" dirty="0">
                <a:solidFill>
                  <a:srgbClr val="3E4C57"/>
                </a:solidFill>
                <a:latin typeface="IBM Plex Sans" pitchFamily="34" charset="0"/>
                <a:ea typeface="IBM Plex Sans" pitchFamily="34" charset="-122"/>
                <a:cs typeface="IBM Plex Sans" pitchFamily="34" charset="-120"/>
              </a:rPr>
              <a:t>No --profile runs every check. gates-only runs no lane: no model, no key.</a:t>
            </a:r>
            <a:endParaRPr lang="en-US" sz="1400" dirty="0"/>
          </a:p>
          <a:p>
            <a:pPr algn="l" marL="213360" indent="-175768">
              <a:lnSpc>
                <a:spcPts val="1960"/>
              </a:lnSpc>
              <a:buSzPct val="100000"/>
              <a:buChar char="•"/>
            </a:pPr>
            <a:r>
              <a:rPr lang="en-US" sz="1400" dirty="0">
                <a:solidFill>
                  <a:srgbClr val="3E4C57"/>
                </a:solidFill>
                <a:latin typeface="IBM Plex Sans" pitchFamily="34" charset="0"/>
                <a:ea typeface="IBM Plex Sans" pitchFamily="34" charset="-122"/>
                <a:cs typeface="IBM Plex Sans" pitchFamily="34" charset="-120"/>
              </a:rPr>
              <a:t>A rule that will not load, or a broken profile or config, stops the run before it starts (exit 2).</a:t>
            </a:r>
            <a:endParaRPr lang="en-US" sz="1400" dirty="0"/>
          </a:p>
          <a:p>
            <a:pPr algn="l" marL="213360" indent="-175768">
              <a:lnSpc>
                <a:spcPts val="1960"/>
              </a:lnSpc>
              <a:buSzPct val="100000"/>
              <a:buChar char="•"/>
            </a:pPr>
            <a:r>
              <a:rPr lang="en-US" sz="1400" dirty="0">
                <a:solidFill>
                  <a:srgbClr val="3E4C57"/>
                </a:solidFill>
                <a:latin typeface="IBM Plex Sans" pitchFamily="34" charset="0"/>
                <a:ea typeface="IBM Plex Sans" pitchFamily="34" charset="-122"/>
                <a:cs typeface="IBM Plex Sans" pitchFamily="34" charset="-120"/>
              </a:rPr>
              <a:t>Nothing is read from the repository under review.</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TAKEAWAYS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Four rules to take home</a:t>
            </a:r>
            <a:endParaRPr lang="en-US" sz="3600" dirty="0"/>
          </a:p>
        </p:txBody>
      </p:sp>
      <p:sp>
        <p:nvSpPr>
          <p:cNvPr id="4" name="Shape 2"/>
          <p:cNvSpPr/>
          <p:nvPr/>
        </p:nvSpPr>
        <p:spPr>
          <a:xfrm>
            <a:off x="812800" y="1935411"/>
            <a:ext cx="5181600" cy="1352550"/>
          </a:xfrm>
          <a:prstGeom prst="roundRect">
            <a:avLst>
              <a:gd name="adj" fmla="val 7512"/>
            </a:avLst>
          </a:prstGeom>
          <a:solidFill>
            <a:srgbClr val="FBFCFB"/>
          </a:solidFill>
          <a:ln/>
        </p:spPr>
      </p:sp>
      <p:sp>
        <p:nvSpPr>
          <p:cNvPr id="5" name="Text 3"/>
          <p:cNvSpPr/>
          <p:nvPr/>
        </p:nvSpPr>
        <p:spPr>
          <a:xfrm>
            <a:off x="1041400" y="2164011"/>
            <a:ext cx="4866132"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10181D"/>
                </a:solidFill>
                <a:latin typeface="IBM Plex Sans" pitchFamily="34" charset="0"/>
                <a:ea typeface="IBM Plex Sans" pitchFamily="34" charset="-122"/>
                <a:cs typeface="IBM Plex Sans" pitchFamily="34" charset="-120"/>
              </a:rPr>
              <a:t>Grow an agent one layer at a time</a:t>
            </a:r>
            <a:endParaRPr lang="en-US" sz="1800" dirty="0"/>
          </a:p>
        </p:txBody>
      </p:sp>
      <p:sp>
        <p:nvSpPr>
          <p:cNvPr id="6" name="Text 4"/>
          <p:cNvSpPr/>
          <p:nvPr/>
        </p:nvSpPr>
        <p:spPr>
          <a:xfrm>
            <a:off x="1041400" y="2525961"/>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IBM Plex Sans" pitchFamily="34" charset="0"/>
                <a:ea typeface="IBM Plex Sans" pitchFamily="34" charset="-122"/>
                <a:cs typeface="IBM Plex Sans" pitchFamily="34" charset="-120"/>
              </a:rPr>
              <a:t>Each phase is a working folder, and the diff between two folders is one lesson.</a:t>
            </a:r>
            <a:endParaRPr lang="en-US" sz="1500" dirty="0"/>
          </a:p>
        </p:txBody>
      </p:sp>
      <p:sp>
        <p:nvSpPr>
          <p:cNvPr id="7" name="Shape 5"/>
          <p:cNvSpPr/>
          <p:nvPr/>
        </p:nvSpPr>
        <p:spPr>
          <a:xfrm>
            <a:off x="6197600" y="1935411"/>
            <a:ext cx="5181600" cy="1352550"/>
          </a:xfrm>
          <a:prstGeom prst="roundRect">
            <a:avLst>
              <a:gd name="adj" fmla="val 7512"/>
            </a:avLst>
          </a:prstGeom>
          <a:solidFill>
            <a:srgbClr val="FBFCFB"/>
          </a:solidFill>
          <a:ln/>
        </p:spPr>
      </p:sp>
      <p:sp>
        <p:nvSpPr>
          <p:cNvPr id="8" name="Text 6"/>
          <p:cNvSpPr/>
          <p:nvPr/>
        </p:nvSpPr>
        <p:spPr>
          <a:xfrm>
            <a:off x="6426200" y="2164011"/>
            <a:ext cx="4866132"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10181D"/>
                </a:solidFill>
                <a:latin typeface="IBM Plex Sans" pitchFamily="34" charset="0"/>
                <a:ea typeface="IBM Plex Sans" pitchFamily="34" charset="-122"/>
                <a:cs typeface="IBM Plex Sans" pitchFamily="34" charset="-120"/>
              </a:rPr>
              <a:t>Treat what the model picks as untrusted</a:t>
            </a:r>
            <a:endParaRPr lang="en-US" sz="1800" dirty="0"/>
          </a:p>
        </p:txBody>
      </p:sp>
      <p:sp>
        <p:nvSpPr>
          <p:cNvPr id="9" name="Text 7"/>
          <p:cNvSpPr/>
          <p:nvPr/>
        </p:nvSpPr>
        <p:spPr>
          <a:xfrm>
            <a:off x="6426200" y="2525961"/>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IBM Plex Sans" pitchFamily="34" charset="0"/>
                <a:ea typeface="IBM Plex Sans" pitchFamily="34" charset="-122"/>
                <a:cs typeface="IBM Plex Sans" pitchFamily="34" charset="-120"/>
              </a:rPr>
              <a:t>Tools answer with envelopes, guardrails sit in front of them, every string is capped.</a:t>
            </a:r>
            <a:endParaRPr lang="en-US" sz="1500" dirty="0"/>
          </a:p>
        </p:txBody>
      </p:sp>
      <p:sp>
        <p:nvSpPr>
          <p:cNvPr id="10" name="Shape 8"/>
          <p:cNvSpPr/>
          <p:nvPr/>
        </p:nvSpPr>
        <p:spPr>
          <a:xfrm>
            <a:off x="812800" y="3491161"/>
            <a:ext cx="5181600" cy="1352550"/>
          </a:xfrm>
          <a:prstGeom prst="roundRect">
            <a:avLst>
              <a:gd name="adj" fmla="val 7512"/>
            </a:avLst>
          </a:prstGeom>
          <a:solidFill>
            <a:srgbClr val="FBFCFB"/>
          </a:solidFill>
          <a:ln/>
        </p:spPr>
      </p:sp>
      <p:sp>
        <p:nvSpPr>
          <p:cNvPr id="11" name="Text 9"/>
          <p:cNvSpPr/>
          <p:nvPr/>
        </p:nvSpPr>
        <p:spPr>
          <a:xfrm>
            <a:off x="1041400" y="3719761"/>
            <a:ext cx="4866132"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10181D"/>
                </a:solidFill>
                <a:latin typeface="IBM Plex Sans" pitchFamily="34" charset="0"/>
                <a:ea typeface="IBM Plex Sans" pitchFamily="34" charset="-122"/>
                <a:cs typeface="IBM Plex Sans" pitchFamily="34" charset="-120"/>
              </a:rPr>
              <a:t>Give the shape to code</a:t>
            </a:r>
            <a:endParaRPr lang="en-US" sz="1800" dirty="0"/>
          </a:p>
        </p:txBody>
      </p:sp>
      <p:sp>
        <p:nvSpPr>
          <p:cNvPr id="12" name="Text 10"/>
          <p:cNvSpPr/>
          <p:nvPr/>
        </p:nvSpPr>
        <p:spPr>
          <a:xfrm>
            <a:off x="1041400" y="4081711"/>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IBM Plex Sans" pitchFamily="34" charset="0"/>
                <a:ea typeface="IBM Plex Sans" pitchFamily="34" charset="-122"/>
                <a:cs typeface="IBM Plex Sans" pitchFamily="34" charset="-120"/>
              </a:rPr>
              <a:t>Workflow edges, JoinNode and plugins decide the flow. Prompts only fill it in.</a:t>
            </a:r>
            <a:endParaRPr lang="en-US" sz="1500" dirty="0"/>
          </a:p>
        </p:txBody>
      </p:sp>
      <p:sp>
        <p:nvSpPr>
          <p:cNvPr id="13" name="Shape 11"/>
          <p:cNvSpPr/>
          <p:nvPr/>
        </p:nvSpPr>
        <p:spPr>
          <a:xfrm>
            <a:off x="6197600" y="3491161"/>
            <a:ext cx="5181600" cy="1352550"/>
          </a:xfrm>
          <a:prstGeom prst="roundRect">
            <a:avLst>
              <a:gd name="adj" fmla="val 7512"/>
            </a:avLst>
          </a:prstGeom>
          <a:solidFill>
            <a:srgbClr val="FBFCFB"/>
          </a:solidFill>
          <a:ln/>
        </p:spPr>
      </p:sp>
      <p:sp>
        <p:nvSpPr>
          <p:cNvPr id="14" name="Text 12"/>
          <p:cNvSpPr/>
          <p:nvPr/>
        </p:nvSpPr>
        <p:spPr>
          <a:xfrm>
            <a:off x="6426200" y="3719761"/>
            <a:ext cx="4866132"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10181D"/>
                </a:solidFill>
                <a:latin typeface="IBM Plex Sans" pitchFamily="34" charset="0"/>
                <a:ea typeface="IBM Plex Sans" pitchFamily="34" charset="-122"/>
                <a:cs typeface="IBM Plex Sans" pitchFamily="34" charset="-120"/>
              </a:rPr>
              <a:t>Decide in code, name every hole</a:t>
            </a:r>
            <a:endParaRPr lang="en-US" sz="1800" dirty="0"/>
          </a:p>
        </p:txBody>
      </p:sp>
      <p:sp>
        <p:nvSpPr>
          <p:cNvPr id="15" name="Text 13"/>
          <p:cNvSpPr/>
          <p:nvPr/>
        </p:nvSpPr>
        <p:spPr>
          <a:xfrm>
            <a:off x="6426200" y="4081711"/>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IBM Plex Sans" pitchFamily="34" charset="0"/>
                <a:ea typeface="IBM Plex Sans" pitchFamily="34" charset="-122"/>
                <a:cs typeface="IBM Plex Sans" pitchFamily="34" charset="-120"/>
              </a:rPr>
              <a:t>Models judge, code decides, and “did not look” never reads as “found nothing”.</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18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CC2A0"/>
                </a:solidFill>
                <a:latin typeface="IBM Plex Mono" pitchFamily="49" charset="0"/>
                <a:ea typeface="IBM Plex Mono" pitchFamily="49" charset="-122"/>
                <a:cs typeface="IBM Plex Mono" pitchFamily="49" charset="-120"/>
              </a:rPr>
              <a:t>Q&amp;A · 1:03</a:t>
            </a:r>
            <a:endParaRPr lang="en-US" sz="1200" dirty="0"/>
          </a:p>
        </p:txBody>
      </p:sp>
      <p:sp>
        <p:nvSpPr>
          <p:cNvPr id="3" name="Text 1"/>
          <p:cNvSpPr/>
          <p:nvPr>
            <p:ph type="title"/>
          </p:nvPr>
        </p:nvSpPr>
        <p:spPr>
          <a:xfrm>
            <a:off x="812800" y="1333500"/>
            <a:ext cx="510159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E6EDF0"/>
                </a:solidFill>
                <a:latin typeface="Bricolage Grotesque" pitchFamily="34" charset="0"/>
                <a:ea typeface="Bricolage Grotesque" pitchFamily="34" charset="-122"/>
                <a:cs typeface="Bricolage Grotesque" pitchFamily="34" charset="-120"/>
              </a:rPr>
              <a:t>Questions?</a:t>
            </a:r>
            <a:endParaRPr lang="en-US" sz="6000" dirty="0"/>
          </a:p>
        </p:txBody>
      </p:sp>
      <p:sp>
        <p:nvSpPr>
          <p:cNvPr id="4" name="Text 2"/>
          <p:cNvSpPr/>
          <p:nvPr/>
        </p:nvSpPr>
        <p:spPr>
          <a:xfrm>
            <a:off x="812800" y="5149850"/>
            <a:ext cx="51015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DF0"/>
                </a:solidFill>
                <a:latin typeface="IBM Plex Sans" pitchFamily="34" charset="0"/>
                <a:ea typeface="IBM Plex Sans" pitchFamily="34" charset="-122"/>
                <a:cs typeface="IBM Plex Sans" pitchFamily="34" charset="-120"/>
              </a:rPr>
              <a:t>Repository: [repository link]</a:t>
            </a:r>
            <a:endParaRPr lang="en-US" sz="1500" dirty="0"/>
          </a:p>
        </p:txBody>
      </p:sp>
      <p:sp>
        <p:nvSpPr>
          <p:cNvPr id="5" name="Text 3"/>
          <p:cNvSpPr/>
          <p:nvPr/>
        </p:nvSpPr>
        <p:spPr>
          <a:xfrm>
            <a:off x="812800" y="5518150"/>
            <a:ext cx="51015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7CF"/>
                </a:solidFill>
                <a:latin typeface="IBM Plex Sans" pitchFamily="34" charset="0"/>
                <a:ea typeface="IBM Plex Sans" pitchFamily="34" charset="-122"/>
                <a:cs typeface="IBM Plex Sans" pitchFamily="34" charset="-120"/>
              </a:rPr>
              <a:t>The recording and its chapter times will be in the meeting chat.</a:t>
            </a:r>
            <a:endParaRPr lang="en-US" sz="1500" dirty="0"/>
          </a:p>
        </p:txBody>
      </p:sp>
      <p:sp>
        <p:nvSpPr>
          <p:cNvPr id="6" name="Shape 4"/>
          <p:cNvSpPr/>
          <p:nvPr/>
        </p:nvSpPr>
        <p:spPr>
          <a:xfrm>
            <a:off x="6172200" y="1333500"/>
            <a:ext cx="5207000" cy="4718050"/>
          </a:xfrm>
          <a:prstGeom prst="roundRect">
            <a:avLst>
              <a:gd name="adj" fmla="val 2153"/>
            </a:avLst>
          </a:prstGeom>
          <a:solidFill>
            <a:srgbClr val="1A252C"/>
          </a:solidFill>
          <a:ln/>
        </p:spPr>
      </p:sp>
      <p:sp>
        <p:nvSpPr>
          <p:cNvPr id="7" name="Text 5"/>
          <p:cNvSpPr/>
          <p:nvPr/>
        </p:nvSpPr>
        <p:spPr>
          <a:xfrm>
            <a:off x="6477000" y="1638300"/>
            <a:ext cx="473532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CC2A0"/>
                </a:solidFill>
                <a:latin typeface="IBM Plex Mono" pitchFamily="49" charset="0"/>
                <a:ea typeface="IBM Plex Mono" pitchFamily="49" charset="-122"/>
                <a:cs typeface="IBM Plex Mono" pitchFamily="49" charset="-120"/>
              </a:rPr>
              <a:t>TRY IT YOURSELF</a:t>
            </a:r>
            <a:endParaRPr lang="en-US" sz="1200" dirty="0"/>
          </a:p>
        </p:txBody>
      </p:sp>
      <p:sp>
        <p:nvSpPr>
          <p:cNvPr id="8" name="Text 6"/>
          <p:cNvSpPr/>
          <p:nvPr/>
        </p:nvSpPr>
        <p:spPr>
          <a:xfrm>
            <a:off x="6477000" y="2029420"/>
            <a:ext cx="47353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IBM Plex Sans" pitchFamily="34" charset="0"/>
                <a:ea typeface="IBM Plex Sans" pitchFamily="34" charset="-122"/>
                <a:cs typeface="IBM Plex Sans" pitchFamily="34" charset="-120"/>
              </a:rPr>
              <a:t>1 · Install</a:t>
            </a:r>
            <a:endParaRPr lang="en-US" sz="1600" dirty="0"/>
          </a:p>
        </p:txBody>
      </p:sp>
      <p:sp>
        <p:nvSpPr>
          <p:cNvPr id="9" name="Text 7"/>
          <p:cNvSpPr/>
          <p:nvPr/>
        </p:nvSpPr>
        <p:spPr>
          <a:xfrm>
            <a:off x="6477000" y="2334220"/>
            <a:ext cx="473532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C2A0"/>
                </a:solidFill>
                <a:latin typeface="IBM Plex Sans" pitchFamily="34" charset="0"/>
                <a:ea typeface="IBM Plex Sans" pitchFamily="34" charset="-122"/>
                <a:cs typeface="IBM Plex Sans" pitchFamily="34" charset="-120"/>
              </a:rPr>
              <a:t>uv sync</a:t>
            </a:r>
            <a:r>
              <a:rPr lang="en-US" sz="1300" dirty="0">
                <a:solidFill>
                  <a:srgbClr val="B9C7CF"/>
                </a:solidFill>
                <a:latin typeface="IBM Plex Sans" pitchFamily="34" charset="0"/>
                <a:ea typeface="IBM Plex Sans" pitchFamily="34" charset="-122"/>
                <a:cs typeface="IBM Plex Sans" pitchFamily="34" charset="-120"/>
              </a:rPr>
              <a:t>, then copy .env.example to .env</a:t>
            </a:r>
            <a:endParaRPr lang="en-US" sz="1300" dirty="0"/>
          </a:p>
        </p:txBody>
      </p:sp>
      <p:sp>
        <p:nvSpPr>
          <p:cNvPr id="10" name="Text 8"/>
          <p:cNvSpPr/>
          <p:nvPr/>
        </p:nvSpPr>
        <p:spPr>
          <a:xfrm>
            <a:off x="6477000" y="2743150"/>
            <a:ext cx="47353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IBM Plex Sans" pitchFamily="34" charset="0"/>
                <a:ea typeface="IBM Plex Sans" pitchFamily="34" charset="-122"/>
                <a:cs typeface="IBM Plex Sans" pitchFamily="34" charset="-120"/>
              </a:rPr>
              <a:t>2 · Log in to Copilot, once</a:t>
            </a:r>
            <a:endParaRPr lang="en-US" sz="1600" dirty="0"/>
          </a:p>
        </p:txBody>
      </p:sp>
      <p:sp>
        <p:nvSpPr>
          <p:cNvPr id="11" name="Text 9"/>
          <p:cNvSpPr/>
          <p:nvPr/>
        </p:nvSpPr>
        <p:spPr>
          <a:xfrm>
            <a:off x="6477000" y="3047950"/>
            <a:ext cx="473532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C2A0"/>
                </a:solidFill>
                <a:latin typeface="IBM Plex Mono" pitchFamily="49" charset="0"/>
                <a:ea typeface="IBM Plex Mono" pitchFamily="49" charset="-122"/>
                <a:cs typeface="IBM Plex Mono" pitchFamily="49" charset="-120"/>
              </a:rPr>
              <a:t>uv run python scripts/copilot_login.py</a:t>
            </a:r>
            <a:endParaRPr lang="en-US" sz="1300" dirty="0"/>
          </a:p>
        </p:txBody>
      </p:sp>
      <p:sp>
        <p:nvSpPr>
          <p:cNvPr id="12" name="Text 10"/>
          <p:cNvSpPr/>
          <p:nvPr/>
        </p:nvSpPr>
        <p:spPr>
          <a:xfrm>
            <a:off x="6477000" y="3456880"/>
            <a:ext cx="47353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IBM Plex Sans" pitchFamily="34" charset="0"/>
                <a:ea typeface="IBM Plex Sans" pitchFamily="34" charset="-122"/>
                <a:cs typeface="IBM Plex Sans" pitchFamily="34" charset="-120"/>
              </a:rPr>
              <a:t>3 · Build the demo repository</a:t>
            </a:r>
            <a:endParaRPr lang="en-US" sz="1600" dirty="0"/>
          </a:p>
        </p:txBody>
      </p:sp>
      <p:sp>
        <p:nvSpPr>
          <p:cNvPr id="13" name="Text 11"/>
          <p:cNvSpPr/>
          <p:nvPr/>
        </p:nvSpPr>
        <p:spPr>
          <a:xfrm>
            <a:off x="6477000" y="3761680"/>
            <a:ext cx="473532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C2A0"/>
                </a:solidFill>
                <a:latin typeface="IBM Plex Mono" pitchFamily="49" charset="0"/>
                <a:ea typeface="IBM Plex Mono" pitchFamily="49" charset="-122"/>
                <a:cs typeface="IBM Plex Mono" pitchFamily="49" charset="-120"/>
              </a:rPr>
              <a:t>uv run python scripts/make_demo_repo.py</a:t>
            </a:r>
            <a:endParaRPr lang="en-US" sz="1300" dirty="0"/>
          </a:p>
        </p:txBody>
      </p:sp>
      <p:sp>
        <p:nvSpPr>
          <p:cNvPr id="14" name="Text 12"/>
          <p:cNvSpPr/>
          <p:nvPr/>
        </p:nvSpPr>
        <p:spPr>
          <a:xfrm>
            <a:off x="6477000" y="4170611"/>
            <a:ext cx="47353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IBM Plex Sans" pitchFamily="34" charset="0"/>
                <a:ea typeface="IBM Plex Sans" pitchFamily="34" charset="-122"/>
                <a:cs typeface="IBM Plex Sans" pitchFamily="34" charset="-120"/>
              </a:rPr>
              <a:t>4 · Open every phase in the browser</a:t>
            </a:r>
            <a:endParaRPr lang="en-US" sz="1600" dirty="0"/>
          </a:p>
        </p:txBody>
      </p:sp>
      <p:sp>
        <p:nvSpPr>
          <p:cNvPr id="15" name="Text 13"/>
          <p:cNvSpPr/>
          <p:nvPr/>
        </p:nvSpPr>
        <p:spPr>
          <a:xfrm>
            <a:off x="6477000" y="4475411"/>
            <a:ext cx="473532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C2A0"/>
                </a:solidFill>
                <a:latin typeface="IBM Plex Mono" pitchFamily="49" charset="0"/>
                <a:ea typeface="IBM Plex Mono" pitchFamily="49" charset="-122"/>
                <a:cs typeface="IBM Plex Mono" pitchFamily="49" charset="-120"/>
              </a:rPr>
              <a:t>uv run adk web .</a:t>
            </a:r>
            <a:endParaRPr lang="en-US" sz="1300" dirty="0"/>
          </a:p>
        </p:txBody>
      </p:sp>
      <p:sp>
        <p:nvSpPr>
          <p:cNvPr id="16" name="Text 14"/>
          <p:cNvSpPr/>
          <p:nvPr/>
        </p:nvSpPr>
        <p:spPr>
          <a:xfrm>
            <a:off x="6477000" y="5497860"/>
            <a:ext cx="473532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DF0"/>
                </a:solidFill>
                <a:latin typeface="IBM Plex Sans" pitchFamily="34" charset="0"/>
                <a:ea typeface="IBM Plex Sans" pitchFamily="34" charset="-122"/>
                <a:cs typeface="IBM Plex Sans" pitchFamily="34" charset="-120"/>
              </a:rPr>
              <a:t>Feedback: [feedback form link]</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0181D"/>
        </a:solidFill>
      </p:bgPr>
    </p:bg>
    <p:spTree>
      <p:nvGrpSpPr>
        <p:cNvPr id="1" name=""/>
        <p:cNvGrpSpPr/>
        <p:nvPr/>
      </p:nvGrpSpPr>
      <p:grpSpPr>
        <a:xfrm>
          <a:off x="0" y="0"/>
          <a:ext cx="0" cy="0"/>
          <a:chOff x="0" y="0"/>
          <a:chExt cx="0" cy="0"/>
        </a:xfrm>
      </p:grpSpPr>
      <p:sp>
        <p:nvSpPr>
          <p:cNvPr id="2" name="Text 0"/>
          <p:cNvSpPr/>
          <p:nvPr/>
        </p:nvSpPr>
        <p:spPr>
          <a:xfrm>
            <a:off x="812800" y="243973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CC2A0"/>
                </a:solidFill>
                <a:latin typeface="IBM Plex Mono" pitchFamily="49" charset="0"/>
                <a:ea typeface="IBM Plex Mono" pitchFamily="49" charset="-122"/>
                <a:cs typeface="IBM Plex Mono" pitchFamily="49" charset="-120"/>
              </a:rPr>
              <a:t>APPENDIX</a:t>
            </a:r>
            <a:endParaRPr lang="en-US" sz="1200" dirty="0"/>
          </a:p>
        </p:txBody>
      </p:sp>
      <p:sp>
        <p:nvSpPr>
          <p:cNvPr id="3" name="Text 1"/>
          <p:cNvSpPr/>
          <p:nvPr>
            <p:ph type="title"/>
          </p:nvPr>
        </p:nvSpPr>
        <p:spPr>
          <a:xfrm>
            <a:off x="812800" y="290706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E6EDF0"/>
                </a:solidFill>
                <a:latin typeface="Bricolage Grotesque" pitchFamily="34" charset="0"/>
                <a:ea typeface="Bricolage Grotesque" pitchFamily="34" charset="-122"/>
                <a:cs typeface="Bricolage Grotesque" pitchFamily="34" charset="-120"/>
              </a:rPr>
              <a:t>Backup: what each demo shows</a:t>
            </a:r>
            <a:endParaRPr lang="en-US" sz="4800" dirty="0"/>
          </a:p>
        </p:txBody>
      </p:sp>
      <p:sp>
        <p:nvSpPr>
          <p:cNvPr id="4" name="Text 2"/>
          <p:cNvSpPr/>
          <p:nvPr/>
        </p:nvSpPr>
        <p:spPr>
          <a:xfrm>
            <a:off x="812800" y="3801120"/>
            <a:ext cx="91567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9C7CF"/>
                </a:solidFill>
                <a:latin typeface="IBM Plex Sans" pitchFamily="34" charset="0"/>
                <a:ea typeface="IBM Plex Sans" pitchFamily="34" charset="-122"/>
                <a:cs typeface="IBM Plex Sans" pitchFamily="34" charset="-120"/>
              </a:rPr>
              <a:t>One slide per demo, captured at rehearsal. Jump here when a live call is slow or fails, then carry on.</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BACKUP · PHASE 1</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Hello world</a:t>
            </a:r>
            <a:endParaRPr lang="en-US" sz="3600" dirty="0"/>
          </a:p>
        </p:txBody>
      </p:sp>
      <p:sp>
        <p:nvSpPr>
          <p:cNvPr id="4" name="Text 2"/>
          <p:cNvSpPr/>
          <p:nvPr/>
        </p:nvSpPr>
        <p:spPr>
          <a:xfrm>
            <a:off x="812800" y="1884611"/>
            <a:ext cx="6959600" cy="4160589"/>
          </a:xfrm>
          <a:prstGeom prst="roundRect">
            <a:avLst>
              <a:gd name="adj" fmla="val 2442"/>
            </a:avLst>
          </a:prstGeom>
          <a:solidFill>
            <a:srgbClr val="10181D"/>
          </a:solidFill>
          <a:ln/>
        </p:spPr>
        <p:txBody>
          <a:bodyPr wrap="none" lIns="173442" tIns="173442" rIns="0" bIns="148042" rtlCol="0" anchor="t">
            <a:normAutofit/>
          </a:bodyPr>
          <a:lstStyle/>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uv run python scripts/ask.py phase_1_hello_world hello</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[tokens] in=106 out=45</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Hello! To review a git branch, I would need access to the</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repository and the name of the branch you'd like reviewed.</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I don't have any tools or access yet, so I can't start the</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review process at this time.</a:t>
            </a:r>
            <a:endParaRPr lang="en-US" sz="1200" dirty="0"/>
          </a:p>
        </p:txBody>
      </p:sp>
      <p:sp>
        <p:nvSpPr>
          <p:cNvPr id="5" name="Text 3"/>
          <p:cNvSpPr/>
          <p:nvPr/>
        </p:nvSpPr>
        <p:spPr>
          <a:xfrm>
            <a:off x="8077200" y="1884611"/>
            <a:ext cx="340106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Expected</a:t>
            </a:r>
            <a:endParaRPr lang="en-US" sz="1600" dirty="0"/>
          </a:p>
        </p:txBody>
      </p:sp>
      <p:sp>
        <p:nvSpPr>
          <p:cNvPr id="6" name="Text 4"/>
          <p:cNvSpPr/>
          <p:nvPr/>
        </p:nvSpPr>
        <p:spPr>
          <a:xfrm>
            <a:off x="8077200" y="2240211"/>
            <a:ext cx="3401060"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IBM Plex Sans" pitchFamily="34" charset="0"/>
                <a:ea typeface="IBM Plex Sans" pitchFamily="34" charset="-122"/>
                <a:cs typeface="IBM Plex Sans" pitchFamily="34" charset="-120"/>
              </a:rPr>
              <a:t>A one-sentence greeting, what a review would need, and that it has no tools yet. Click the answer's event card: the side panel shows the request and its tokens.</a:t>
            </a:r>
            <a:endParaRPr lang="en-US" sz="1500" dirty="0"/>
          </a:p>
        </p:txBody>
      </p:sp>
      <p:sp>
        <p:nvSpPr>
          <p:cNvPr id="7" name="Text 5"/>
          <p:cNvSpPr/>
          <p:nvPr/>
        </p:nvSpPr>
        <p:spPr>
          <a:xfrm>
            <a:off x="8077200" y="3675311"/>
            <a:ext cx="340106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D78"/>
                </a:solidFill>
                <a:latin typeface="IBM Plex Mono" pitchFamily="49" charset="0"/>
                <a:ea typeface="IBM Plex Mono" pitchFamily="49" charset="-122"/>
                <a:cs typeface="IBM Plex Mono" pitchFamily="49" charset="-120"/>
              </a:rPr>
              <a:t>phase_1_hello_world → hello</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BACKUP · PHASE 2</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The preflight block</a:t>
            </a:r>
            <a:endParaRPr lang="en-US" sz="3600" dirty="0"/>
          </a:p>
        </p:txBody>
      </p:sp>
      <p:sp>
        <p:nvSpPr>
          <p:cNvPr id="4" name="Text 2"/>
          <p:cNvSpPr/>
          <p:nvPr/>
        </p:nvSpPr>
        <p:spPr>
          <a:xfrm>
            <a:off x="812800" y="1884611"/>
            <a:ext cx="6959600" cy="4160589"/>
          </a:xfrm>
          <a:prstGeom prst="roundRect">
            <a:avLst>
              <a:gd name="adj" fmla="val 2442"/>
            </a:avLst>
          </a:prstGeom>
          <a:solidFill>
            <a:srgbClr val="10181D"/>
          </a:solidFill>
          <a:ln/>
        </p:spPr>
        <p:txBody>
          <a:bodyPr wrap="none" lIns="173442" tIns="173442" rIns="0" bIns="148042" rtlCol="0" anchor="t">
            <a:normAutofit/>
          </a:bodyPr>
          <a:lstStyle/>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uv run python scripts/ask.py phase_2_preflight \</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"review &lt;tmp&gt;/adk-demo-repo, branch feature/payments against main"</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[tokens] in=1114 out=124</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repository   &lt;tmp&gt;/adk-demo-repo</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branch       feature/payments @ 840818199</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against      main @ 10559fe72</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merge-base   10559fe72</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ahead        1 commit(s)</a:t>
            </a:r>
            <a:endParaRPr lang="en-US" sz="1200" dirty="0"/>
          </a:p>
        </p:txBody>
      </p:sp>
      <p:sp>
        <p:nvSpPr>
          <p:cNvPr id="5" name="Text 3"/>
          <p:cNvSpPr/>
          <p:nvPr/>
        </p:nvSpPr>
        <p:spPr>
          <a:xfrm>
            <a:off x="8077200" y="1884611"/>
            <a:ext cx="340106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Expected</a:t>
            </a:r>
            <a:endParaRPr lang="en-US" sz="1600" dirty="0"/>
          </a:p>
        </p:txBody>
      </p:sp>
      <p:sp>
        <p:nvSpPr>
          <p:cNvPr id="6" name="Text 4"/>
          <p:cNvSpPr/>
          <p:nvPr/>
        </p:nvSpPr>
        <p:spPr>
          <a:xfrm>
            <a:off x="8077200" y="2240211"/>
            <a:ext cx="34010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IBM Plex Sans" pitchFamily="34" charset="0"/>
                <a:ea typeface="IBM Plex Sans" pitchFamily="34" charset="-122"/>
                <a:cs typeface="IBM Plex Sans" pitchFamily="34" charset="-120"/>
              </a:rPr>
              <a:t>Five lines: repository, branch @ sha, against @ sha, merge-base, commits ahead.</a:t>
            </a:r>
            <a:endParaRPr lang="en-US" sz="1500" dirty="0"/>
          </a:p>
        </p:txBody>
      </p:sp>
      <p:sp>
        <p:nvSpPr>
          <p:cNvPr id="7" name="Text 5"/>
          <p:cNvSpPr/>
          <p:nvPr/>
        </p:nvSpPr>
        <p:spPr>
          <a:xfrm>
            <a:off x="8077200" y="3141911"/>
            <a:ext cx="340106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D78"/>
                </a:solidFill>
                <a:latin typeface="IBM Plex Mono" pitchFamily="49" charset="0"/>
                <a:ea typeface="IBM Plex Mono" pitchFamily="49" charset="-122"/>
                <a:cs typeface="IBM Plex Mono" pitchFamily="49" charset="-120"/>
              </a:rPr>
              <a:t>branch feature/nope against main</a:t>
            </a:r>
            <a:endParaRPr lang="en-US" sz="1200" dirty="0"/>
          </a:p>
        </p:txBody>
      </p:sp>
      <p:sp>
        <p:nvSpPr>
          <p:cNvPr id="8" name="Text 6"/>
          <p:cNvSpPr/>
          <p:nvPr/>
        </p:nvSpPr>
        <p:spPr>
          <a:xfrm>
            <a:off x="8077200" y="3472111"/>
            <a:ext cx="34010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IBM Plex Sans" pitchFamily="34" charset="0"/>
                <a:ea typeface="IBM Plex Sans" pitchFamily="34" charset="-122"/>
                <a:cs typeface="IBM Plex Sans" pitchFamily="34" charset="-120"/>
              </a:rPr>
              <a:t>The tool's own error, repeated in one sentence:</a:t>
            </a:r>
            <a:endParaRPr lang="en-US" sz="1500" dirty="0"/>
          </a:p>
        </p:txBody>
      </p:sp>
      <p:sp>
        <p:nvSpPr>
          <p:cNvPr id="9" name="Text 7"/>
          <p:cNvSpPr/>
          <p:nvPr/>
        </p:nvSpPr>
        <p:spPr>
          <a:xfrm>
            <a:off x="8077200" y="4107111"/>
            <a:ext cx="3302000" cy="629841"/>
          </a:xfrm>
          <a:prstGeom prst="roundRect">
            <a:avLst>
              <a:gd name="adj" fmla="val 12098"/>
            </a:avLst>
          </a:prstGeom>
          <a:solidFill>
            <a:srgbClr val="E3EAE7"/>
          </a:solidFill>
          <a:ln/>
        </p:spPr>
        <p:txBody>
          <a:bodyPr wrap="square" lIns="104682" tIns="79282" rIns="13242" bIns="53882" rtlCol="0" anchor="t">
            <a:normAutofit/>
          </a:bodyPr>
          <a:lstStyle/>
          <a:p>
            <a:pPr algn="l" indent="0" marL="0">
              <a:lnSpc>
                <a:spcPts val="1680"/>
              </a:lnSpc>
              <a:buNone/>
            </a:pPr>
            <a:r>
              <a:rPr lang="en-US" sz="1200" dirty="0">
                <a:solidFill>
                  <a:srgbClr val="10181D"/>
                </a:solidFill>
                <a:latin typeface="IBM Plex Mono" pitchFamily="49" charset="0"/>
                <a:ea typeface="IBM Plex Mono" pitchFamily="49" charset="-122"/>
                <a:cs typeface="IBM Plex Mono" pitchFamily="49" charset="-120"/>
              </a:rPr>
              <a:t>head branch 'feature/nope' does not exist in &lt;tmp&gt;/adk-demo-repo</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BACKUP · PHASE 3</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Changed files, and a refusal</a:t>
            </a:r>
            <a:endParaRPr lang="en-US" sz="3600" dirty="0"/>
          </a:p>
        </p:txBody>
      </p:sp>
      <p:sp>
        <p:nvSpPr>
          <p:cNvPr id="4" name="Text 2"/>
          <p:cNvSpPr/>
          <p:nvPr/>
        </p:nvSpPr>
        <p:spPr>
          <a:xfrm>
            <a:off x="812800" y="1884611"/>
            <a:ext cx="6959600" cy="4160589"/>
          </a:xfrm>
          <a:prstGeom prst="roundRect">
            <a:avLst>
              <a:gd name="adj" fmla="val 2442"/>
            </a:avLst>
          </a:prstGeom>
          <a:solidFill>
            <a:srgbClr val="10181D"/>
          </a:solidFill>
          <a:ln/>
        </p:spPr>
        <p:txBody>
          <a:bodyPr wrap="none" lIns="173442" tIns="173442" rIns="0" bIns="148042" rtlCol="0" anchor="t">
            <a:normAutofit/>
          </a:bodyPr>
          <a:lstStyle/>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uv run python scripts/ask.py phase_3_changed_files "review …"</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[tokens] in=2637 out=241</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Repository: &lt;tmp&gt;/adk-demo-repo</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Branch under review: feature/payments @ 84081819974f…</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Against base: main @ 10559fe7217f…</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Merge-base: 10559fe7217f…</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Commits ahead: 1</a:t>
            </a:r>
            <a:endParaRPr lang="en-US" sz="1200" dirty="0"/>
          </a:p>
          <a:p>
            <a:pPr algn="l" indent="0" marL="0">
              <a:lnSpc>
                <a:spcPts val="1680"/>
              </a:lnSpc>
              <a:buNone/>
            </a:pP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Changed files: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M  src/payments/charge.py</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A  src/payments/config.py</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A  src/payments/refund.py</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A  src/payments/report.py</a:t>
            </a:r>
            <a:endParaRPr lang="en-US" sz="1200" dirty="0"/>
          </a:p>
        </p:txBody>
      </p:sp>
      <p:sp>
        <p:nvSpPr>
          <p:cNvPr id="5" name="Text 3"/>
          <p:cNvSpPr/>
          <p:nvPr/>
        </p:nvSpPr>
        <p:spPr>
          <a:xfrm>
            <a:off x="8077200" y="1884611"/>
            <a:ext cx="340106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Expected</a:t>
            </a:r>
            <a:endParaRPr lang="en-US" sz="1600" dirty="0"/>
          </a:p>
        </p:txBody>
      </p:sp>
      <p:sp>
        <p:nvSpPr>
          <p:cNvPr id="6" name="Text 4"/>
          <p:cNvSpPr/>
          <p:nvPr/>
        </p:nvSpPr>
        <p:spPr>
          <a:xfrm>
            <a:off x="8077200" y="2240211"/>
            <a:ext cx="34010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IBM Plex Sans" pitchFamily="34" charset="0"/>
                <a:ea typeface="IBM Plex Sans" pitchFamily="34" charset="-122"/>
                <a:cs typeface="IBM Plex Sans" pitchFamily="34" charset="-120"/>
              </a:rPr>
              <a:t>The preflight lines and four files: charge.py modified, config.py, refund.py and report.py added.</a:t>
            </a:r>
            <a:endParaRPr lang="en-US" sz="1500" dirty="0"/>
          </a:p>
        </p:txBody>
      </p:sp>
      <p:sp>
        <p:nvSpPr>
          <p:cNvPr id="7" name="Text 5"/>
          <p:cNvSpPr/>
          <p:nvPr/>
        </p:nvSpPr>
        <p:spPr>
          <a:xfrm>
            <a:off x="8077200" y="3141911"/>
            <a:ext cx="340106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D78"/>
                </a:solidFill>
                <a:latin typeface="IBM Plex Mono" pitchFamily="49" charset="0"/>
                <a:ea typeface="IBM Plex Mono" pitchFamily="49" charset="-122"/>
                <a:cs typeface="IBM Plex Mono" pitchFamily="49" charset="-120"/>
              </a:rPr>
              <a:t>show me the diff of /etc/passwd</a:t>
            </a:r>
            <a:endParaRPr lang="en-US" sz="1200" dirty="0"/>
          </a:p>
        </p:txBody>
      </p:sp>
      <p:sp>
        <p:nvSpPr>
          <p:cNvPr id="8" name="Text 6"/>
          <p:cNvSpPr/>
          <p:nvPr/>
        </p:nvSpPr>
        <p:spPr>
          <a:xfrm>
            <a:off x="8077200" y="3472111"/>
            <a:ext cx="34010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IBM Plex Sans" pitchFamily="34" charset="0"/>
                <a:ea typeface="IBM Plex Sans" pitchFamily="34" charset="-122"/>
                <a:cs typeface="IBM Plex Sans" pitchFamily="34" charset="-120"/>
              </a:rPr>
              <a:t>The guardrail answers; the tool never runs:</a:t>
            </a:r>
            <a:endParaRPr lang="en-US" sz="1500" dirty="0"/>
          </a:p>
        </p:txBody>
      </p:sp>
      <p:sp>
        <p:nvSpPr>
          <p:cNvPr id="9" name="Text 7"/>
          <p:cNvSpPr/>
          <p:nvPr/>
        </p:nvSpPr>
        <p:spPr>
          <a:xfrm>
            <a:off x="8077200" y="4107111"/>
            <a:ext cx="3302000" cy="843161"/>
          </a:xfrm>
          <a:prstGeom prst="roundRect">
            <a:avLst>
              <a:gd name="adj" fmla="val 9037"/>
            </a:avLst>
          </a:prstGeom>
          <a:solidFill>
            <a:srgbClr val="E3EAE7"/>
          </a:solidFill>
          <a:ln/>
        </p:spPr>
        <p:txBody>
          <a:bodyPr wrap="square" lIns="104682" tIns="79282" rIns="13242" bIns="53882" rtlCol="0" anchor="t">
            <a:normAutofit/>
          </a:bodyPr>
          <a:lstStyle/>
          <a:p>
            <a:pPr algn="l" indent="0" marL="0">
              <a:lnSpc>
                <a:spcPts val="1680"/>
              </a:lnSpc>
              <a:buNone/>
            </a:pPr>
            <a:r>
              <a:rPr lang="en-US" sz="1200" dirty="0">
                <a:solidFill>
                  <a:srgbClr val="10181D"/>
                </a:solidFill>
                <a:latin typeface="IBM Plex Mono" pitchFamily="49" charset="0"/>
                <a:ea typeface="IBM Plex Mono" pitchFamily="49" charset="-122"/>
                <a:cs typeface="IBM Plex Mono" pitchFamily="49" charset="-120"/>
              </a:rPr>
              <a:t>'/etc/passwd' is not one of the files this change touched; choose one changed_files listed</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BACKUP · PHASE 4</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The first typed review</a:t>
            </a:r>
            <a:endParaRPr lang="en-US" sz="3600" dirty="0"/>
          </a:p>
        </p:txBody>
      </p:sp>
      <p:sp>
        <p:nvSpPr>
          <p:cNvPr id="4" name="Text 2"/>
          <p:cNvSpPr/>
          <p:nvPr/>
        </p:nvSpPr>
        <p:spPr>
          <a:xfrm>
            <a:off x="812800" y="1884611"/>
            <a:ext cx="6959600" cy="4160589"/>
          </a:xfrm>
          <a:prstGeom prst="roundRect">
            <a:avLst>
              <a:gd name="adj" fmla="val 2442"/>
            </a:avLst>
          </a:prstGeom>
          <a:solidFill>
            <a:srgbClr val="10181D"/>
          </a:solidFill>
          <a:ln/>
        </p:spPr>
        <p:txBody>
          <a:bodyPr wrap="none" lIns="173442" tIns="173442" rIns="0" bIns="148042" rtlCol="0" anchor="t">
            <a:normAutofit/>
          </a:bodyPr>
          <a:lstStyle/>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uv run python -m phase_4_first_review.review --head feature/payments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"findings": [</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"file": "src/payments/charge.py",</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"line": 11,</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"severity": "blocker",</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"title": "Command injection … unsanitized printer name",</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 "file": "src/payments/config.py", "severity": "blocker", … },</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 "file": "src/payments/refund.py", "severity": "major", … },</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 "file": "src/payments/report.py", "severity": "major", … }</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"summary": "… critical security issues (command injection, …"</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a:t>
            </a:r>
            <a:endParaRPr lang="en-US" sz="1200" dirty="0"/>
          </a:p>
        </p:txBody>
      </p:sp>
      <p:sp>
        <p:nvSpPr>
          <p:cNvPr id="5" name="Text 3"/>
          <p:cNvSpPr/>
          <p:nvPr/>
        </p:nvSpPr>
        <p:spPr>
          <a:xfrm>
            <a:off x="8077200" y="1884611"/>
            <a:ext cx="340106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Expected</a:t>
            </a:r>
            <a:endParaRPr lang="en-US" sz="1600" dirty="0"/>
          </a:p>
        </p:txBody>
      </p:sp>
      <p:sp>
        <p:nvSpPr>
          <p:cNvPr id="6" name="Text 4"/>
          <p:cNvSpPr/>
          <p:nvPr/>
        </p:nvSpPr>
        <p:spPr>
          <a:xfrm>
            <a:off x="8077200" y="2240211"/>
            <a:ext cx="340106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IBM Plex Sans" pitchFamily="34" charset="0"/>
                <a:ea typeface="IBM Plex Sans" pitchFamily="34" charset="-122"/>
                <a:cs typeface="IBM Plex Sans" pitchFamily="34" charset="-120"/>
              </a:rPr>
              <a:t>The review as JSON: findings with file, severity, quoted evidence and a fix, one of them the shell=True line in charge.py. Exit 0: judged.</a:t>
            </a:r>
            <a:endParaRPr lang="en-US" sz="1500" dirty="0"/>
          </a:p>
        </p:txBody>
      </p:sp>
      <p:sp>
        <p:nvSpPr>
          <p:cNvPr id="7" name="Text 5"/>
          <p:cNvSpPr/>
          <p:nvPr/>
        </p:nvSpPr>
        <p:spPr>
          <a:xfrm>
            <a:off x="8077200" y="3408611"/>
            <a:ext cx="3401060"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D78"/>
                </a:solidFill>
                <a:latin typeface="IBM Plex Mono" pitchFamily="49" charset="0"/>
                <a:ea typeface="IBM Plex Mono" pitchFamily="49" charset="-122"/>
                <a:cs typeface="IBM Plex Mono" pitchFamily="49" charset="-120"/>
              </a:rPr>
              <a:t>uv run python -m phase_4_first_review.review --head feature/payments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BACKUP · PHASE 5</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Three lanes side by side</a:t>
            </a:r>
            <a:endParaRPr lang="en-US" sz="3600" dirty="0"/>
          </a:p>
        </p:txBody>
      </p:sp>
      <p:sp>
        <p:nvSpPr>
          <p:cNvPr id="4" name="Text 2"/>
          <p:cNvSpPr/>
          <p:nvPr/>
        </p:nvSpPr>
        <p:spPr>
          <a:xfrm>
            <a:off x="812800" y="1884611"/>
            <a:ext cx="6959600" cy="4160589"/>
          </a:xfrm>
          <a:prstGeom prst="roundRect">
            <a:avLst>
              <a:gd name="adj" fmla="val 2442"/>
            </a:avLst>
          </a:prstGeom>
          <a:solidFill>
            <a:srgbClr val="10181D"/>
          </a:solidFill>
          <a:ln/>
        </p:spPr>
        <p:txBody>
          <a:bodyPr wrap="none" lIns="173442" tIns="173442" rIns="0" bIns="148042" rtlCol="0" anchor="t">
            <a:normAutofit/>
          </a:bodyPr>
          <a:lstStyle/>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uv run python -m phase_5_parallel_lanes.review \</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--head feature/payments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REQUEST CHANGES</a:t>
            </a:r>
            <a:endParaRPr lang="en-US" sz="1200" dirty="0"/>
          </a:p>
          <a:p>
            <a:pPr algn="l" indent="0" marL="0">
              <a:lnSpc>
                <a:spcPts val="1680"/>
              </a:lnSpc>
              <a:buNone/>
            </a:pP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security</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src/payments/charge.py (blocker)</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**Command injection vulnerability via unsanitized printer name**</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src/payments/config.py (blocker)</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**Hardcoded AWS credentials in source code**</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tests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src/payments/refund.py (major)</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src/payments/charge.py (major)</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src/payments/report.py (major)</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complexity</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src/payments/charge.py (blocker)</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src/payments/config.py (blocker)</a:t>
            </a:r>
            <a:endParaRPr lang="en-US" sz="1200" dirty="0"/>
          </a:p>
        </p:txBody>
      </p:sp>
      <p:sp>
        <p:nvSpPr>
          <p:cNvPr id="5" name="Text 3"/>
          <p:cNvSpPr/>
          <p:nvPr/>
        </p:nvSpPr>
        <p:spPr>
          <a:xfrm>
            <a:off x="8077200" y="1884611"/>
            <a:ext cx="340106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IBM Plex Sans" pitchFamily="34" charset="0"/>
                <a:ea typeface="IBM Plex Sans" pitchFamily="34" charset="-122"/>
                <a:cs typeface="IBM Plex Sans" pitchFamily="34" charset="-120"/>
              </a:rPr>
              <a:t>Expected</a:t>
            </a:r>
            <a:endParaRPr lang="en-US" sz="1600" dirty="0"/>
          </a:p>
        </p:txBody>
      </p:sp>
      <p:sp>
        <p:nvSpPr>
          <p:cNvPr id="6" name="Text 4"/>
          <p:cNvSpPr/>
          <p:nvPr/>
        </p:nvSpPr>
        <p:spPr>
          <a:xfrm>
            <a:off x="8077200" y="2240211"/>
            <a:ext cx="340106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IBM Plex Sans" pitchFamily="34" charset="0"/>
                <a:ea typeface="IBM Plex Sans" pitchFamily="34" charset="-122"/>
                <a:cs typeface="IBM Plex Sans" pitchFamily="34" charset="-120"/>
              </a:rPr>
              <a:t>Three lane calls side by side in the Traces view, the join once after all three, then a verdict with findings grouped by lane: REQUEST CHANGES.</a:t>
            </a:r>
            <a:endParaRPr lang="en-US" sz="1500" dirty="0"/>
          </a:p>
        </p:txBody>
      </p:sp>
      <p:sp>
        <p:nvSpPr>
          <p:cNvPr id="7" name="Text 5"/>
          <p:cNvSpPr/>
          <p:nvPr/>
        </p:nvSpPr>
        <p:spPr>
          <a:xfrm>
            <a:off x="8077200" y="3408611"/>
            <a:ext cx="39624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D78"/>
                </a:solidFill>
                <a:latin typeface="IBM Plex Mono" pitchFamily="49" charset="0"/>
                <a:ea typeface="IBM Plex Mono" pitchFamily="49" charset="-122"/>
                <a:cs typeface="IBM Plex Mono" pitchFamily="49" charset="-120"/>
              </a:rPr>
              <a:t>phase_5_parallel_lanes, same message</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IBM Plex Mono" pitchFamily="49" charset="0"/>
                <a:ea typeface="IBM Plex Mono" pitchFamily="49" charset="-122"/>
                <a:cs typeface="IBM Plex Mono" pitchFamily="49" charset="-120"/>
              </a:rPr>
              <a:t>BACKUP · PHASE 6 AND THE OPENING RUN</a:t>
            </a:r>
            <a:endParaRPr lang="en-US" sz="1200" dirty="0"/>
          </a:p>
        </p:txBody>
      </p:sp>
      <p:sp>
        <p:nvSpPr>
          <p:cNvPr id="3" name="Text 1"/>
          <p:cNvSpPr/>
          <p:nvPr>
            <p:ph type="title"/>
          </p:nvPr>
        </p:nvSpPr>
        <p:spPr>
          <a:xfrm>
            <a:off x="812800" y="822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Bricolage Grotesque" pitchFamily="34" charset="0"/>
                <a:ea typeface="Bricolage Grotesque" pitchFamily="34" charset="-122"/>
                <a:cs typeface="Bricolage Grotesque" pitchFamily="34" charset="-120"/>
              </a:rPr>
              <a:t>Before and after the two fixes</a:t>
            </a:r>
            <a:endParaRPr lang="en-US" sz="3600" dirty="0"/>
          </a:p>
        </p:txBody>
      </p:sp>
      <p:sp>
        <p:nvSpPr>
          <p:cNvPr id="4" name="Text 2"/>
          <p:cNvSpPr/>
          <p:nvPr/>
        </p:nvSpPr>
        <p:spPr>
          <a:xfrm>
            <a:off x="812800" y="142741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IBM Plex Sans" pitchFamily="34" charset="0"/>
                <a:ea typeface="IBM Plex Sans" pitchFamily="34" charset="-122"/>
                <a:cs typeface="IBM Plex Sans" pitchFamily="34" charset="-120"/>
              </a:rPr>
              <a:t>The fixes: </a:t>
            </a:r>
            <a:r>
              <a:rPr lang="en-US" sz="1400" dirty="0">
                <a:solidFill>
                  <a:srgbClr val="1D6B58"/>
                </a:solidFill>
                <a:latin typeface="IBM Plex Sans" pitchFamily="34" charset="0"/>
                <a:ea typeface="IBM Plex Sans" pitchFamily="34" charset="-122"/>
                <a:cs typeface="IBM Plex Sans" pitchFamily="34" charset="-120"/>
              </a:rPr>
              <a:t>charge.py</a:t>
            </a:r>
            <a:r>
              <a:rPr lang="en-US" sz="1400" dirty="0">
                <a:solidFill>
                  <a:srgbClr val="3E4C57"/>
                </a:solidFill>
                <a:latin typeface="IBM Plex Sans" pitchFamily="34" charset="0"/>
                <a:ea typeface="IBM Plex Sans" pitchFamily="34" charset="-122"/>
                <a:cs typeface="IBM Plex Sans" pitchFamily="34" charset="-120"/>
              </a:rPr>
              <a:t> no longer uses </a:t>
            </a:r>
            <a:r>
              <a:rPr lang="en-US" sz="1400" dirty="0">
                <a:solidFill>
                  <a:srgbClr val="1D6B58"/>
                </a:solidFill>
                <a:latin typeface="IBM Plex Sans" pitchFamily="34" charset="0"/>
                <a:ea typeface="IBM Plex Sans" pitchFamily="34" charset="-122"/>
                <a:cs typeface="IBM Plex Sans" pitchFamily="34" charset="-120"/>
              </a:rPr>
              <a:t>shell=True</a:t>
            </a:r>
            <a:r>
              <a:rPr lang="en-US" sz="1400" dirty="0">
                <a:solidFill>
                  <a:srgbClr val="3E4C57"/>
                </a:solidFill>
                <a:latin typeface="IBM Plex Sans" pitchFamily="34" charset="0"/>
                <a:ea typeface="IBM Plex Sans" pitchFamily="34" charset="-122"/>
                <a:cs typeface="IBM Plex Sans" pitchFamily="34" charset="-120"/>
              </a:rPr>
              <a:t>, and </a:t>
            </a:r>
            <a:r>
              <a:rPr lang="en-US" sz="1400" dirty="0">
                <a:solidFill>
                  <a:srgbClr val="1D6B58"/>
                </a:solidFill>
                <a:latin typeface="IBM Plex Sans" pitchFamily="34" charset="0"/>
                <a:ea typeface="IBM Plex Sans" pitchFamily="34" charset="-122"/>
                <a:cs typeface="IBM Plex Sans" pitchFamily="34" charset="-120"/>
              </a:rPr>
              <a:t>config.py</a:t>
            </a:r>
            <a:r>
              <a:rPr lang="en-US" sz="1400" dirty="0">
                <a:solidFill>
                  <a:srgbClr val="3E4C57"/>
                </a:solidFill>
                <a:latin typeface="IBM Plex Sans" pitchFamily="34" charset="0"/>
                <a:ea typeface="IBM Plex Sans" pitchFamily="34" charset="-122"/>
                <a:cs typeface="IBM Plex Sans" pitchFamily="34" charset="-120"/>
              </a:rPr>
              <a:t> reads the AWS keys from the environment.</a:t>
            </a:r>
            <a:endParaRPr lang="en-US" sz="1400" dirty="0"/>
          </a:p>
        </p:txBody>
      </p:sp>
      <p:sp>
        <p:nvSpPr>
          <p:cNvPr id="5" name="Text 3"/>
          <p:cNvSpPr/>
          <p:nvPr/>
        </p:nvSpPr>
        <p:spPr>
          <a:xfrm>
            <a:off x="812800" y="1879501"/>
            <a:ext cx="528472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181D"/>
                </a:solidFill>
                <a:latin typeface="IBM Plex Sans" pitchFamily="34" charset="0"/>
                <a:ea typeface="IBM Plex Sans" pitchFamily="34" charset="-122"/>
                <a:cs typeface="IBM Plex Sans" pitchFamily="34" charset="-120"/>
              </a:rPr>
              <a:t>Before: exit 1, the key found by the gate</a:t>
            </a:r>
            <a:endParaRPr lang="en-US" sz="1500" dirty="0"/>
          </a:p>
        </p:txBody>
      </p:sp>
      <p:sp>
        <p:nvSpPr>
          <p:cNvPr id="6" name="Text 4"/>
          <p:cNvSpPr/>
          <p:nvPr/>
        </p:nvSpPr>
        <p:spPr>
          <a:xfrm>
            <a:off x="812800" y="2247801"/>
            <a:ext cx="5130800" cy="4152999"/>
          </a:xfrm>
          <a:prstGeom prst="roundRect">
            <a:avLst>
              <a:gd name="adj" fmla="val 2446"/>
            </a:avLst>
          </a:prstGeom>
          <a:solidFill>
            <a:srgbClr val="10181D"/>
          </a:solidFill>
          <a:ln/>
        </p:spPr>
        <p:txBody>
          <a:bodyPr wrap="none" lIns="173442" tIns="173442" rIns="31710" bIns="148042" rtlCol="0" anchor="t">
            <a:normAutofit/>
          </a:bodyPr>
          <a:lstStyle/>
          <a:p>
            <a:pPr algn="l" indent="0" marL="0">
              <a:lnSpc>
                <a:spcPts val="1680"/>
              </a:lnSpc>
              <a:buNone/>
            </a:pPr>
            <a:r>
              <a:rPr lang="en-US" sz="1200" dirty="0">
                <a:solidFill>
                  <a:srgbClr val="5CC2A0"/>
                </a:solidFill>
                <a:latin typeface="IBM Plex Mono" pitchFamily="49" charset="0"/>
                <a:ea typeface="IBM Plex Mono" pitchFamily="49" charset="-122"/>
                <a:cs typeface="IBM Plex Mono" pitchFamily="49" charset="-120"/>
              </a:rPr>
              <a:t>$ uv run python scripts/make_demo_repo.py</a:t>
            </a:r>
            <a:endParaRPr lang="en-US" sz="1200" dirty="0"/>
          </a:p>
          <a:p>
            <a:pPr algn="l" indent="0" marL="0">
              <a:lnSpc>
                <a:spcPts val="1680"/>
              </a:lnSpc>
              <a:buNone/>
            </a:pPr>
            <a:r>
              <a:rPr lang="en-US" sz="1200" dirty="0">
                <a:solidFill>
                  <a:srgbClr val="5CC2A0"/>
                </a:solidFill>
                <a:latin typeface="IBM Plex Mono" pitchFamily="49" charset="0"/>
                <a:ea typeface="IBM Plex Mono" pitchFamily="49" charset="-122"/>
                <a:cs typeface="IBM Plex Mono" pitchFamily="49" charset="-120"/>
              </a:rPr>
              <a:t>$ uv run python -m phase_6_reviewer.review \</a:t>
            </a:r>
            <a:endParaRPr lang="en-US" sz="1200" dirty="0"/>
          </a:p>
          <a:p>
            <a:pPr algn="l" indent="0" marL="0">
              <a:lnSpc>
                <a:spcPts val="1680"/>
              </a:lnSpc>
              <a:buNone/>
            </a:pPr>
            <a:r>
              <a:rPr lang="en-US" sz="1200" dirty="0">
                <a:solidFill>
                  <a:srgbClr val="5CC2A0"/>
                </a:solidFill>
                <a:latin typeface="IBM Plex Mono" pitchFamily="49" charset="0"/>
                <a:ea typeface="IBM Plex Mono" pitchFamily="49" charset="-122"/>
                <a:cs typeface="IBM Plex Mono" pitchFamily="49" charset="-120"/>
              </a:rPr>
              <a:t>    --head feature/payments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Verdict: REQUEST_CHANGES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gate_secrets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blocker hard-coded credential</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(aws_access_key_id) (config.py:4)</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blocker hard-coded credential</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(aws_secret_access_key) (config.py:5)</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lane_security</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blocker Command injection … (charge.py:22)</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lane_tests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major No tests for refund function</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major No tests for daily_total and format_total</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secrets redacted before any model call: 6</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spend: 3 model call(s) completed of 3</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attempted, 4,350 tokens</a:t>
            </a:r>
            <a:endParaRPr lang="en-US" sz="1200" dirty="0"/>
          </a:p>
        </p:txBody>
      </p:sp>
      <p:sp>
        <p:nvSpPr>
          <p:cNvPr id="7" name="Text 5"/>
          <p:cNvSpPr/>
          <p:nvPr/>
        </p:nvSpPr>
        <p:spPr>
          <a:xfrm>
            <a:off x="6248400" y="1879501"/>
            <a:ext cx="528472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181D"/>
                </a:solidFill>
                <a:latin typeface="IBM Plex Sans" pitchFamily="34" charset="0"/>
                <a:ea typeface="IBM Plex Sans" pitchFamily="34" charset="-122"/>
                <a:cs typeface="IBM Plex Sans" pitchFamily="34" charset="-120"/>
              </a:rPr>
              <a:t>After the two fixes: exit 0</a:t>
            </a:r>
            <a:endParaRPr lang="en-US" sz="1500" dirty="0"/>
          </a:p>
        </p:txBody>
      </p:sp>
      <p:sp>
        <p:nvSpPr>
          <p:cNvPr id="8" name="Text 6"/>
          <p:cNvSpPr/>
          <p:nvPr/>
        </p:nvSpPr>
        <p:spPr>
          <a:xfrm>
            <a:off x="6248400" y="2247801"/>
            <a:ext cx="5130800" cy="4152999"/>
          </a:xfrm>
          <a:prstGeom prst="roundRect">
            <a:avLst>
              <a:gd name="adj" fmla="val 2446"/>
            </a:avLst>
          </a:prstGeom>
          <a:solidFill>
            <a:srgbClr val="10181D"/>
          </a:solidFill>
          <a:ln/>
        </p:spPr>
        <p:txBody>
          <a:bodyPr wrap="none" lIns="173442" tIns="173442" rIns="31710" bIns="148042" rtlCol="0" anchor="t">
            <a:normAutofit/>
          </a:bodyPr>
          <a:lstStyle/>
          <a:p>
            <a:pPr algn="l" indent="0" marL="0">
              <a:lnSpc>
                <a:spcPts val="1680"/>
              </a:lnSpc>
              <a:buNone/>
            </a:pPr>
            <a:r>
              <a:rPr lang="en-US" sz="1200" dirty="0">
                <a:solidFill>
                  <a:srgbClr val="5CC2A0"/>
                </a:solidFill>
                <a:latin typeface="IBM Plex Mono" pitchFamily="49" charset="0"/>
                <a:ea typeface="IBM Plex Mono" pitchFamily="49" charset="-122"/>
                <a:cs typeface="IBM Plex Mono" pitchFamily="49" charset="-120"/>
              </a:rPr>
              <a:t>$ uv run python scripts/make_demo_repo.py --fix</a:t>
            </a:r>
            <a:endParaRPr lang="en-US" sz="1200" dirty="0"/>
          </a:p>
          <a:p>
            <a:pPr algn="l" indent="0" marL="0">
              <a:lnSpc>
                <a:spcPts val="1680"/>
              </a:lnSpc>
              <a:buNone/>
            </a:pPr>
            <a:r>
              <a:rPr lang="en-US" sz="1200" dirty="0">
                <a:solidFill>
                  <a:srgbClr val="5CC2A0"/>
                </a:solidFill>
                <a:latin typeface="IBM Plex Mono" pitchFamily="49" charset="0"/>
                <a:ea typeface="IBM Plex Mono" pitchFamily="49" charset="-122"/>
                <a:cs typeface="IBM Plex Mono" pitchFamily="49" charset="-120"/>
              </a:rPr>
              <a:t>$ uv run python -m phase_6_reviewer.review \</a:t>
            </a:r>
            <a:endParaRPr lang="en-US" sz="1200" dirty="0"/>
          </a:p>
          <a:p>
            <a:pPr algn="l" indent="0" marL="0">
              <a:lnSpc>
                <a:spcPts val="1680"/>
              </a:lnSpc>
              <a:buNone/>
            </a:pPr>
            <a:r>
              <a:rPr lang="en-US" sz="1200" dirty="0">
                <a:solidFill>
                  <a:srgbClr val="5CC2A0"/>
                </a:solidFill>
                <a:latin typeface="IBM Plex Mono" pitchFamily="49" charset="0"/>
                <a:ea typeface="IBM Plex Mono" pitchFamily="49" charset="-122"/>
                <a:cs typeface="IBM Plex Mono" pitchFamily="49" charset="-120"/>
              </a:rPr>
              <a:t>    --head feature/payments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Verdict: APPROVED</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gate_secrets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no findings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lane_security</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major No validation for negative refund amounts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minor Sensitive credentials … environment</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lane_tests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major No tests for daily_total function</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major No test for receipt function</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lane_complexity</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no findings</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secrets redacted before any model call: 0</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spend: 3 model call(s) completed of 3</a:t>
            </a:r>
            <a:endParaRPr lang="en-US" sz="1200" dirty="0"/>
          </a:p>
          <a:p>
            <a:pPr algn="l" indent="0" marL="0">
              <a:lnSpc>
                <a:spcPts val="1680"/>
              </a:lnSpc>
              <a:buNone/>
            </a:pPr>
            <a:r>
              <a:rPr lang="en-US" sz="1200" dirty="0">
                <a:solidFill>
                  <a:srgbClr val="DCE6EA"/>
                </a:solidFill>
                <a:latin typeface="IBM Plex Mono" pitchFamily="49" charset="0"/>
                <a:ea typeface="IBM Plex Mono" pitchFamily="49" charset="-122"/>
                <a:cs typeface="IBM Plex Mono" pitchFamily="49" charset="-120"/>
              </a:rPr>
              <a:t>  attempted, 4,182 tokens</a:t>
            </a:r>
            <a:endParaRPr lang="en-US" sz="1200" dirty="0"/>
          </a:p>
        </p:txBody>
      </p:sp>
    </p:spTree>
  </p:cSld>
  <p:clrMapOvr>
    <a:masterClrMapping/>
  </p:clrMapOvr>
</p:sld>
</file>

<file path=ppt/theme/theme1.xml><?xml version="1.0" encoding="utf-8"?>
<a:theme xmlns:a="http://schemas.openxmlformats.org/drawingml/2006/main" name="ADK Code Reviewer KT">
  <a:themeElements>
    <a:clrScheme name="ADK Code Reviewer KT">
      <a:dk1>
        <a:srgbClr val="10181D"/>
      </a:dk1>
      <a:lt1>
        <a:srgbClr val="F3F6F5"/>
      </a:lt1>
      <a:dk2>
        <a:srgbClr val="495053"/>
      </a:dk2>
      <a:lt2>
        <a:srgbClr val="DCE0DF"/>
      </a:lt2>
      <a:accent1>
        <a:srgbClr val="1D6B58"/>
      </a:accent1>
      <a:accent2>
        <a:srgbClr val="B3261E"/>
      </a:accent2>
      <a:accent3>
        <a:srgbClr val="5CC2A0"/>
      </a:accent3>
      <a:accent4>
        <a:srgbClr val="B4540A"/>
      </a:accent4>
      <a:accent5>
        <a:srgbClr val="3E4C57"/>
      </a:accent5>
      <a:accent6>
        <a:srgbClr val="5E6D78"/>
      </a:accent6>
      <a:hlink>
        <a:srgbClr val="0563C1"/>
      </a:hlink>
      <a:folHlink>
        <a:srgbClr val="954F72"/>
      </a:folHlink>
    </a:clrScheme>
    <a:fontScheme name="ADK Code Reviewer K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ADK Code Reviewer KT</dc:title>
  <dc:subject/>
  <dc:creator/>
  <cp:lastModifiedBy/>
  <cp:revision>1</cp:revision>
  <dcterms:created xsi:type="dcterms:W3CDTF">2026-10-02T14:09:15Z</dcterms:created>
  <dcterms:modified xsi:type="dcterms:W3CDTF">2026-10-02T14:09:15Z</dcterms:modified>
</cp:coreProperties>
</file>